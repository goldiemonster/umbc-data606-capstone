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1.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2.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charts/chart3.xml" ContentType="application/vnd.openxmlformats-officedocument.drawingml.chart+xml"/>
  <Override PartName="/ppt/charts/chart4.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charts/chart5.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charts/chart6.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charts/chart7.xml" ContentType="application/vnd.openxmlformats-officedocument.drawingml.chart+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charts/chart8.xml" ContentType="application/vnd.openxmlformats-officedocument.drawingml.chart+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Relationships xmlns="http://schemas.openxmlformats.org/package/2006/relationships"><Relationship Id="rId1" Type="http://schemas.openxmlformats.org/officeDocument/2006/relationships/package" Target="../embeddings/Microsoft_Excel_Worksheet7.xlsx"/></Relationships>
</file>

<file path=ppt/charts/_rels/chart8.xml.rels><?xml version="1.0" encoding="UTF-8" standalone="yes"?><Relationships xmlns="http://schemas.openxmlformats.org/package/2006/relationships"><Relationship Id="rId1" Type="http://schemas.openxmlformats.org/officeDocument/2006/relationships/package" Target="../embeddings/Microsoft_Excel_Worksheet8.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B2838"/>
                </a:solidFill>
                <a:latin typeface="Arial"/>
              </a:defRPr>
            </a:pPr>
            <a:r>
              <a:rPr sz="1300" b="0" i="0" u="none" strike="noStrike">
                <a:solidFill>
                  <a:srgbClr val="1B2838"/>
                </a:solidFill>
                <a:latin typeface="Arial"/>
              </a:rPr>
              <a:t>Percent of model rows missing each feature</a:t>
            </a:r>
          </a:p>
        </c:rich>
      </c:tx>
      <c:layout/>
      <c:overlay val="0"/>
    </c:title>
    <c:autoTitleDeleted val="0"/>
    <c:plotArea>
      <c:layout/>
      <c:barChart>
        <c:barDir val="bar"/>
        <c:grouping val="clustered"/>
        <c:varyColors val="0"/>
        <c:ser>
          <c:idx val="0"/>
          <c:order val="0"/>
          <c:tx>
            <c:strRef>
              <c:f>Sheet1!$B$1</c:f>
              <c:strCache>
                <c:ptCount val="1"/>
                <c:pt idx="0">
                  <c:v>Missing</c:v>
                </c:pt>
              </c:strCache>
            </c:strRef>
          </c:tx>
          <c:spPr>
            <a:solidFill>
              <a:srgbClr val="3E5569"/>
            </a:solidFill>
            <a:effectLst/>
          </c:spPr>
          <c:invertIfNegative val="0"/>
          <c:dLbls>
            <c:numFmt formatCode="0.00&quot;%&quot;" sourceLinked="0"/>
            <c:txPr>
              <a:bodyPr/>
              <a:lstStyle/>
              <a:p>
                <a:pPr>
                  <a:defRPr b="0" i="0" strike="noStrike" sz="1100" u="none">
                    <a:solidFill>
                      <a:srgbClr val="1B2838"/>
                    </a:solidFill>
                    <a:latin typeface="Calibri"/>
                  </a:defRPr>
                </a:pPr>
              </a:p>
            </c:txPr>
            <c:showLegendKey val="0"/>
            <c:showVal val="1"/>
            <c:showCatName val="0"/>
            <c:showSerName val="0"/>
            <c:showPercent val="0"/>
            <c:showBubbleSize val="0"/>
            <c:showLeaderLines val="0"/>
          </c:dLbls>
          <c:cat>
            <c:multiLvlStrRef>
              <c:f>Sheet1!$A$2:$A$7</c:f>
              <c:multiLvlStrCache>
                <c:ptCount val="6"/>
                <c:lvl>
                  <c:pt idx="0">
                    <c:v>Truck share of traffic</c:v>
                  </c:pt>
                  <c:pt idx="1">
                    <c:v>Temperature (3 cols)</c:v>
                  </c:pt>
                  <c:pt idx="2">
                    <c:v>Longitude</c:v>
                  </c:pt>
                  <c:pt idx="3">
                    <c:v>Latitude</c:v>
                  </c:pt>
                  <c:pt idx="4">
                    <c:v>Precipitation</c:v>
                  </c:pt>
                  <c:pt idx="5">
                    <c:v>Freeze and thaw days</c:v>
                  </c:pt>
                </c:lvl>
              </c:multiLvlStrCache>
            </c:multiLvlStrRef>
          </c:cat>
          <c:val>
            <c:numRef>
              <c:f>Sheet1!$B$2:$B$7</c:f>
              <c:numCache>
                <c:formatCode>General</c:formatCode>
                <c:ptCount val="6"/>
                <c:pt idx="0">
                  <c:v>1.64</c:v>
                </c:pt>
                <c:pt idx="1">
                  <c:v>1.49</c:v>
                </c:pt>
                <c:pt idx="2">
                  <c:v>0.39</c:v>
                </c:pt>
                <c:pt idx="3">
                  <c:v>0.15</c:v>
                </c:pt>
                <c:pt idx="4">
                  <c:v>0.14</c:v>
                </c:pt>
                <c:pt idx="5">
                  <c:v>0.14</c:v>
                </c:pt>
              </c:numCache>
            </c:numRef>
          </c:val>
        </c:ser>
        <c:dLbls>
          <c:numFmt formatCode="0.00&quot;%&quot;" sourceLinked="0"/>
          <c:txPr>
            <a:bodyPr/>
            <a:lstStyle/>
            <a:p>
              <a:pPr>
                <a:defRPr b="0" i="0" strike="noStrike" sz="1100" u="none">
                  <a:solidFill>
                    <a:srgbClr val="1B2838"/>
                  </a:solidFill>
                  <a:latin typeface="Calibri"/>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200" b="0" i="0" u="none" strike="noStrike">
                <a:solidFill>
                  <a:srgbClr val="5B6B7A"/>
                </a:solidFill>
                <a:latin typeface="Calibri"/>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noFill/>
            <a:prstDash val="solid"/>
            <a:round/>
          </a:ln>
        </c:spPr>
        <c:txPr>
          <a:bodyPr/>
          <a:lstStyle/>
          <a:p>
            <a:pPr>
              <a:defRPr sz="1100" b="0" i="0" u="none" strike="noStrike">
                <a:solidFill>
                  <a:srgbClr val="5B6B7A"/>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B2838"/>
                </a:solidFill>
                <a:latin typeface="Arial"/>
              </a:defRPr>
            </a:pPr>
            <a:r>
              <a:rPr sz="1300" b="0" i="0" u="none" strike="noStrike">
                <a:solidFill>
                  <a:srgbClr val="1B2838"/>
                </a:solidFill>
                <a:latin typeface="Arial"/>
              </a:rPr>
              <a:t>Share of bridges rated Poor, by state</a:t>
            </a:r>
          </a:p>
        </c:rich>
      </c:tx>
      <c:layout/>
      <c:overlay val="0"/>
    </c:title>
    <c:autoTitleDeleted val="0"/>
    <c:plotArea>
      <c:layout/>
      <c:barChart>
        <c:barDir val="col"/>
        <c:grouping val="clustered"/>
        <c:varyColors val="0"/>
        <c:ser>
          <c:idx val="0"/>
          <c:order val="0"/>
          <c:tx>
            <c:strRef>
              <c:f>Sheet1!$B$1</c:f>
              <c:strCache>
                <c:ptCount val="1"/>
                <c:pt idx="0">
                  <c:v>Poor</c:v>
                </c:pt>
              </c:strCache>
            </c:strRef>
          </c:tx>
          <c:spPr>
            <a:solidFill>
              <a:srgbClr val="3E5569"/>
            </a:solidFill>
            <a:effectLst/>
          </c:spPr>
          <c:invertIfNegative val="0"/>
          <c:dLbls>
            <c:numFmt formatCode="0.0&quot;%&quot;" sourceLinked="0"/>
            <c:txPr>
              <a:bodyPr/>
              <a:lstStyle/>
              <a:p>
                <a:pPr>
                  <a:defRPr b="0" i="0" strike="noStrike" sz="1100" u="none">
                    <a:solidFill>
                      <a:srgbClr val="1B2838"/>
                    </a:solidFill>
                    <a:latin typeface="Calibri"/>
                  </a:defRPr>
                </a:pPr>
              </a:p>
            </c:txPr>
            <c:showLegendKey val="0"/>
            <c:showVal val="1"/>
            <c:showCatName val="0"/>
            <c:showSerName val="0"/>
            <c:showPercent val="0"/>
            <c:showBubbleSize val="0"/>
            <c:showLeaderLines val="0"/>
          </c:dLbls>
          <c:cat>
            <c:multiLvlStrRef>
              <c:f>Sheet1!$A$2:$A$8</c:f>
              <c:multiLvlStrCache>
                <c:ptCount val="7"/>
                <c:lvl>
                  <c:pt idx="0">
                    <c:v>MI</c:v>
                  </c:pt>
                  <c:pt idx="1">
                    <c:v>NY</c:v>
                  </c:pt>
                  <c:pt idx="2">
                    <c:v>WA</c:v>
                  </c:pt>
                  <c:pt idx="3">
                    <c:v>CA</c:v>
                  </c:pt>
                  <c:pt idx="4">
                    <c:v>MD</c:v>
                  </c:pt>
                  <c:pt idx="5">
                    <c:v>FL</c:v>
                  </c:pt>
                  <c:pt idx="6">
                    <c:v>TX</c:v>
                  </c:pt>
                </c:lvl>
              </c:multiLvlStrCache>
            </c:multiLvlStrRef>
          </c:cat>
          <c:val>
            <c:numRef>
              <c:f>Sheet1!$B$2:$B$8</c:f>
              <c:numCache>
                <c:formatCode>General</c:formatCode>
                <c:ptCount val="7"/>
                <c:pt idx="0">
                  <c:v>11</c:v>
                </c:pt>
                <c:pt idx="1">
                  <c:v>9.9</c:v>
                </c:pt>
                <c:pt idx="2">
                  <c:v>5.6</c:v>
                </c:pt>
                <c:pt idx="3">
                  <c:v>4.9</c:v>
                </c:pt>
                <c:pt idx="4">
                  <c:v>4.4</c:v>
                </c:pt>
                <c:pt idx="5">
                  <c:v>2.8</c:v>
                </c:pt>
                <c:pt idx="6">
                  <c:v>1.2</c:v>
                </c:pt>
              </c:numCache>
            </c:numRef>
          </c:val>
        </c:ser>
        <c:dLbls>
          <c:numFmt formatCode="0.0&quot;%&quot;" sourceLinked="0"/>
          <c:txPr>
            <a:bodyPr/>
            <a:lstStyle/>
            <a:p>
              <a:pPr>
                <a:defRPr b="0" i="0" strike="noStrike" sz="1100" u="none">
                  <a:solidFill>
                    <a:srgbClr val="1B2838"/>
                  </a:solidFill>
                  <a:latin typeface="Calibri"/>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200" b="0" i="0" u="none" strike="noStrike">
                <a:solidFill>
                  <a:srgbClr val="5B6B7A"/>
                </a:solidFill>
                <a:latin typeface="Calibri"/>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noFill/>
            <a:prstDash val="solid"/>
            <a:round/>
          </a:ln>
        </c:spPr>
        <c:txPr>
          <a:bodyPr/>
          <a:lstStyle/>
          <a:p>
            <a:pPr>
              <a:defRPr sz="1100" b="0" i="0" u="none" strike="noStrike">
                <a:solidFill>
                  <a:srgbClr val="5B6B7A"/>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B2838"/>
                </a:solidFill>
                <a:latin typeface="Arial"/>
              </a:defRPr>
            </a:pPr>
            <a:r>
              <a:rPr sz="1300" b="0" i="0" u="none" strike="noStrike">
                <a:solidFill>
                  <a:srgbClr val="1B2838"/>
                </a:solidFill>
                <a:latin typeface="Arial"/>
              </a:rPr>
              <a:t>Deterioration rate by state, all transitions</a:t>
            </a:r>
          </a:p>
        </c:rich>
      </c:tx>
      <c:layout/>
      <c:overlay val="0"/>
    </c:title>
    <c:autoTitleDeleted val="0"/>
    <c:plotArea>
      <c:layout/>
      <c:barChart>
        <c:barDir val="col"/>
        <c:grouping val="clustered"/>
        <c:varyColors val="0"/>
        <c:ser>
          <c:idx val="0"/>
          <c:order val="0"/>
          <c:tx>
            <c:strRef>
              <c:f>Sheet1!$B$1</c:f>
              <c:strCache>
                <c:ptCount val="1"/>
                <c:pt idx="0">
                  <c:v>Highest</c:v>
                </c:pt>
              </c:strCache>
            </c:strRef>
          </c:tx>
          <c:spPr>
            <a:solidFill>
              <a:srgbClr val="E8702A"/>
            </a:solidFill>
            <a:effectLst/>
          </c:spPr>
          <c:invertIfNegative val="0"/>
          <c:dLbls>
            <c:numFmt formatCode="0.0&quot;%&quot;;;;" sourceLinked="0"/>
            <c:txPr>
              <a:bodyPr/>
              <a:lstStyle/>
              <a:p>
                <a:pPr>
                  <a:defRPr b="0" i="0" strike="noStrike" sz="1100" u="none">
                    <a:solidFill>
                      <a:srgbClr val="1B2838"/>
                    </a:solidFill>
                    <a:latin typeface="Calibri"/>
                  </a:defRPr>
                </a:pPr>
              </a:p>
            </c:txPr>
            <c:showLegendKey val="0"/>
            <c:showVal val="1"/>
            <c:showCatName val="0"/>
            <c:showSerName val="0"/>
            <c:showPercent val="0"/>
            <c:showBubbleSize val="0"/>
            <c:showLeaderLines val="0"/>
          </c:dLbls>
          <c:cat>
            <c:multiLvlStrRef>
              <c:f>Sheet1!$A$2:$A$8</c:f>
              <c:multiLvlStrCache>
                <c:ptCount val="7"/>
                <c:lvl>
                  <c:pt idx="0">
                    <c:v>MI</c:v>
                  </c:pt>
                  <c:pt idx="1">
                    <c:v>NY</c:v>
                  </c:pt>
                  <c:pt idx="2">
                    <c:v>FL</c:v>
                  </c:pt>
                  <c:pt idx="3">
                    <c:v>CA</c:v>
                  </c:pt>
                  <c:pt idx="4">
                    <c:v>TX</c:v>
                  </c:pt>
                  <c:pt idx="5">
                    <c:v>WA</c:v>
                  </c:pt>
                  <c:pt idx="6">
                    <c:v>MD</c:v>
                  </c:pt>
                </c:lvl>
              </c:multiLvlStrCache>
            </c:multiLvlStrRef>
          </c:cat>
          <c:val>
            <c:numRef>
              <c:f>Sheet1!$B$2:$B$8</c:f>
              <c:numCache>
                <c:formatCode>General</c:formatCode>
                <c:ptCount val="7"/>
                <c:pt idx="0">
                  <c:v>7.07</c:v>
                </c:pt>
                <c:pt idx="1">
                  <c:v>6.71</c:v>
                </c:pt>
                <c:pt idx="2">
                  <c:v>0</c:v>
                </c:pt>
                <c:pt idx="3">
                  <c:v>0</c:v>
                </c:pt>
                <c:pt idx="4">
                  <c:v>0</c:v>
                </c:pt>
                <c:pt idx="5">
                  <c:v>0</c:v>
                </c:pt>
                <c:pt idx="6">
                  <c:v>0</c:v>
                </c:pt>
              </c:numCache>
            </c:numRef>
          </c:val>
        </c:ser>
        <c:ser>
          <c:idx val="1"/>
          <c:order val="1"/>
          <c:tx>
            <c:strRef>
              <c:f>Sheet1!$C$1</c:f>
              <c:strCache>
                <c:ptCount val="1"/>
                <c:pt idx="0">
                  <c:v>Others</c:v>
                </c:pt>
              </c:strCache>
            </c:strRef>
          </c:tx>
          <c:spPr>
            <a:solidFill>
              <a:srgbClr val="3E5569"/>
            </a:solidFill>
            <a:effectLst/>
          </c:spPr>
          <c:invertIfNegative val="0"/>
          <c:dLbls>
            <c:numFmt formatCode="0.0&quot;%&quot;;;;" sourceLinked="0"/>
            <c:txPr>
              <a:bodyPr/>
              <a:lstStyle/>
              <a:p>
                <a:pPr>
                  <a:defRPr b="0" i="0" strike="noStrike" sz="1100" u="none">
                    <a:solidFill>
                      <a:srgbClr val="1B2838"/>
                    </a:solidFill>
                    <a:latin typeface="Calibri"/>
                  </a:defRPr>
                </a:pPr>
              </a:p>
            </c:txPr>
            <c:showLegendKey val="0"/>
            <c:showVal val="1"/>
            <c:showCatName val="0"/>
            <c:showSerName val="0"/>
            <c:showPercent val="0"/>
            <c:showBubbleSize val="0"/>
            <c:showLeaderLines val="0"/>
          </c:dLbls>
          <c:cat>
            <c:multiLvlStrRef>
              <c:f>Sheet1!$A$2:$A$8</c:f>
              <c:multiLvlStrCache>
                <c:ptCount val="7"/>
                <c:lvl>
                  <c:pt idx="0">
                    <c:v>MI</c:v>
                  </c:pt>
                  <c:pt idx="1">
                    <c:v>NY</c:v>
                  </c:pt>
                  <c:pt idx="2">
                    <c:v>FL</c:v>
                  </c:pt>
                  <c:pt idx="3">
                    <c:v>CA</c:v>
                  </c:pt>
                  <c:pt idx="4">
                    <c:v>TX</c:v>
                  </c:pt>
                  <c:pt idx="5">
                    <c:v>WA</c:v>
                  </c:pt>
                  <c:pt idx="6">
                    <c:v>MD</c:v>
                  </c:pt>
                </c:lvl>
              </c:multiLvlStrCache>
            </c:multiLvlStrRef>
          </c:cat>
          <c:val>
            <c:numRef>
              <c:f>Sheet1!$C$2:$C$8</c:f>
              <c:numCache>
                <c:formatCode>General</c:formatCode>
                <c:ptCount val="7"/>
                <c:pt idx="0">
                  <c:v>0</c:v>
                </c:pt>
                <c:pt idx="1">
                  <c:v>0</c:v>
                </c:pt>
                <c:pt idx="2">
                  <c:v>4.35</c:v>
                </c:pt>
                <c:pt idx="3">
                  <c:v>4.24</c:v>
                </c:pt>
                <c:pt idx="4">
                  <c:v>3.44</c:v>
                </c:pt>
                <c:pt idx="5">
                  <c:v>2.94</c:v>
                </c:pt>
                <c:pt idx="6">
                  <c:v>2.75</c:v>
                </c:pt>
              </c:numCache>
            </c:numRef>
          </c:val>
        </c:ser>
        <c:dLbls>
          <c:numFmt formatCode="0.0&quot;%&quot;;;;" sourceLinked="0"/>
          <c:txPr>
            <a:bodyPr/>
            <a:lstStyle/>
            <a:p>
              <a:pPr>
                <a:defRPr b="0" i="0" strike="noStrike" sz="1100" u="none">
                  <a:solidFill>
                    <a:srgbClr val="1B2838"/>
                  </a:solidFill>
                  <a:latin typeface="Calibri"/>
                </a:defRPr>
              </a:pPr>
            </a:p>
          </c:txPr>
          <c:showLegendKey val="0"/>
          <c:showVal val="1"/>
          <c:showCatName val="0"/>
          <c:showSerName val="0"/>
          <c:showPercent val="0"/>
          <c:showBubbleSize val="0"/>
          <c:showLeaderLines val="0"/>
        </c:dLbls>
        <c:gapWidth val="55"/>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200" b="0" i="0" u="none" strike="noStrike">
                <a:solidFill>
                  <a:srgbClr val="5B6B7A"/>
                </a:solidFill>
                <a:latin typeface="Calibri"/>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noFill/>
            <a:prstDash val="solid"/>
            <a:round/>
          </a:ln>
        </c:spPr>
        <c:txPr>
          <a:bodyPr/>
          <a:lstStyle/>
          <a:p>
            <a:pPr>
              <a:defRPr sz="1100" b="0" i="0" u="none" strike="noStrike">
                <a:solidFill>
                  <a:srgbClr val="5B6B7A"/>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B2838"/>
                </a:solidFill>
                <a:latin typeface="Arial"/>
              </a:defRPr>
            </a:pPr>
            <a:r>
              <a:rPr sz="1300" b="0" i="0" u="none" strike="noStrike">
                <a:solidFill>
                  <a:srgbClr val="1B2838"/>
                </a:solidFill>
                <a:latin typeface="Arial"/>
              </a:rPr>
              <a:t>By inspection year</a:t>
            </a:r>
          </a:p>
        </c:rich>
      </c:tx>
      <c:layout/>
      <c:overlay val="0"/>
    </c:title>
    <c:autoTitleDeleted val="0"/>
    <c:plotArea>
      <c:layout/>
      <c:lineChart>
        <c:varyColors val="0"/>
        <c:ser>
          <c:idx val="0"/>
          <c:order val="0"/>
          <c:tx>
            <c:strRef>
              <c:f>Sheet1!$B$1</c:f>
              <c:strCache>
                <c:ptCount val="1"/>
                <c:pt idx="0">
                  <c:v>Rate</c:v>
                </c:pt>
              </c:strCache>
            </c:strRef>
          </c:tx>
          <c:spPr>
            <a:solidFill>
              <a:srgbClr val="3E5569"/>
            </a:solidFill>
            <a:ln w="25400" cap="flat">
              <a:solidFill>
                <a:srgbClr val="3E5569"/>
              </a:solidFill>
              <a:prstDash val="solid"/>
              <a:round/>
            </a:ln>
            <a:effectLst/>
          </c:spPr>
          <c:invertIfNegative val="0"/>
          <c:dLbls>
            <c:numFmt formatCode="0.0&quot;%&quot;" sourceLinked="0"/>
            <c:txPr>
              <a:bodyPr/>
              <a:lstStyle/>
              <a:p>
                <a:pPr>
                  <a:defRPr b="0" i="0" strike="noStrike" sz="1100" u="none">
                    <a:solidFill>
                      <a:srgbClr val="1B2838"/>
                    </a:solidFill>
                    <a:latin typeface="Calibri"/>
                  </a:defRPr>
                </a:pPr>
              </a:p>
            </c:txPr>
            <c:dLblPos val="t"/>
            <c:showLegendKey val="0"/>
            <c:showVal val="1"/>
            <c:showCatName val="0"/>
            <c:showSerName val="0"/>
            <c:showPercent val="0"/>
            <c:showBubbleSize val="0"/>
            <c:showLeaderLines val="0"/>
          </c:dLbls>
          <c:marker>
            <c:symbol val="circle"/>
            <c:size val="8"/>
            <c:spPr>
              <a:solidFill>
                <a:srgbClr val="3E5569"/>
              </a:solidFill>
              <a:ln w="9525" cap="flat">
                <a:solidFill>
                  <a:srgbClr val="3E5569"/>
                </a:solidFill>
                <a:prstDash val="solid"/>
                <a:round/>
              </a:ln>
              <a:effectLst/>
            </c:spPr>
          </c:marker>
          <c:cat>
            <c:multiLvlStrRef>
              <c:f>Sheet1!$A$2:$A$6</c:f>
              <c:multiLvlStrCache>
                <c:ptCount val="5"/>
                <c:lvl>
                  <c:pt idx="0">
                    <c:v>2021</c:v>
                  </c:pt>
                  <c:pt idx="1">
                    <c:v>2022</c:v>
                  </c:pt>
                  <c:pt idx="2">
                    <c:v>2023</c:v>
                  </c:pt>
                  <c:pt idx="3">
                    <c:v>2024</c:v>
                  </c:pt>
                  <c:pt idx="4">
                    <c:v>2025</c:v>
                  </c:pt>
                </c:lvl>
              </c:multiLvlStrCache>
            </c:multiLvlStrRef>
          </c:cat>
          <c:val>
            <c:numRef>
              <c:f>Sheet1!$B$2:$B$6</c:f>
              <c:numCache>
                <c:formatCode>General</c:formatCode>
                <c:ptCount val="5"/>
                <c:pt idx="0">
                  <c:v>4.67</c:v>
                </c:pt>
                <c:pt idx="1">
                  <c:v>4.46</c:v>
                </c:pt>
                <c:pt idx="2">
                  <c:v>3.94</c:v>
                </c:pt>
                <c:pt idx="3">
                  <c:v>4.08</c:v>
                </c:pt>
                <c:pt idx="4">
                  <c:v>4.54</c:v>
                </c:pt>
              </c:numCache>
            </c:numRef>
          </c:val>
          <c:smooth val="0"/>
        </c:ser>
        <c:dLbls>
          <c:numFmt formatCode="0.0&quot;%&quot;" sourceLinked="0"/>
          <c:txPr>
            <a:bodyPr/>
            <a:lstStyle/>
            <a:p>
              <a:pPr>
                <a:defRPr b="0" i="0" strike="noStrike" sz="1100" u="none">
                  <a:solidFill>
                    <a:srgbClr val="1B2838"/>
                  </a:solidFill>
                  <a:latin typeface="Calibri"/>
                </a:defRPr>
              </a:pPr>
            </a:p>
          </c:txPr>
          <c:dLblPos val="t"/>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200" b="0" i="0" u="none" strike="noStrike">
                <a:solidFill>
                  <a:srgbClr val="5B6B7A"/>
                </a:solidFill>
                <a:latin typeface="Calibri"/>
              </a:defRPr>
            </a:pPr>
            <a:endParaRPr lang="en-US"/>
          </a:p>
        </c:txPr>
        <c:crossAx val="2094734552"/>
        <c:crosses val="autoZero"/>
        <c:auto val="1"/>
        <c:lblAlgn val="ctr"/>
        <c:noMultiLvlLbl val="1"/>
      </c:catAx>
      <c:valAx>
        <c:axId val="2094734552"/>
        <c:scaling>
          <c:orientation val="minMax"/>
          <c:max val="6"/>
          <c:min val="0"/>
        </c:scaling>
        <c:delete val="1"/>
        <c:axPos val="l"/>
        <c:numFmt formatCode="General" sourceLinked="0"/>
        <c:majorTickMark val="out"/>
        <c:minorTickMark val="none"/>
        <c:tickLblPos val="nextTo"/>
        <c:spPr>
          <a:ln w="12700" cap="flat">
            <a:noFill/>
            <a:prstDash val="solid"/>
            <a:round/>
          </a:ln>
        </c:spPr>
        <c:txPr>
          <a:bodyPr/>
          <a:lstStyle/>
          <a:p>
            <a:pPr>
              <a:defRPr sz="1100" b="0" i="0" u="none" strike="noStrike">
                <a:solidFill>
                  <a:srgbClr val="5B6B7A"/>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B2838"/>
                </a:solidFill>
                <a:latin typeface="Arial"/>
              </a:defRPr>
            </a:pPr>
            <a:r>
              <a:rPr sz="1300" b="0" i="0" u="none" strike="noStrike">
                <a:solidFill>
                  <a:srgbClr val="1B2838"/>
                </a:solidFill>
                <a:latin typeface="Arial"/>
              </a:rPr>
              <a:t>Share whose rating dropped the next year, by current LOWEST_RATING (training data)</a:t>
            </a:r>
          </a:p>
        </c:rich>
      </c:tx>
      <c:layout/>
      <c:overlay val="0"/>
    </c:title>
    <c:autoTitleDeleted val="0"/>
    <c:plotArea>
      <c:layout/>
      <c:barChart>
        <c:barDir val="col"/>
        <c:grouping val="clustered"/>
        <c:varyColors val="0"/>
        <c:ser>
          <c:idx val="0"/>
          <c:order val="0"/>
          <c:tx>
            <c:strRef>
              <c:f>Sheet1!$B$1</c:f>
              <c:strCache>
                <c:ptCount val="1"/>
                <c:pt idx="0">
                  <c:v>8 and 9</c:v>
                </c:pt>
              </c:strCache>
            </c:strRef>
          </c:tx>
          <c:spPr>
            <a:solidFill>
              <a:srgbClr val="E8702A"/>
            </a:solidFill>
            <a:effectLst/>
          </c:spPr>
          <c:invertIfNegative val="0"/>
          <c:dLbls>
            <c:numFmt formatCode="0.0&quot;%&quot;;;;" sourceLinked="0"/>
            <c:txPr>
              <a:bodyPr/>
              <a:lstStyle/>
              <a:p>
                <a:pPr>
                  <a:defRPr b="0" i="0" strike="noStrike" sz="1100" u="none">
                    <a:solidFill>
                      <a:srgbClr val="1B2838"/>
                    </a:solidFill>
                    <a:latin typeface="Calibri"/>
                  </a:defRPr>
                </a:pPr>
              </a:p>
            </c:txPr>
            <c:showLegendKey val="0"/>
            <c:showVal val="1"/>
            <c:showCatName val="0"/>
            <c:showSerName val="0"/>
            <c:showPercent val="0"/>
            <c:showBubbleSize val="0"/>
            <c:showLeaderLines val="0"/>
          </c:dLbls>
          <c:cat>
            <c:multiLvlStrRef>
              <c:f>Sheet1!$A$2:$A$9</c:f>
              <c:multiLvlStrCache>
                <c:ptCount val="8"/>
                <c:lvl>
                  <c:pt idx="0">
                    <c:v>2</c:v>
                  </c:pt>
                  <c:pt idx="1">
                    <c:v>3</c:v>
                  </c:pt>
                  <c:pt idx="2">
                    <c:v>4</c:v>
                  </c:pt>
                  <c:pt idx="3">
                    <c:v>5</c:v>
                  </c:pt>
                  <c:pt idx="4">
                    <c:v>6</c:v>
                  </c:pt>
                  <c:pt idx="5">
                    <c:v>7</c:v>
                  </c:pt>
                  <c:pt idx="6">
                    <c:v>8</c:v>
                  </c:pt>
                  <c:pt idx="7">
                    <c:v>9</c:v>
                  </c:pt>
                </c:lvl>
              </c:multiLvlStrCache>
            </c:multiLvlStrRef>
          </c:cat>
          <c:val>
            <c:numRef>
              <c:f>Sheet1!$B$2:$B$9</c:f>
              <c:numCache>
                <c:formatCode>General</c:formatCode>
                <c:ptCount val="8"/>
                <c:pt idx="0">
                  <c:v>0</c:v>
                </c:pt>
                <c:pt idx="1">
                  <c:v>0</c:v>
                </c:pt>
                <c:pt idx="2">
                  <c:v>0</c:v>
                </c:pt>
                <c:pt idx="3">
                  <c:v>0</c:v>
                </c:pt>
                <c:pt idx="4">
                  <c:v>0</c:v>
                </c:pt>
                <c:pt idx="5">
                  <c:v>0</c:v>
                </c:pt>
                <c:pt idx="6">
                  <c:v>15.1</c:v>
                </c:pt>
                <c:pt idx="7">
                  <c:v>22.3</c:v>
                </c:pt>
              </c:numCache>
            </c:numRef>
          </c:val>
        </c:ser>
        <c:ser>
          <c:idx val="1"/>
          <c:order val="1"/>
          <c:tx>
            <c:strRef>
              <c:f>Sheet1!$C$1</c:f>
              <c:strCache>
                <c:ptCount val="1"/>
                <c:pt idx="0">
                  <c:v>Others</c:v>
                </c:pt>
              </c:strCache>
            </c:strRef>
          </c:tx>
          <c:spPr>
            <a:solidFill>
              <a:srgbClr val="3E5569"/>
            </a:solidFill>
            <a:effectLst/>
          </c:spPr>
          <c:invertIfNegative val="0"/>
          <c:dLbls>
            <c:numFmt formatCode="0.0&quot;%&quot;;;;" sourceLinked="0"/>
            <c:txPr>
              <a:bodyPr/>
              <a:lstStyle/>
              <a:p>
                <a:pPr>
                  <a:defRPr b="0" i="0" strike="noStrike" sz="1100" u="none">
                    <a:solidFill>
                      <a:srgbClr val="1B2838"/>
                    </a:solidFill>
                    <a:latin typeface="Calibri"/>
                  </a:defRPr>
                </a:pPr>
              </a:p>
            </c:txPr>
            <c:showLegendKey val="0"/>
            <c:showVal val="1"/>
            <c:showCatName val="0"/>
            <c:showSerName val="0"/>
            <c:showPercent val="0"/>
            <c:showBubbleSize val="0"/>
            <c:showLeaderLines val="0"/>
          </c:dLbls>
          <c:cat>
            <c:multiLvlStrRef>
              <c:f>Sheet1!$A$2:$A$9</c:f>
              <c:multiLvlStrCache>
                <c:ptCount val="8"/>
                <c:lvl>
                  <c:pt idx="0">
                    <c:v>2</c:v>
                  </c:pt>
                  <c:pt idx="1">
                    <c:v>3</c:v>
                  </c:pt>
                  <c:pt idx="2">
                    <c:v>4</c:v>
                  </c:pt>
                  <c:pt idx="3">
                    <c:v>5</c:v>
                  </c:pt>
                  <c:pt idx="4">
                    <c:v>6</c:v>
                  </c:pt>
                  <c:pt idx="5">
                    <c:v>7</c:v>
                  </c:pt>
                  <c:pt idx="6">
                    <c:v>8</c:v>
                  </c:pt>
                  <c:pt idx="7">
                    <c:v>9</c:v>
                  </c:pt>
                </c:lvl>
              </c:multiLvlStrCache>
            </c:multiLvlStrRef>
          </c:cat>
          <c:val>
            <c:numRef>
              <c:f>Sheet1!$C$2:$C$9</c:f>
              <c:numCache>
                <c:formatCode>General</c:formatCode>
                <c:ptCount val="8"/>
                <c:pt idx="0">
                  <c:v>1</c:v>
                </c:pt>
                <c:pt idx="1">
                  <c:v>2.7</c:v>
                </c:pt>
                <c:pt idx="2">
                  <c:v>2.2</c:v>
                </c:pt>
                <c:pt idx="3">
                  <c:v>2.4</c:v>
                </c:pt>
                <c:pt idx="4">
                  <c:v>2.8</c:v>
                </c:pt>
                <c:pt idx="5">
                  <c:v>4.8</c:v>
                </c:pt>
                <c:pt idx="6">
                  <c:v>0</c:v>
                </c:pt>
                <c:pt idx="7">
                  <c:v>0</c:v>
                </c:pt>
              </c:numCache>
            </c:numRef>
          </c:val>
        </c:ser>
        <c:dLbls>
          <c:numFmt formatCode="0.0&quot;%&quot;;;;" sourceLinked="0"/>
          <c:txPr>
            <a:bodyPr/>
            <a:lstStyle/>
            <a:p>
              <a:pPr>
                <a:defRPr b="0" i="0" strike="noStrike" sz="1100" u="none">
                  <a:solidFill>
                    <a:srgbClr val="1B2838"/>
                  </a:solidFill>
                  <a:latin typeface="Calibri"/>
                </a:defRPr>
              </a:pPr>
            </a:p>
          </c:txPr>
          <c:showLegendKey val="0"/>
          <c:showVal val="1"/>
          <c:showCatName val="0"/>
          <c:showSerName val="0"/>
          <c:showPercent val="0"/>
          <c:showBubbleSize val="0"/>
          <c:showLeaderLines val="0"/>
        </c:dLbls>
        <c:gapWidth val="45"/>
        <c:overlap val="100"/>
        <c:axId val="2094734554"/>
        <c:axId val="2094734552"/>
        <c:axId val="2094734556"/>
      </c:barChart>
      <c:catAx>
        <c:axId val="2094734554"/>
        <c:scaling>
          <c:orientation val="minMax"/>
        </c:scaling>
        <c:delete val="0"/>
        <c:axPos val="b"/>
        <c:title>
          <c:tx>
            <c:rich>
              <a:bodyPr/>
              <a:lstStyle/>
              <a:p>
                <a:pPr>
                  <a:defRPr sz="1200" b="0" i="0" u="none" strike="noStrike">
                    <a:solidFill>
                      <a:srgbClr val="5B6B7A"/>
                    </a:solidFill>
                    <a:latin typeface="Arial"/>
                  </a:defRPr>
                </a:pPr>
                <a:r>
                  <a:rPr sz="1200" b="0" i="0" u="none" strike="noStrike">
                    <a:solidFill>
                      <a:srgbClr val="5B6B7A"/>
                    </a:solidFill>
                    <a:latin typeface="Arial"/>
                  </a:rPr>
                  <a:t>Current lowest rating (9 = excellent)</a:t>
                </a:r>
              </a:p>
            </c:rich>
          </c:tx>
          <c:layout/>
          <c:overlay val="0"/>
        </c:title>
        <c:numFmt formatCode="General" sourceLinked="1"/>
        <c:majorTickMark val="out"/>
        <c:minorTickMark val="none"/>
        <c:tickLblPos val="low"/>
        <c:spPr>
          <a:ln w="12700" cap="flat">
            <a:noFill/>
            <a:prstDash val="solid"/>
            <a:round/>
          </a:ln>
        </c:spPr>
        <c:txPr>
          <a:bodyPr/>
          <a:lstStyle/>
          <a:p>
            <a:pPr>
              <a:defRPr sz="1200" b="0" i="0" u="none" strike="noStrike">
                <a:solidFill>
                  <a:srgbClr val="5B6B7A"/>
                </a:solidFill>
                <a:latin typeface="Calibri"/>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noFill/>
            <a:prstDash val="solid"/>
            <a:round/>
          </a:ln>
        </c:spPr>
        <c:txPr>
          <a:bodyPr/>
          <a:lstStyle/>
          <a:p>
            <a:pPr>
              <a:defRPr sz="1100" b="0" i="0" u="none" strike="noStrike">
                <a:solidFill>
                  <a:srgbClr val="5B6B7A"/>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B2838"/>
                </a:solidFill>
                <a:latin typeface="Arial"/>
              </a:defRPr>
            </a:pPr>
            <a:r>
              <a:rPr sz="1300" b="0" i="0" u="none" strike="noStrike">
                <a:solidFill>
                  <a:srgbClr val="1B2838"/>
                </a:solidFill>
                <a:latin typeface="Arial"/>
              </a:rPr>
              <a:t>Average freeze and thaw days per year, 2020 to 2025</a:t>
            </a:r>
          </a:p>
        </c:rich>
      </c:tx>
      <c:layout/>
      <c:overlay val="0"/>
    </c:title>
    <c:autoTitleDeleted val="0"/>
    <c:plotArea>
      <c:layout/>
      <c:barChart>
        <c:barDir val="col"/>
        <c:grouping val="clustered"/>
        <c:varyColors val="0"/>
        <c:ser>
          <c:idx val="0"/>
          <c:order val="0"/>
          <c:tx>
            <c:strRef>
              <c:f>Sheet1!$B$1</c:f>
              <c:strCache>
                <c:ptCount val="1"/>
                <c:pt idx="0">
                  <c:v>Freeze-thaw</c:v>
                </c:pt>
              </c:strCache>
            </c:strRef>
          </c:tx>
          <c:spPr>
            <a:solidFill>
              <a:srgbClr val="3E5569"/>
            </a:solidFill>
            <a:effectLst/>
          </c:spPr>
          <c:invertIfNegative val="0"/>
          <c:dLbls>
            <c:numFmt formatCode="0" sourceLinked="0"/>
            <c:txPr>
              <a:bodyPr/>
              <a:lstStyle/>
              <a:p>
                <a:pPr>
                  <a:defRPr b="0" i="0" strike="noStrike" sz="1100" u="none">
                    <a:solidFill>
                      <a:srgbClr val="1B2838"/>
                    </a:solidFill>
                    <a:latin typeface="Calibri"/>
                  </a:defRPr>
                </a:pPr>
              </a:p>
            </c:txPr>
            <c:showLegendKey val="0"/>
            <c:showVal val="1"/>
            <c:showCatName val="0"/>
            <c:showSerName val="0"/>
            <c:showPercent val="0"/>
            <c:showBubbleSize val="0"/>
            <c:showLeaderLines val="0"/>
          </c:dLbls>
          <c:cat>
            <c:multiLvlStrRef>
              <c:f>Sheet1!$A$2:$A$8</c:f>
              <c:multiLvlStrCache>
                <c:ptCount val="7"/>
                <c:lvl>
                  <c:pt idx="0">
                    <c:v>NY</c:v>
                  </c:pt>
                  <c:pt idx="1">
                    <c:v>MI</c:v>
                  </c:pt>
                  <c:pt idx="2">
                    <c:v>MD</c:v>
                  </c:pt>
                  <c:pt idx="3">
                    <c:v>WA</c:v>
                  </c:pt>
                  <c:pt idx="4">
                    <c:v>TX</c:v>
                  </c:pt>
                  <c:pt idx="5">
                    <c:v>CA</c:v>
                  </c:pt>
                  <c:pt idx="6">
                    <c:v>FL</c:v>
                  </c:pt>
                </c:lvl>
              </c:multiLvlStrCache>
            </c:multiLvlStrRef>
          </c:cat>
          <c:val>
            <c:numRef>
              <c:f>Sheet1!$B$2:$B$8</c:f>
              <c:numCache>
                <c:formatCode>General</c:formatCode>
                <c:ptCount val="7"/>
                <c:pt idx="0">
                  <c:v>92.2</c:v>
                </c:pt>
                <c:pt idx="1">
                  <c:v>91.3</c:v>
                </c:pt>
                <c:pt idx="2">
                  <c:v>72.8</c:v>
                </c:pt>
                <c:pt idx="3">
                  <c:v>66.6</c:v>
                </c:pt>
                <c:pt idx="4">
                  <c:v>21.6</c:v>
                </c:pt>
                <c:pt idx="5">
                  <c:v>11.9</c:v>
                </c:pt>
                <c:pt idx="6">
                  <c:v>3.1</c:v>
                </c:pt>
              </c:numCache>
            </c:numRef>
          </c:val>
        </c:ser>
        <c:dLbls>
          <c:numFmt formatCode="0" sourceLinked="0"/>
          <c:txPr>
            <a:bodyPr/>
            <a:lstStyle/>
            <a:p>
              <a:pPr>
                <a:defRPr b="0" i="0" strike="noStrike" sz="1100" u="none">
                  <a:solidFill>
                    <a:srgbClr val="1B2838"/>
                  </a:solidFill>
                  <a:latin typeface="Calibri"/>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200" b="0" i="0" u="none" strike="noStrike">
                <a:solidFill>
                  <a:srgbClr val="5B6B7A"/>
                </a:solidFill>
                <a:latin typeface="Calibri"/>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noFill/>
            <a:prstDash val="solid"/>
            <a:round/>
          </a:ln>
        </c:spPr>
        <c:txPr>
          <a:bodyPr/>
          <a:lstStyle/>
          <a:p>
            <a:pPr>
              <a:defRPr sz="1100" b="0" i="0" u="none" strike="noStrike">
                <a:solidFill>
                  <a:srgbClr val="5B6B7A"/>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B2838"/>
                </a:solidFill>
                <a:latin typeface="Arial"/>
              </a:defRPr>
            </a:pPr>
            <a:r>
              <a:rPr sz="1300" b="0" i="0" u="none" strike="noStrike">
                <a:solidFill>
                  <a:srgbClr val="1B2838"/>
                </a:solidFill>
                <a:latin typeface="Arial"/>
              </a:rPr>
              <a:t>Share of 2025 rating drops found by inspecting the model's riskiest bridges first</a:t>
            </a:r>
          </a:p>
        </c:rich>
      </c:tx>
      <c:layout/>
      <c:overlay val="0"/>
    </c:title>
    <c:autoTitleDeleted val="0"/>
    <c:plotArea>
      <c:layout/>
      <c:barChart>
        <c:barDir val="col"/>
        <c:grouping val="clustered"/>
        <c:varyColors val="0"/>
        <c:ser>
          <c:idx val="0"/>
          <c:order val="0"/>
          <c:tx>
            <c:strRef>
              <c:f>Sheet1!$B$1</c:f>
              <c:strCache>
                <c:ptCount val="1"/>
                <c:pt idx="0">
                  <c:v>Found</c:v>
                </c:pt>
              </c:strCache>
            </c:strRef>
          </c:tx>
          <c:spPr>
            <a:solidFill>
              <a:srgbClr val="E8702A"/>
            </a:solidFill>
            <a:effectLst/>
          </c:spPr>
          <c:invertIfNegative val="0"/>
          <c:dLbls>
            <c:numFmt formatCode="0.0&quot;%&quot;" sourceLinked="0"/>
            <c:txPr>
              <a:bodyPr/>
              <a:lstStyle/>
              <a:p>
                <a:pPr>
                  <a:defRPr b="0" i="0" strike="noStrike" sz="1100" u="none">
                    <a:solidFill>
                      <a:srgbClr val="1B2838"/>
                    </a:solidFill>
                    <a:latin typeface="Calibri"/>
                  </a:defRPr>
                </a:pPr>
              </a:p>
            </c:txPr>
            <c:showLegendKey val="0"/>
            <c:showVal val="1"/>
            <c:showCatName val="0"/>
            <c:showSerName val="0"/>
            <c:showPercent val="0"/>
            <c:showBubbleSize val="0"/>
            <c:showLeaderLines val="0"/>
          </c:dLbls>
          <c:cat>
            <c:multiLvlStrRef>
              <c:f>Sheet1!$A$2:$A$6</c:f>
              <c:multiLvlStrCache>
                <c:ptCount val="5"/>
                <c:lvl>
                  <c:pt idx="0">
                    <c:v>Top 5%</c:v>
                  </c:pt>
                  <c:pt idx="1">
                    <c:v>Top 10%</c:v>
                  </c:pt>
                  <c:pt idx="2">
                    <c:v>Top 20%</c:v>
                  </c:pt>
                  <c:pt idx="3">
                    <c:v>Top 30%</c:v>
                  </c:pt>
                  <c:pt idx="4">
                    <c:v>Top 50%</c:v>
                  </c:pt>
                </c:lvl>
              </c:multiLvlStrCache>
            </c:multiLvlStrRef>
          </c:cat>
          <c:val>
            <c:numRef>
              <c:f>Sheet1!$B$2:$B$6</c:f>
              <c:numCache>
                <c:formatCode>General</c:formatCode>
                <c:ptCount val="5"/>
                <c:pt idx="0">
                  <c:v>17.9</c:v>
                </c:pt>
                <c:pt idx="1">
                  <c:v>31.4</c:v>
                </c:pt>
                <c:pt idx="2">
                  <c:v>48.9</c:v>
                </c:pt>
                <c:pt idx="3">
                  <c:v>60.2</c:v>
                </c:pt>
                <c:pt idx="4">
                  <c:v>79</c:v>
                </c:pt>
              </c:numCache>
            </c:numRef>
          </c:val>
        </c:ser>
        <c:dLbls>
          <c:numFmt formatCode="0.0&quot;%&quot;" sourceLinked="0"/>
          <c:txPr>
            <a:bodyPr/>
            <a:lstStyle/>
            <a:p>
              <a:pPr>
                <a:defRPr b="0" i="0" strike="noStrike" sz="1100" u="none">
                  <a:solidFill>
                    <a:srgbClr val="1B2838"/>
                  </a:solidFill>
                  <a:latin typeface="Calibri"/>
                </a:defRPr>
              </a:pPr>
            </a:p>
          </c:txPr>
          <c:showLegendKey val="0"/>
          <c:showVal val="1"/>
          <c:showCatName val="0"/>
          <c:showSerName val="0"/>
          <c:showPercent val="0"/>
          <c:showBubbleSize val="0"/>
          <c:showLeaderLines val="0"/>
        </c:dLbls>
        <c:gapWidth val="50"/>
        <c:overlap val="0"/>
        <c:axId val="2094734554"/>
        <c:axId val="2094734552"/>
        <c:axId val="2094734556"/>
      </c:barChart>
      <c:catAx>
        <c:axId val="2094734554"/>
        <c:scaling>
          <c:orientation val="minMax"/>
        </c:scaling>
        <c:delete val="0"/>
        <c:axPos val="b"/>
        <c:title>
          <c:tx>
            <c:rich>
              <a:bodyPr/>
              <a:lstStyle/>
              <a:p>
                <a:pPr>
                  <a:defRPr sz="1200" b="0" i="0" u="none" strike="noStrike">
                    <a:solidFill>
                      <a:srgbClr val="5B6B7A"/>
                    </a:solidFill>
                    <a:latin typeface="Arial"/>
                  </a:defRPr>
                </a:pPr>
                <a:r>
                  <a:rPr sz="1200" b="0" i="0" u="none" strike="noStrike">
                    <a:solidFill>
                      <a:srgbClr val="5B6B7A"/>
                    </a:solidFill>
                    <a:latin typeface="Arial"/>
                  </a:rPr>
                  <a:t>Bridges checked, ranked by predicted risk</a:t>
                </a:r>
              </a:p>
            </c:rich>
          </c:tx>
          <c:layout/>
          <c:overlay val="0"/>
        </c:title>
        <c:numFmt formatCode="General" sourceLinked="1"/>
        <c:majorTickMark val="out"/>
        <c:minorTickMark val="none"/>
        <c:tickLblPos val="low"/>
        <c:spPr>
          <a:ln w="12700" cap="flat">
            <a:noFill/>
            <a:prstDash val="solid"/>
            <a:round/>
          </a:ln>
        </c:spPr>
        <c:txPr>
          <a:bodyPr/>
          <a:lstStyle/>
          <a:p>
            <a:pPr>
              <a:defRPr sz="1200" b="0" i="0" u="none" strike="noStrike">
                <a:solidFill>
                  <a:srgbClr val="5B6B7A"/>
                </a:solidFill>
                <a:latin typeface="Calibri"/>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noFill/>
            <a:prstDash val="solid"/>
            <a:round/>
          </a:ln>
        </c:spPr>
        <c:txPr>
          <a:bodyPr/>
          <a:lstStyle/>
          <a:p>
            <a:pPr>
              <a:defRPr sz="1100" b="0" i="0" u="none" strike="noStrike">
                <a:solidFill>
                  <a:srgbClr val="5B6B7A"/>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B2838"/>
                </a:solidFill>
                <a:latin typeface="Arial"/>
              </a:defRPr>
            </a:pPr>
            <a:r>
              <a:rPr sz="1300" b="0" i="0" u="none" strike="noStrike">
                <a:solidFill>
                  <a:srgbClr val="1B2838"/>
                </a:solidFill>
                <a:latin typeface="Arial"/>
              </a:rPr>
              <a:t>Odds multiplier for a typical increase in each feature (1.00 = no effect)</a:t>
            </a:r>
          </a:p>
        </c:rich>
      </c:tx>
      <c:layout/>
      <c:overlay val="0"/>
    </c:title>
    <c:autoTitleDeleted val="0"/>
    <c:plotArea>
      <c:layout/>
      <c:barChart>
        <c:barDir val="bar"/>
        <c:grouping val="clustered"/>
        <c:varyColors val="0"/>
        <c:ser>
          <c:idx val="0"/>
          <c:order val="0"/>
          <c:tx>
            <c:strRef>
              <c:f>Sheet1!$B$1</c:f>
              <c:strCache>
                <c:ptCount val="1"/>
                <c:pt idx="0">
                  <c:v>Odds multiplier</c:v>
                </c:pt>
              </c:strCache>
            </c:strRef>
          </c:tx>
          <c:spPr>
            <a:solidFill>
              <a:srgbClr val="3E5569"/>
            </a:solidFill>
            <a:effectLst/>
          </c:spPr>
          <c:invertIfNegative val="0"/>
          <c:dLbls>
            <c:numFmt formatCode="0.00&quot;×&quot;" sourceLinked="0"/>
            <c:txPr>
              <a:bodyPr/>
              <a:lstStyle/>
              <a:p>
                <a:pPr>
                  <a:defRPr b="0" i="0" strike="noStrike" sz="1100" u="none">
                    <a:solidFill>
                      <a:srgbClr val="1B2838"/>
                    </a:solidFill>
                    <a:latin typeface="Calibri"/>
                  </a:defRPr>
                </a:pPr>
              </a:p>
            </c:txPr>
            <c:showLegendKey val="0"/>
            <c:showVal val="1"/>
            <c:showCatName val="0"/>
            <c:showSerName val="0"/>
            <c:showPercent val="0"/>
            <c:showBubbleSize val="0"/>
            <c:showLeaderLines val="0"/>
          </c:dLbls>
          <c:cat>
            <c:multiLvlStrRef>
              <c:f>Sheet1!$A$2:$A$8</c:f>
              <c:multiLvlStrCache>
                <c:ptCount val="7"/>
                <c:lvl>
                  <c:pt idx="0">
                    <c:v>Current rating (+1 point)</c:v>
                  </c:pt>
                  <c:pt idx="1">
                    <c:v>Age (+25 years)</c:v>
                  </c:pt>
                  <c:pt idx="2">
                    <c:v>Spans in main unit (+5)</c:v>
                  </c:pt>
                  <c:pt idx="3">
                    <c:v>Structure length (+167 m)</c:v>
                  </c:pt>
                  <c:pt idx="4">
                    <c:v>Truck share (+9 points)</c:v>
                  </c:pt>
                  <c:pt idx="5">
                    <c:v>Daily traffic (+32,000)</c:v>
                  </c:pt>
                  <c:pt idx="6">
                    <c:v>Inspection interval (+6 months)</c:v>
                  </c:pt>
                </c:lvl>
              </c:multiLvlStrCache>
            </c:multiLvlStrRef>
          </c:cat>
          <c:val>
            <c:numRef>
              <c:f>Sheet1!$B$2:$B$8</c:f>
              <c:numCache>
                <c:formatCode>General</c:formatCode>
                <c:ptCount val="7"/>
                <c:pt idx="0">
                  <c:v>3.77</c:v>
                </c:pt>
                <c:pt idx="1">
                  <c:v>1.25</c:v>
                </c:pt>
                <c:pt idx="2">
                  <c:v>1.05</c:v>
                </c:pt>
                <c:pt idx="3">
                  <c:v>1.02</c:v>
                </c:pt>
                <c:pt idx="4">
                  <c:v>1.01</c:v>
                </c:pt>
                <c:pt idx="5">
                  <c:v>1</c:v>
                </c:pt>
                <c:pt idx="6">
                  <c:v>0.93</c:v>
                </c:pt>
              </c:numCache>
            </c:numRef>
          </c:val>
        </c:ser>
        <c:dLbls>
          <c:numFmt formatCode="0.00&quot;×&quot;" sourceLinked="0"/>
          <c:txPr>
            <a:bodyPr/>
            <a:lstStyle/>
            <a:p>
              <a:pPr>
                <a:defRPr b="0" i="0" strike="noStrike" sz="1100" u="none">
                  <a:solidFill>
                    <a:srgbClr val="1B2838"/>
                  </a:solidFill>
                  <a:latin typeface="Calibri"/>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200" b="0" i="0" u="none" strike="noStrike">
                <a:solidFill>
                  <a:srgbClr val="5B6B7A"/>
                </a:solidFill>
                <a:latin typeface="Calibri"/>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noFill/>
            <a:prstDash val="solid"/>
            <a:round/>
          </a:ln>
        </c:spPr>
        <c:txPr>
          <a:bodyPr/>
          <a:lstStyle/>
          <a:p>
            <a:pPr>
              <a:defRPr sz="1100" b="0" i="0" u="none" strike="noStrike">
                <a:solidFill>
                  <a:srgbClr val="5B6B7A"/>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project: BridgeWatch AI uses federal bridge inspection records, weather, and state spending data to predict which bridges are likely to see their condition rating drop by the next inspection. Today covers the data, how it was cleaned and selected, what the exploratory analysis found, and how the first model was chosen and trained.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motivation is resource allocation. The four research questions on the right guide the whole project. Questions 3 and 4 are why two extra data sources, weather and state spending, were added to the bridge records.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core dataset is the National Bridge Inventory. Weather was added to test research question 3, and state spending to test research question 4. All three are free, official government sources. The weather files were far too large to keep, so a script downloads them, summarizes them to one row per bridge per year, and deletes the raw grids.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seven states give a wide range of climates, which matters for the weather question. The map is drawn from the decoded bridge coordinates, and the clean state outlines are a sanity check that the coordinate decoding worked. Texas dominates the bridge count, which is worth keeping in mind for any overall statistic.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target is built by pairing each bridge with itself one year later. Only about 4 in 100 transitions are a drop, so this is a heavily imbalanced problem. That imbalance shapes how the model is trained and evaluated later: accuracy is not a useful measure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basic integrity checks. The schema check came first because the whole approach depends on joining files across years. Only 2 rows needed removing. The zero-traffic and very old bridges are rare enough that they were kept rather than guessed 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Location needed the most careful cleaning. Two separate checks were used: whether the value is a plain digit string, and whether the decoded point falls inside the state's boundary box. The out-of-bounds values are mostly placeholder codes in Maryland, not real GPS errors. Masking them affects only the map, not model training.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Missing data was small across the board. The important insight is that the component condition ratings look very incomplete, but that's structural: a culvert and a regular bridge are rated on different fields. That is why the target is built on LOWEST_RATING instead of any single component rating. Remaining gaps are filled inside the model pipeline, fit on the training data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Features were chosen to cover the bridge's condition, age, design, use, and environment, using only information known at the time of an inspection. Current condition ratings are legitimate predictors, not leakage: they describe this year, while the label is about next year. Spending was included in the first model and then removed after testing, which is covered in the results.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quick profile of the inventory. The typical bridge is about 50 years old. Traffic is extremely skewed, from zero to over 800,000 vehicles a day, so it was plotted on a log scale in the notebook. Michigan and New York have by far the largest share of bridges in poor condition, which previews the deterioration results on the next slide. By material, wood and steel bridges are most often rated poor.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deterioration rate varies a lot between states: Michigan and New York stand out, both states with harsh winters, which is what motivated adding weather data. Across years the rate is stable, which is good news for a time-based train and test split: the test year is not unusual.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was the most surprising result of the analysis. Bridges in the best condition drop the most often, 22% of 9-rated bridges versus 2 to 3% in the middle of the scale. It changes how the model's output should be described, and it suggests future work: a label that weighs drops by how serious they are. Ratings 0 and 1 are left off the chart because there are only a few hundred of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York and Michigan average around 90 freeze and thaw days a year, while Florida has about 3. That's the same pattern as the deterioration rates, which is why weather was a promising addition for research question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research question 4, spending was converted to dollars per bridge so large and small states could be compared. The two correlations tell different stories. Across states the link is positive, most likely because money goes where it is needed. Within a state over time it is weak. With only 35 state-year values, this was flagged as a risky feature before modeling even started.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Interpretability was the deciding factor, because the end product is an app that has to explain why a bridge was flagged. Logistic Regression also deals with the class imbalance directly and trains fast enough to run the data source comparison. A more flexible model, like gradient boosting, is a natural next step to compare against this baseline.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Preprocessing and the model are wrapped in one pipeline so the exact same steps run in training, testing, and later in the app. The split is by time rather than random: the model learns from transitions ending 2021 to 2024 and is tested on 2025. A random split would mix years and give an overly optimistic score.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headline number for this use case is the capture rate. If inspectors worked down the model's list, the riskiest 20% of bridges contain almost half of all the 2025 rating drops, about 2.4 times better than checking at random. ROC AUC of 0.72 is a solid but not exceptional score, which is expected for a first, simple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answers research questions 3 and 4. Weather gives a small but reliable improvement, so it stays. Spending made the forecast worse, and the notebook traces exactly why. Dropping it is itself a finding: adding data does not guarantee a better model, and each source has to be tested on data the model hasn't seen. The spending analysis is still kept in the EDA and can appear in the app as background.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Research question 2. The Logistic Regression coefficients are turned into odds multipliers for a typical change in each feature. The current condition rating dominates, then age. Individual weather coefficients point in mixed directions because the temperature measures are 93 to 98% correlated with each other, so weather is judged as a group, which is what the with and without comparison did. For the app, each bridge's score can be split exactly into these contributions to explain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the honest limitations, especially that the label treats every one-point drop the same. Next steps are saving the model and building the app, then testing whether a more flexible model or a severity-weighted label improves on this baseline.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image" Target="../media/image-8-1.png"/><Relationship Id="rId3" Type="http://schemas.openxmlformats.org/officeDocument/2006/relationships/image" Target="../media/image-8-2.png"/><Relationship Id="rId4" Type="http://schemas.openxmlformats.org/officeDocument/2006/relationships/image" Target="../media/image-8-3.png"/><Relationship Id="rId5" Type="http://schemas.openxmlformats.org/officeDocument/2006/relationships/slideLayout" Target="../slideLayouts/slideLayout1.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chart" Target="/ppt/charts/chart4.xml"/><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ppt/charts/chart6.xml"/><Relationship Id="rId2" Type="http://schemas.openxmlformats.org/officeDocument/2006/relationships/image" Target="../media/image-13-1.png"/><Relationship Id="rId3" Type="http://schemas.openxmlformats.org/officeDocument/2006/relationships/image" Target="../media/image-13-2.png"/><Relationship Id="rId4" Type="http://schemas.openxmlformats.org/officeDocument/2006/relationships/image" Target="../media/image-13-3.png"/><Relationship Id="rId5" Type="http://schemas.openxmlformats.org/officeDocument/2006/relationships/slideLayout" Target="../slideLayouts/slideLayout1.xml"/><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slideLayout" Target="../slideLayouts/slideLayout1.xml"/><Relationship Id="rId6"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chart" Target="/ppt/charts/chart7.xml"/><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chart" Target="/ppt/charts/chart8.xml"/><Relationship Id="rId2" Type="http://schemas.openxmlformats.org/officeDocument/2006/relationships/image" Target="../media/image-19-1.png"/><Relationship Id="rId3" Type="http://schemas.openxmlformats.org/officeDocument/2006/relationships/image" Target="../media/image-19-2.png"/><Relationship Id="rId4" Type="http://schemas.openxmlformats.org/officeDocument/2006/relationships/image" Target="../media/image-19-3.png"/><Relationship Id="rId5" Type="http://schemas.openxmlformats.org/officeDocument/2006/relationships/slideLayout" Target="../slideLayouts/slideLayout1.xml"/><Relationship Id="rId6"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838"/>
        </a:solidFill>
      </p:bgPr>
    </p:bg>
    <p:spTree>
      <p:nvGrpSpPr>
        <p:cNvPr id="1" name=""/>
        <p:cNvGrpSpPr/>
        <p:nvPr/>
      </p:nvGrpSpPr>
      <p:grpSpPr>
        <a:xfrm>
          <a:off x="0" y="0"/>
          <a:ext cx="0" cy="0"/>
          <a:chOff x="0" y="0"/>
          <a:chExt cx="0" cy="0"/>
        </a:xfrm>
      </p:grpSpPr>
      <p:sp>
        <p:nvSpPr>
          <p:cNvPr id="2" name="Shape 0"/>
          <p:cNvSpPr/>
          <p:nvPr/>
        </p:nvSpPr>
        <p:spPr>
          <a:xfrm>
            <a:off x="731520" y="914400"/>
            <a:ext cx="731520" cy="731520"/>
          </a:xfrm>
          <a:prstGeom prst="ellipse">
            <a:avLst/>
          </a:prstGeom>
          <a:solidFill>
            <a:srgbClr val="E8702A"/>
          </a:solidFill>
          <a:ln w="12700">
            <a:solidFill>
              <a:srgbClr val="E8702A"/>
            </a:solidFill>
            <a:prstDash val="solid"/>
          </a:ln>
        </p:spPr>
      </p:sp>
      <p:pic>
        <p:nvPicPr>
          <p:cNvPr id="3" name="Image 0" descr="preencoded.png">    </p:cNvPr>
          <p:cNvPicPr>
            <a:picLocks noChangeAspect="1"/>
          </p:cNvPicPr>
          <p:nvPr/>
        </p:nvPicPr>
        <p:blipFill>
          <a:blip r:embed="rId1"/>
          <a:stretch>
            <a:fillRect/>
          </a:stretch>
        </p:blipFill>
        <p:spPr>
          <a:xfrm>
            <a:off x="914400" y="1097280"/>
            <a:ext cx="365760" cy="365760"/>
          </a:xfrm>
          <a:prstGeom prst="rect">
            <a:avLst/>
          </a:prstGeom>
        </p:spPr>
      </p:pic>
      <p:sp>
        <p:nvSpPr>
          <p:cNvPr id="4" name="Text 1"/>
          <p:cNvSpPr txBox="1"/>
          <p:nvPr/>
        </p:nvSpPr>
        <p:spPr>
          <a:xfrm>
            <a:off x="731520" y="1828800"/>
            <a:ext cx="10515600" cy="1005840"/>
          </a:xfrm>
          <a:prstGeom prst="rect">
            <a:avLst/>
          </a:prstGeom>
          <a:noFill/>
          <a:ln/>
        </p:spPr>
        <p:txBody>
          <a:bodyPr wrap="square" lIns="0" tIns="0" rIns="0" bIns="0" rtlCol="0" anchor="t"/>
          <a:lstStyle/>
          <a:p>
            <a:pPr indent="0" marL="0">
              <a:buNone/>
            </a:pPr>
            <a:r>
              <a:rPr lang="en-US" sz="4800" b="1" dirty="0">
                <a:solidFill>
                  <a:srgbClr val="FFFFFF"/>
                </a:solidFill>
                <a:latin typeface="Arial" pitchFamily="34" charset="0"/>
                <a:ea typeface="Arial" pitchFamily="34" charset="-122"/>
                <a:cs typeface="Arial" pitchFamily="34" charset="-120"/>
              </a:rPr>
              <a:t>BridgeWatch AI</a:t>
            </a:r>
            <a:endParaRPr lang="en-US" sz="4800" dirty="0"/>
          </a:p>
        </p:txBody>
      </p:sp>
      <p:sp>
        <p:nvSpPr>
          <p:cNvPr id="5" name="Text 2"/>
          <p:cNvSpPr txBox="1"/>
          <p:nvPr/>
        </p:nvSpPr>
        <p:spPr>
          <a:xfrm>
            <a:off x="731520" y="2834640"/>
            <a:ext cx="10515600" cy="548640"/>
          </a:xfrm>
          <a:prstGeom prst="rect">
            <a:avLst/>
          </a:prstGeom>
          <a:noFill/>
          <a:ln/>
        </p:spPr>
        <p:txBody>
          <a:bodyPr wrap="square" lIns="0" tIns="0" rIns="0" bIns="0" rtlCol="0" anchor="t"/>
          <a:lstStyle/>
          <a:p>
            <a:pPr indent="0" marL="0">
              <a:buNone/>
            </a:pPr>
            <a:r>
              <a:rPr lang="en-US" sz="2400" dirty="0">
                <a:solidFill>
                  <a:srgbClr val="CFD6DE"/>
                </a:solidFill>
                <a:latin typeface="Calibri" pitchFamily="34" charset="0"/>
                <a:ea typeface="Calibri" pitchFamily="34" charset="-122"/>
                <a:cs typeface="Calibri" pitchFamily="34" charset="-120"/>
              </a:rPr>
              <a:t>Exploratory data analysis and modeling approach</a:t>
            </a:r>
            <a:endParaRPr lang="en-US" sz="2400" dirty="0"/>
          </a:p>
        </p:txBody>
      </p:sp>
      <p:sp>
        <p:nvSpPr>
          <p:cNvPr id="6" name="Text 3"/>
          <p:cNvSpPr txBox="1"/>
          <p:nvPr/>
        </p:nvSpPr>
        <p:spPr>
          <a:xfrm>
            <a:off x="731520" y="3429000"/>
            <a:ext cx="10515600" cy="457200"/>
          </a:xfrm>
          <a:prstGeom prst="rect">
            <a:avLst/>
          </a:prstGeom>
          <a:noFill/>
          <a:ln/>
        </p:spPr>
        <p:txBody>
          <a:bodyPr wrap="square" lIns="0" tIns="0" rIns="0" bIns="0" rtlCol="0" anchor="t"/>
          <a:lstStyle/>
          <a:p>
            <a:pPr indent="0" marL="0">
              <a:buNone/>
            </a:pPr>
            <a:r>
              <a:rPr lang="en-US" sz="1700" i="1" dirty="0">
                <a:solidFill>
                  <a:srgbClr val="E8702A"/>
                </a:solidFill>
                <a:latin typeface="Calibri" pitchFamily="34" charset="0"/>
                <a:ea typeface="Calibri" pitchFamily="34" charset="-122"/>
                <a:cs typeface="Calibri" pitchFamily="34" charset="-120"/>
              </a:rPr>
              <a:t>Predicting which bridges' condition ratings will drop by their next inspection</a:t>
            </a:r>
            <a:endParaRPr lang="en-US" sz="1700" dirty="0"/>
          </a:p>
        </p:txBody>
      </p:sp>
      <p:sp>
        <p:nvSpPr>
          <p:cNvPr id="7" name="Text 4"/>
          <p:cNvSpPr txBox="1"/>
          <p:nvPr/>
        </p:nvSpPr>
        <p:spPr>
          <a:xfrm>
            <a:off x="731520" y="5760720"/>
            <a:ext cx="10515600" cy="365760"/>
          </a:xfrm>
          <a:prstGeom prst="rect">
            <a:avLst/>
          </a:prstGeom>
          <a:noFill/>
          <a:ln/>
        </p:spPr>
        <p:txBody>
          <a:bodyPr wrap="square" lIns="0" tIns="0" rIns="0" bIns="0" rtlCol="0" anchor="t"/>
          <a:lstStyle/>
          <a:p>
            <a:pPr indent="0" marL="0">
              <a:buNone/>
            </a:pPr>
            <a:r>
              <a:rPr lang="en-US" sz="1500" dirty="0">
                <a:solidFill>
                  <a:srgbClr val="CFD6DE"/>
                </a:solidFill>
                <a:latin typeface="Calibri" pitchFamily="34" charset="0"/>
                <a:ea typeface="Calibri" pitchFamily="34" charset="-122"/>
                <a:cs typeface="Calibri" pitchFamily="34" charset="-120"/>
              </a:rPr>
              <a:t>Edmund L. Goldsberry  ·  UMBC DATA 606 Capstone</a:t>
            </a:r>
            <a:endParaRPr lang="en-US" sz="1500" dirty="0"/>
          </a:p>
        </p:txBody>
      </p:sp>
      <p:sp>
        <p:nvSpPr>
          <p:cNvPr id="8" name="Text 5"/>
          <p:cNvSpPr txBox="1"/>
          <p:nvPr/>
        </p:nvSpPr>
        <p:spPr>
          <a:xfrm>
            <a:off x="731520" y="4343400"/>
            <a:ext cx="2194560" cy="640080"/>
          </a:xfrm>
          <a:prstGeom prst="rect">
            <a:avLst/>
          </a:prstGeom>
          <a:noFill/>
          <a:ln/>
        </p:spPr>
        <p:txBody>
          <a:bodyPr wrap="square" lIns="0" tIns="0" rIns="0" bIns="0" rtlCol="0" anchor="t"/>
          <a:lstStyle/>
          <a:p>
            <a:pPr indent="0" marL="0">
              <a:buNone/>
            </a:pPr>
            <a:r>
              <a:rPr lang="en-US" sz="3000" b="1" dirty="0">
                <a:solidFill>
                  <a:srgbClr val="FFFFFF"/>
                </a:solidFill>
                <a:latin typeface="Arial" pitchFamily="34" charset="0"/>
                <a:ea typeface="Arial" pitchFamily="34" charset="-122"/>
                <a:cs typeface="Arial" pitchFamily="34" charset="-120"/>
              </a:rPr>
              <a:t>139,079</a:t>
            </a:r>
            <a:endParaRPr lang="en-US" sz="3000" dirty="0"/>
          </a:p>
        </p:txBody>
      </p:sp>
      <p:sp>
        <p:nvSpPr>
          <p:cNvPr id="9" name="Text 6"/>
          <p:cNvSpPr txBox="1"/>
          <p:nvPr/>
        </p:nvSpPr>
        <p:spPr>
          <a:xfrm>
            <a:off x="731520" y="4983480"/>
            <a:ext cx="2194560" cy="365760"/>
          </a:xfrm>
          <a:prstGeom prst="rect">
            <a:avLst/>
          </a:prstGeom>
          <a:noFill/>
          <a:ln/>
        </p:spPr>
        <p:txBody>
          <a:bodyPr wrap="square" lIns="0" tIns="0" rIns="0" bIns="0" rtlCol="0" anchor="t"/>
          <a:lstStyle/>
          <a:p>
            <a:pPr indent="0" marL="0">
              <a:buNone/>
            </a:pPr>
            <a:r>
              <a:rPr lang="en-US" sz="1300" dirty="0">
                <a:solidFill>
                  <a:srgbClr val="CFD6DE"/>
                </a:solidFill>
                <a:latin typeface="Calibri" pitchFamily="34" charset="0"/>
                <a:ea typeface="Calibri" pitchFamily="34" charset="-122"/>
                <a:cs typeface="Calibri" pitchFamily="34" charset="-120"/>
              </a:rPr>
              <a:t>bridges (2025)</a:t>
            </a:r>
            <a:endParaRPr lang="en-US" sz="1300" dirty="0"/>
          </a:p>
        </p:txBody>
      </p:sp>
      <p:sp>
        <p:nvSpPr>
          <p:cNvPr id="10" name="Text 7"/>
          <p:cNvSpPr txBox="1"/>
          <p:nvPr/>
        </p:nvSpPr>
        <p:spPr>
          <a:xfrm>
            <a:off x="3108960" y="4343400"/>
            <a:ext cx="2194560" cy="640080"/>
          </a:xfrm>
          <a:prstGeom prst="rect">
            <a:avLst/>
          </a:prstGeom>
          <a:noFill/>
          <a:ln/>
        </p:spPr>
        <p:txBody>
          <a:bodyPr wrap="square" lIns="0" tIns="0" rIns="0" bIns="0" rtlCol="0" anchor="t"/>
          <a:lstStyle/>
          <a:p>
            <a:pPr indent="0" marL="0">
              <a:buNone/>
            </a:pPr>
            <a:r>
              <a:rPr lang="en-US" sz="3000" b="1" dirty="0">
                <a:solidFill>
                  <a:srgbClr val="FFFFFF"/>
                </a:solidFill>
                <a:latin typeface="Arial" pitchFamily="34" charset="0"/>
                <a:ea typeface="Arial" pitchFamily="34" charset="-122"/>
                <a:cs typeface="Arial" pitchFamily="34" charset="-120"/>
              </a:rPr>
              <a:t>7</a:t>
            </a:r>
            <a:endParaRPr lang="en-US" sz="3000" dirty="0"/>
          </a:p>
        </p:txBody>
      </p:sp>
      <p:sp>
        <p:nvSpPr>
          <p:cNvPr id="11" name="Text 8"/>
          <p:cNvSpPr txBox="1"/>
          <p:nvPr/>
        </p:nvSpPr>
        <p:spPr>
          <a:xfrm>
            <a:off x="3108960" y="4983480"/>
            <a:ext cx="2194560" cy="365760"/>
          </a:xfrm>
          <a:prstGeom prst="rect">
            <a:avLst/>
          </a:prstGeom>
          <a:noFill/>
          <a:ln/>
        </p:spPr>
        <p:txBody>
          <a:bodyPr wrap="square" lIns="0" tIns="0" rIns="0" bIns="0" rtlCol="0" anchor="t"/>
          <a:lstStyle/>
          <a:p>
            <a:pPr indent="0" marL="0">
              <a:buNone/>
            </a:pPr>
            <a:r>
              <a:rPr lang="en-US" sz="1300" dirty="0">
                <a:solidFill>
                  <a:srgbClr val="CFD6DE"/>
                </a:solidFill>
                <a:latin typeface="Calibri" pitchFamily="34" charset="0"/>
                <a:ea typeface="Calibri" pitchFamily="34" charset="-122"/>
                <a:cs typeface="Calibri" pitchFamily="34" charset="-120"/>
              </a:rPr>
              <a:t>states</a:t>
            </a:r>
            <a:endParaRPr lang="en-US" sz="1300" dirty="0"/>
          </a:p>
        </p:txBody>
      </p:sp>
      <p:sp>
        <p:nvSpPr>
          <p:cNvPr id="12" name="Text 9"/>
          <p:cNvSpPr txBox="1"/>
          <p:nvPr/>
        </p:nvSpPr>
        <p:spPr>
          <a:xfrm>
            <a:off x="5486400" y="4343400"/>
            <a:ext cx="2194560" cy="640080"/>
          </a:xfrm>
          <a:prstGeom prst="rect">
            <a:avLst/>
          </a:prstGeom>
          <a:noFill/>
          <a:ln/>
        </p:spPr>
        <p:txBody>
          <a:bodyPr wrap="square" lIns="0" tIns="0" rIns="0" bIns="0" rtlCol="0" anchor="t"/>
          <a:lstStyle/>
          <a:p>
            <a:pPr indent="0" marL="0">
              <a:buNone/>
            </a:pPr>
            <a:r>
              <a:rPr lang="en-US" sz="3000" b="1" dirty="0">
                <a:solidFill>
                  <a:srgbClr val="FFFFFF"/>
                </a:solidFill>
                <a:latin typeface="Arial" pitchFamily="34" charset="0"/>
                <a:ea typeface="Arial" pitchFamily="34" charset="-122"/>
                <a:cs typeface="Arial" pitchFamily="34" charset="-120"/>
              </a:rPr>
              <a:t>6</a:t>
            </a:r>
            <a:endParaRPr lang="en-US" sz="3000" dirty="0"/>
          </a:p>
        </p:txBody>
      </p:sp>
      <p:sp>
        <p:nvSpPr>
          <p:cNvPr id="13" name="Text 10"/>
          <p:cNvSpPr txBox="1"/>
          <p:nvPr/>
        </p:nvSpPr>
        <p:spPr>
          <a:xfrm>
            <a:off x="5486400" y="4983480"/>
            <a:ext cx="2194560" cy="365760"/>
          </a:xfrm>
          <a:prstGeom prst="rect">
            <a:avLst/>
          </a:prstGeom>
          <a:noFill/>
          <a:ln/>
        </p:spPr>
        <p:txBody>
          <a:bodyPr wrap="square" lIns="0" tIns="0" rIns="0" bIns="0" rtlCol="0" anchor="t"/>
          <a:lstStyle/>
          <a:p>
            <a:pPr indent="0" marL="0">
              <a:buNone/>
            </a:pPr>
            <a:r>
              <a:rPr lang="en-US" sz="1300" dirty="0">
                <a:solidFill>
                  <a:srgbClr val="CFD6DE"/>
                </a:solidFill>
                <a:latin typeface="Calibri" pitchFamily="34" charset="0"/>
                <a:ea typeface="Calibri" pitchFamily="34" charset="-122"/>
                <a:cs typeface="Calibri" pitchFamily="34" charset="-120"/>
              </a:rPr>
              <a:t>years of inspections</a:t>
            </a:r>
            <a:endParaRPr lang="en-US" sz="1300" dirty="0"/>
          </a:p>
        </p:txBody>
      </p:sp>
      <p:sp>
        <p:nvSpPr>
          <p:cNvPr id="14" name="Text 11"/>
          <p:cNvSpPr txBox="1"/>
          <p:nvPr/>
        </p:nvSpPr>
        <p:spPr>
          <a:xfrm>
            <a:off x="7863840" y="4343400"/>
            <a:ext cx="2194560" cy="640080"/>
          </a:xfrm>
          <a:prstGeom prst="rect">
            <a:avLst/>
          </a:prstGeom>
          <a:noFill/>
          <a:ln/>
        </p:spPr>
        <p:txBody>
          <a:bodyPr wrap="square" lIns="0" tIns="0" rIns="0" bIns="0" rtlCol="0" anchor="t"/>
          <a:lstStyle/>
          <a:p>
            <a:pPr indent="0" marL="0">
              <a:buNone/>
            </a:pPr>
            <a:r>
              <a:rPr lang="en-US" sz="3000" b="1" dirty="0">
                <a:solidFill>
                  <a:srgbClr val="FFFFFF"/>
                </a:solidFill>
                <a:latin typeface="Arial" pitchFamily="34" charset="0"/>
                <a:ea typeface="Arial" pitchFamily="34" charset="-122"/>
                <a:cs typeface="Arial" pitchFamily="34" charset="-120"/>
              </a:rPr>
              <a:t>3</a:t>
            </a:r>
            <a:endParaRPr lang="en-US" sz="3000" dirty="0"/>
          </a:p>
        </p:txBody>
      </p:sp>
      <p:sp>
        <p:nvSpPr>
          <p:cNvPr id="15" name="Text 12"/>
          <p:cNvSpPr txBox="1"/>
          <p:nvPr/>
        </p:nvSpPr>
        <p:spPr>
          <a:xfrm>
            <a:off x="7863840" y="4983480"/>
            <a:ext cx="2194560" cy="365760"/>
          </a:xfrm>
          <a:prstGeom prst="rect">
            <a:avLst/>
          </a:prstGeom>
          <a:noFill/>
          <a:ln/>
        </p:spPr>
        <p:txBody>
          <a:bodyPr wrap="square" lIns="0" tIns="0" rIns="0" bIns="0" rtlCol="0" anchor="t"/>
          <a:lstStyle/>
          <a:p>
            <a:pPr indent="0" marL="0">
              <a:buNone/>
            </a:pPr>
            <a:r>
              <a:rPr lang="en-US" sz="1300" dirty="0">
                <a:solidFill>
                  <a:srgbClr val="CFD6DE"/>
                </a:solidFill>
                <a:latin typeface="Calibri" pitchFamily="34" charset="0"/>
                <a:ea typeface="Calibri" pitchFamily="34" charset="-122"/>
                <a:cs typeface="Calibri" pitchFamily="34" charset="-120"/>
              </a:rPr>
              <a:t>data sources</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320040"/>
          </a:xfrm>
          <a:prstGeom prst="rect">
            <a:avLst/>
          </a:prstGeom>
          <a:noFill/>
          <a:ln/>
        </p:spPr>
        <p:txBody>
          <a:bodyPr wrap="square" lIns="0" tIns="0" rIns="0" bIns="0" rtlCol="0" anchor="ctr"/>
          <a:lstStyle/>
          <a:p>
            <a:pPr indent="0" marL="0">
              <a:buNone/>
            </a:pPr>
            <a:r>
              <a:rPr lang="en-US" sz="1200" b="1" spc="200" kern="0" dirty="0">
                <a:solidFill>
                  <a:srgbClr val="E8702A"/>
                </a:solidFill>
                <a:latin typeface="Arial" pitchFamily="34" charset="0"/>
                <a:ea typeface="Arial" pitchFamily="34" charset="-122"/>
                <a:cs typeface="Arial" pitchFamily="34" charset="-120"/>
              </a:rPr>
              <a:t>THE PROBLEM</a:t>
            </a:r>
            <a:endParaRPr lang="en-US" sz="1200" dirty="0"/>
          </a:p>
        </p:txBody>
      </p:sp>
      <p:sp>
        <p:nvSpPr>
          <p:cNvPr id="3" name="Text 1"/>
          <p:cNvSpPr txBox="1"/>
          <p:nvPr/>
        </p:nvSpPr>
        <p:spPr>
          <a:xfrm>
            <a:off x="548640" y="640080"/>
            <a:ext cx="11064240" cy="685800"/>
          </a:xfrm>
          <a:prstGeom prst="rect">
            <a:avLst/>
          </a:prstGeom>
          <a:noFill/>
          <a:ln/>
        </p:spPr>
        <p:txBody>
          <a:bodyPr wrap="square" lIns="0" tIns="0" rIns="0" bIns="0" rtlCol="0" anchor="ctr"/>
          <a:lstStyle/>
          <a:p>
            <a:pPr indent="0" marL="0">
              <a:buNone/>
            </a:pPr>
            <a:r>
              <a:rPr lang="en-US" sz="3000" b="1" dirty="0">
                <a:solidFill>
                  <a:srgbClr val="1B2838"/>
                </a:solidFill>
                <a:latin typeface="Arial" pitchFamily="34" charset="0"/>
                <a:ea typeface="Arial" pitchFamily="34" charset="-122"/>
                <a:cs typeface="Arial" pitchFamily="34" charset="-120"/>
              </a:rPr>
              <a:t>Why predict bridge deterioration?</a:t>
            </a:r>
            <a:endParaRPr lang="en-US" sz="3000" dirty="0"/>
          </a:p>
        </p:txBody>
      </p:sp>
      <p:sp>
        <p:nvSpPr>
          <p:cNvPr id="4" name="Text 2"/>
          <p:cNvSpPr txBox="1"/>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rgbClr val="5B6B7A"/>
                </a:solidFill>
                <a:latin typeface="Calibri" pitchFamily="34" charset="0"/>
                <a:ea typeface="Calibri" pitchFamily="34" charset="-122"/>
                <a:cs typeface="Calibri" pitchFamily="34" charset="-120"/>
              </a:rPr>
              <a:t>BridgeWatch AI  ·  UMBC DATA 606</a:t>
            </a:r>
            <a:endParaRPr lang="en-US" sz="1000" dirty="0"/>
          </a:p>
        </p:txBody>
      </p:sp>
      <p:sp>
        <p:nvSpPr>
          <p:cNvPr id="5" name="Text 3"/>
          <p:cNvSpPr txBox="1"/>
          <p:nvPr/>
        </p:nvSpPr>
        <p:spPr>
          <a:xfrm>
            <a:off x="10725912" y="6400800"/>
            <a:ext cx="914400" cy="274320"/>
          </a:xfrm>
          <a:prstGeom prst="rect">
            <a:avLst/>
          </a:prstGeom>
          <a:noFill/>
          <a:ln/>
        </p:spPr>
        <p:txBody>
          <a:bodyPr wrap="square" lIns="0" tIns="0" rIns="0" bIns="0" rtlCol="0" anchor="ctr"/>
          <a:lstStyle/>
          <a:p>
            <a:pPr algn="r" indent="0" marL="0">
              <a:buNone/>
            </a:pPr>
            <a:r>
              <a:rPr lang="en-US" sz="1000" dirty="0">
                <a:solidFill>
                  <a:srgbClr val="5B6B7A"/>
                </a:solidFill>
                <a:latin typeface="Calibri" pitchFamily="34" charset="0"/>
                <a:ea typeface="Calibri" pitchFamily="34" charset="-122"/>
                <a:cs typeface="Calibri" pitchFamily="34" charset="-120"/>
              </a:rPr>
              <a:t>2</a:t>
            </a:r>
            <a:endParaRPr lang="en-US" sz="1000" dirty="0"/>
          </a:p>
        </p:txBody>
      </p:sp>
      <p:sp>
        <p:nvSpPr>
          <p:cNvPr id="6" name="Text 4"/>
          <p:cNvSpPr txBox="1"/>
          <p:nvPr/>
        </p:nvSpPr>
        <p:spPr>
          <a:xfrm>
            <a:off x="548640" y="1600200"/>
            <a:ext cx="4754880" cy="1463040"/>
          </a:xfrm>
          <a:prstGeom prst="rect">
            <a:avLst/>
          </a:prstGeom>
          <a:noFill/>
          <a:ln/>
        </p:spPr>
        <p:txBody>
          <a:bodyPr wrap="square" lIns="0" tIns="0" rIns="0" bIns="0" rtlCol="0" anchor="t"/>
          <a:lstStyle/>
          <a:p>
            <a:pPr indent="0" marL="0">
              <a:buNone/>
            </a:pPr>
            <a:r>
              <a:rPr lang="en-US" sz="1600" dirty="0">
                <a:solidFill>
                  <a:srgbClr val="1B2838"/>
                </a:solidFill>
                <a:latin typeface="Calibri" pitchFamily="34" charset="0"/>
                <a:ea typeface="Calibri" pitchFamily="34" charset="-122"/>
                <a:cs typeface="Calibri" pitchFamily="34" charset="-120"/>
              </a:rPr>
              <a:t>Every U.S. highway bridge is inspected every 12 to 24 months, and the results go to FHWA's National Bridge Inventory. Budgets are limited, so states cannot fix or re-inspect every bridge every year.</a:t>
            </a:r>
            <a:endParaRPr lang="en-US" sz="1600" dirty="0"/>
          </a:p>
        </p:txBody>
      </p:sp>
      <p:sp>
        <p:nvSpPr>
          <p:cNvPr id="7" name="Text 5"/>
          <p:cNvSpPr txBox="1"/>
          <p:nvPr/>
        </p:nvSpPr>
        <p:spPr>
          <a:xfrm>
            <a:off x="548640" y="3154680"/>
            <a:ext cx="4754880" cy="1280160"/>
          </a:xfrm>
          <a:prstGeom prst="rect">
            <a:avLst/>
          </a:prstGeom>
          <a:noFill/>
          <a:ln/>
        </p:spPr>
        <p:txBody>
          <a:bodyPr wrap="square" lIns="0" tIns="0" rIns="0" bIns="0" rtlCol="0" anchor="t"/>
          <a:lstStyle/>
          <a:p>
            <a:pPr indent="0" marL="0">
              <a:buNone/>
            </a:pPr>
            <a:r>
              <a:rPr lang="en-US" sz="1600" dirty="0">
                <a:solidFill>
                  <a:srgbClr val="1B2838"/>
                </a:solidFill>
                <a:latin typeface="Calibri" pitchFamily="34" charset="0"/>
                <a:ea typeface="Calibri" pitchFamily="34" charset="-122"/>
                <a:cs typeface="Calibri" pitchFamily="34" charset="-120"/>
              </a:rPr>
              <a:t>A model that flags bridges likely to decline before the next inspection helps planners focus limited inspection and repair resources where they are needed most.</a:t>
            </a:r>
            <a:endParaRPr lang="en-US" sz="1600" dirty="0"/>
          </a:p>
        </p:txBody>
      </p:sp>
      <p:sp>
        <p:nvSpPr>
          <p:cNvPr id="8" name="Shape 6"/>
          <p:cNvSpPr/>
          <p:nvPr/>
        </p:nvSpPr>
        <p:spPr>
          <a:xfrm>
            <a:off x="5852160" y="1600200"/>
            <a:ext cx="502920" cy="502920"/>
          </a:xfrm>
          <a:prstGeom prst="ellipse">
            <a:avLst/>
          </a:prstGeom>
          <a:solidFill>
            <a:srgbClr val="E8702A"/>
          </a:solidFill>
          <a:ln w="12700">
            <a:solidFill>
              <a:srgbClr val="E8702A"/>
            </a:solidFill>
            <a:prstDash val="solid"/>
          </a:ln>
        </p:spPr>
      </p:sp>
      <p:sp>
        <p:nvSpPr>
          <p:cNvPr id="9" name="Text 7"/>
          <p:cNvSpPr txBox="1"/>
          <p:nvPr/>
        </p:nvSpPr>
        <p:spPr>
          <a:xfrm>
            <a:off x="5852160" y="1664208"/>
            <a:ext cx="502920"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1</a:t>
            </a:r>
            <a:endParaRPr lang="en-US" sz="1800" dirty="0"/>
          </a:p>
        </p:txBody>
      </p:sp>
      <p:sp>
        <p:nvSpPr>
          <p:cNvPr id="10" name="Text 8"/>
          <p:cNvSpPr txBox="1"/>
          <p:nvPr/>
        </p:nvSpPr>
        <p:spPr>
          <a:xfrm>
            <a:off x="6537960" y="1581912"/>
            <a:ext cx="5120640" cy="365760"/>
          </a:xfrm>
          <a:prstGeom prst="rect">
            <a:avLst/>
          </a:prstGeom>
          <a:noFill/>
          <a:ln/>
        </p:spPr>
        <p:txBody>
          <a:bodyPr wrap="square" lIns="0" tIns="0" rIns="0" bIns="0" rtlCol="0" anchor="t"/>
          <a:lstStyle/>
          <a:p>
            <a:pPr indent="0" marL="0">
              <a:buNone/>
            </a:pPr>
            <a:r>
              <a:rPr lang="en-US" sz="1700" b="1" dirty="0">
                <a:solidFill>
                  <a:srgbClr val="1B2838"/>
                </a:solidFill>
                <a:latin typeface="Arial" pitchFamily="34" charset="0"/>
                <a:ea typeface="Arial" pitchFamily="34" charset="-122"/>
                <a:cs typeface="Arial" pitchFamily="34" charset="-120"/>
              </a:rPr>
              <a:t>Can we predict it?</a:t>
            </a:r>
            <a:endParaRPr lang="en-US" sz="1700" dirty="0"/>
          </a:p>
        </p:txBody>
      </p:sp>
      <p:sp>
        <p:nvSpPr>
          <p:cNvPr id="11" name="Text 9"/>
          <p:cNvSpPr txBox="1"/>
          <p:nvPr/>
        </p:nvSpPr>
        <p:spPr>
          <a:xfrm>
            <a:off x="6537960" y="1947672"/>
            <a:ext cx="5120640" cy="640080"/>
          </a:xfrm>
          <a:prstGeom prst="rect">
            <a:avLst/>
          </a:prstGeom>
          <a:noFill/>
          <a:ln/>
        </p:spPr>
        <p:txBody>
          <a:bodyPr wrap="square" lIns="0" tIns="0" rIns="0" bIns="0" rtlCol="0" anchor="t"/>
          <a:lstStyle/>
          <a:p>
            <a:pPr indent="0" marL="0">
              <a:buNone/>
            </a:pPr>
            <a:r>
              <a:rPr lang="en-US" sz="1400" dirty="0">
                <a:solidFill>
                  <a:srgbClr val="5B6B7A"/>
                </a:solidFill>
                <a:latin typeface="Calibri" pitchFamily="34" charset="0"/>
                <a:ea typeface="Calibri" pitchFamily="34" charset="-122"/>
                <a:cs typeface="Calibri" pitchFamily="34" charset="-120"/>
              </a:rPr>
              <a:t>Will a bridge's rating drop by its next inspection, using only what is known today?</a:t>
            </a:r>
            <a:endParaRPr lang="en-US" sz="1400" dirty="0"/>
          </a:p>
        </p:txBody>
      </p:sp>
      <p:sp>
        <p:nvSpPr>
          <p:cNvPr id="12" name="Shape 10"/>
          <p:cNvSpPr/>
          <p:nvPr/>
        </p:nvSpPr>
        <p:spPr>
          <a:xfrm>
            <a:off x="5852160" y="2715768"/>
            <a:ext cx="502920" cy="502920"/>
          </a:xfrm>
          <a:prstGeom prst="ellipse">
            <a:avLst/>
          </a:prstGeom>
          <a:solidFill>
            <a:srgbClr val="E8702A"/>
          </a:solidFill>
          <a:ln w="12700">
            <a:solidFill>
              <a:srgbClr val="E8702A"/>
            </a:solidFill>
            <a:prstDash val="solid"/>
          </a:ln>
        </p:spPr>
      </p:sp>
      <p:sp>
        <p:nvSpPr>
          <p:cNvPr id="13" name="Text 11"/>
          <p:cNvSpPr txBox="1"/>
          <p:nvPr/>
        </p:nvSpPr>
        <p:spPr>
          <a:xfrm>
            <a:off x="5852160" y="2779776"/>
            <a:ext cx="502920"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2</a:t>
            </a:r>
            <a:endParaRPr lang="en-US" sz="1800" dirty="0"/>
          </a:p>
        </p:txBody>
      </p:sp>
      <p:sp>
        <p:nvSpPr>
          <p:cNvPr id="14" name="Text 12"/>
          <p:cNvSpPr txBox="1"/>
          <p:nvPr/>
        </p:nvSpPr>
        <p:spPr>
          <a:xfrm>
            <a:off x="6537960" y="2697480"/>
            <a:ext cx="5120640" cy="365760"/>
          </a:xfrm>
          <a:prstGeom prst="rect">
            <a:avLst/>
          </a:prstGeom>
          <a:noFill/>
          <a:ln/>
        </p:spPr>
        <p:txBody>
          <a:bodyPr wrap="square" lIns="0" tIns="0" rIns="0" bIns="0" rtlCol="0" anchor="t"/>
          <a:lstStyle/>
          <a:p>
            <a:pPr indent="0" marL="0">
              <a:buNone/>
            </a:pPr>
            <a:r>
              <a:rPr lang="en-US" sz="1700" b="1" dirty="0">
                <a:solidFill>
                  <a:srgbClr val="1B2838"/>
                </a:solidFill>
                <a:latin typeface="Arial" pitchFamily="34" charset="0"/>
                <a:ea typeface="Arial" pitchFamily="34" charset="-122"/>
                <a:cs typeface="Arial" pitchFamily="34" charset="-120"/>
              </a:rPr>
              <a:t>What drives it?</a:t>
            </a:r>
            <a:endParaRPr lang="en-US" sz="1700" dirty="0"/>
          </a:p>
        </p:txBody>
      </p:sp>
      <p:sp>
        <p:nvSpPr>
          <p:cNvPr id="15" name="Text 13"/>
          <p:cNvSpPr txBox="1"/>
          <p:nvPr/>
        </p:nvSpPr>
        <p:spPr>
          <a:xfrm>
            <a:off x="6537960" y="3063240"/>
            <a:ext cx="5120640" cy="640080"/>
          </a:xfrm>
          <a:prstGeom prst="rect">
            <a:avLst/>
          </a:prstGeom>
          <a:noFill/>
          <a:ln/>
        </p:spPr>
        <p:txBody>
          <a:bodyPr wrap="square" lIns="0" tIns="0" rIns="0" bIns="0" rtlCol="0" anchor="t"/>
          <a:lstStyle/>
          <a:p>
            <a:pPr indent="0" marL="0">
              <a:buNone/>
            </a:pPr>
            <a:r>
              <a:rPr lang="en-US" sz="1400" dirty="0">
                <a:solidFill>
                  <a:srgbClr val="5B6B7A"/>
                </a:solidFill>
                <a:latin typeface="Calibri" pitchFamily="34" charset="0"/>
                <a:ea typeface="Calibri" pitchFamily="34" charset="-122"/>
                <a:cs typeface="Calibri" pitchFamily="34" charset="-120"/>
              </a:rPr>
              <a:t>Which factors matter most: age, traffic, material, scour risk, condition?</a:t>
            </a:r>
            <a:endParaRPr lang="en-US" sz="1400" dirty="0"/>
          </a:p>
        </p:txBody>
      </p:sp>
      <p:sp>
        <p:nvSpPr>
          <p:cNvPr id="16" name="Shape 14"/>
          <p:cNvSpPr/>
          <p:nvPr/>
        </p:nvSpPr>
        <p:spPr>
          <a:xfrm>
            <a:off x="5852160" y="3831336"/>
            <a:ext cx="502920" cy="502920"/>
          </a:xfrm>
          <a:prstGeom prst="ellipse">
            <a:avLst/>
          </a:prstGeom>
          <a:solidFill>
            <a:srgbClr val="E8702A"/>
          </a:solidFill>
          <a:ln w="12700">
            <a:solidFill>
              <a:srgbClr val="E8702A"/>
            </a:solidFill>
            <a:prstDash val="solid"/>
          </a:ln>
        </p:spPr>
      </p:sp>
      <p:sp>
        <p:nvSpPr>
          <p:cNvPr id="17" name="Text 15"/>
          <p:cNvSpPr txBox="1"/>
          <p:nvPr/>
        </p:nvSpPr>
        <p:spPr>
          <a:xfrm>
            <a:off x="5852160" y="3895344"/>
            <a:ext cx="502920"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3</a:t>
            </a:r>
            <a:endParaRPr lang="en-US" sz="1800" dirty="0"/>
          </a:p>
        </p:txBody>
      </p:sp>
      <p:sp>
        <p:nvSpPr>
          <p:cNvPr id="18" name="Text 16"/>
          <p:cNvSpPr txBox="1"/>
          <p:nvPr/>
        </p:nvSpPr>
        <p:spPr>
          <a:xfrm>
            <a:off x="6537960" y="3813048"/>
            <a:ext cx="5120640" cy="365760"/>
          </a:xfrm>
          <a:prstGeom prst="rect">
            <a:avLst/>
          </a:prstGeom>
          <a:noFill/>
          <a:ln/>
        </p:spPr>
        <p:txBody>
          <a:bodyPr wrap="square" lIns="0" tIns="0" rIns="0" bIns="0" rtlCol="0" anchor="t"/>
          <a:lstStyle/>
          <a:p>
            <a:pPr indent="0" marL="0">
              <a:buNone/>
            </a:pPr>
            <a:r>
              <a:rPr lang="en-US" sz="1700" b="1" dirty="0">
                <a:solidFill>
                  <a:srgbClr val="1B2838"/>
                </a:solidFill>
                <a:latin typeface="Arial" pitchFamily="34" charset="0"/>
                <a:ea typeface="Arial" pitchFamily="34" charset="-122"/>
                <a:cs typeface="Arial" pitchFamily="34" charset="-120"/>
              </a:rPr>
              <a:t>Does climate matter?</a:t>
            </a:r>
            <a:endParaRPr lang="en-US" sz="1700" dirty="0"/>
          </a:p>
        </p:txBody>
      </p:sp>
      <p:sp>
        <p:nvSpPr>
          <p:cNvPr id="19" name="Text 17"/>
          <p:cNvSpPr txBox="1"/>
          <p:nvPr/>
        </p:nvSpPr>
        <p:spPr>
          <a:xfrm>
            <a:off x="6537960" y="4178808"/>
            <a:ext cx="5120640" cy="640080"/>
          </a:xfrm>
          <a:prstGeom prst="rect">
            <a:avLst/>
          </a:prstGeom>
          <a:noFill/>
          <a:ln/>
        </p:spPr>
        <p:txBody>
          <a:bodyPr wrap="square" lIns="0" tIns="0" rIns="0" bIns="0" rtlCol="0" anchor="t"/>
          <a:lstStyle/>
          <a:p>
            <a:pPr indent="0" marL="0">
              <a:buNone/>
            </a:pPr>
            <a:r>
              <a:rPr lang="en-US" sz="1400" dirty="0">
                <a:solidFill>
                  <a:srgbClr val="5B6B7A"/>
                </a:solidFill>
                <a:latin typeface="Calibri" pitchFamily="34" charset="0"/>
                <a:ea typeface="Calibri" pitchFamily="34" charset="-122"/>
                <a:cs typeface="Calibri" pitchFamily="34" charset="-120"/>
              </a:rPr>
              <a:t>Do weather conditions add information beyond the bridge's own attributes?</a:t>
            </a:r>
            <a:endParaRPr lang="en-US" sz="1400" dirty="0"/>
          </a:p>
        </p:txBody>
      </p:sp>
      <p:sp>
        <p:nvSpPr>
          <p:cNvPr id="20" name="Shape 18"/>
          <p:cNvSpPr/>
          <p:nvPr/>
        </p:nvSpPr>
        <p:spPr>
          <a:xfrm>
            <a:off x="5852160" y="4946904"/>
            <a:ext cx="502920" cy="502920"/>
          </a:xfrm>
          <a:prstGeom prst="ellipse">
            <a:avLst/>
          </a:prstGeom>
          <a:solidFill>
            <a:srgbClr val="E8702A"/>
          </a:solidFill>
          <a:ln w="12700">
            <a:solidFill>
              <a:srgbClr val="E8702A"/>
            </a:solidFill>
            <a:prstDash val="solid"/>
          </a:ln>
        </p:spPr>
      </p:sp>
      <p:sp>
        <p:nvSpPr>
          <p:cNvPr id="21" name="Text 19"/>
          <p:cNvSpPr txBox="1"/>
          <p:nvPr/>
        </p:nvSpPr>
        <p:spPr>
          <a:xfrm>
            <a:off x="5852160" y="5010912"/>
            <a:ext cx="502920"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4</a:t>
            </a:r>
            <a:endParaRPr lang="en-US" sz="1800" dirty="0"/>
          </a:p>
        </p:txBody>
      </p:sp>
      <p:sp>
        <p:nvSpPr>
          <p:cNvPr id="22" name="Text 20"/>
          <p:cNvSpPr txBox="1"/>
          <p:nvPr/>
        </p:nvSpPr>
        <p:spPr>
          <a:xfrm>
            <a:off x="6537960" y="4928616"/>
            <a:ext cx="5120640" cy="365760"/>
          </a:xfrm>
          <a:prstGeom prst="rect">
            <a:avLst/>
          </a:prstGeom>
          <a:noFill/>
          <a:ln/>
        </p:spPr>
        <p:txBody>
          <a:bodyPr wrap="square" lIns="0" tIns="0" rIns="0" bIns="0" rtlCol="0" anchor="t"/>
          <a:lstStyle/>
          <a:p>
            <a:pPr indent="0" marL="0">
              <a:buNone/>
            </a:pPr>
            <a:r>
              <a:rPr lang="en-US" sz="1700" b="1" dirty="0">
                <a:solidFill>
                  <a:srgbClr val="1B2838"/>
                </a:solidFill>
                <a:latin typeface="Arial" pitchFamily="34" charset="0"/>
                <a:ea typeface="Arial" pitchFamily="34" charset="-122"/>
                <a:cs typeface="Arial" pitchFamily="34" charset="-120"/>
              </a:rPr>
              <a:t>Does spending matter?</a:t>
            </a:r>
            <a:endParaRPr lang="en-US" sz="1700" dirty="0"/>
          </a:p>
        </p:txBody>
      </p:sp>
      <p:sp>
        <p:nvSpPr>
          <p:cNvPr id="23" name="Text 21"/>
          <p:cNvSpPr txBox="1"/>
          <p:nvPr/>
        </p:nvSpPr>
        <p:spPr>
          <a:xfrm>
            <a:off x="6537960" y="5294376"/>
            <a:ext cx="5120640" cy="640080"/>
          </a:xfrm>
          <a:prstGeom prst="rect">
            <a:avLst/>
          </a:prstGeom>
          <a:noFill/>
          <a:ln/>
        </p:spPr>
        <p:txBody>
          <a:bodyPr wrap="square" lIns="0" tIns="0" rIns="0" bIns="0" rtlCol="0" anchor="t"/>
          <a:lstStyle/>
          <a:p>
            <a:pPr indent="0" marL="0">
              <a:buNone/>
            </a:pPr>
            <a:r>
              <a:rPr lang="en-US" sz="1400" dirty="0">
                <a:solidFill>
                  <a:srgbClr val="5B6B7A"/>
                </a:solidFill>
                <a:latin typeface="Calibri" pitchFamily="34" charset="0"/>
                <a:ea typeface="Calibri" pitchFamily="34" charset="-122"/>
                <a:cs typeface="Calibri" pitchFamily="34" charset="-120"/>
              </a:rPr>
              <a:t>Is a state's bridge repair spending related to how fast its bridges decline?</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320040"/>
          </a:xfrm>
          <a:prstGeom prst="rect">
            <a:avLst/>
          </a:prstGeom>
          <a:noFill/>
          <a:ln/>
        </p:spPr>
        <p:txBody>
          <a:bodyPr wrap="square" lIns="0" tIns="0" rIns="0" bIns="0" rtlCol="0" anchor="ctr"/>
          <a:lstStyle/>
          <a:p>
            <a:pPr indent="0" marL="0">
              <a:buNone/>
            </a:pPr>
            <a:r>
              <a:rPr lang="en-US" sz="1200" b="1" spc="200" kern="0" dirty="0">
                <a:solidFill>
                  <a:srgbClr val="E8702A"/>
                </a:solidFill>
                <a:latin typeface="Arial" pitchFamily="34" charset="0"/>
                <a:ea typeface="Arial" pitchFamily="34" charset="-122"/>
                <a:cs typeface="Arial" pitchFamily="34" charset="-120"/>
              </a:rPr>
              <a:t>DATA SELECTION</a:t>
            </a:r>
            <a:endParaRPr lang="en-US" sz="1200" dirty="0"/>
          </a:p>
        </p:txBody>
      </p:sp>
      <p:sp>
        <p:nvSpPr>
          <p:cNvPr id="3" name="Text 1"/>
          <p:cNvSpPr txBox="1"/>
          <p:nvPr/>
        </p:nvSpPr>
        <p:spPr>
          <a:xfrm>
            <a:off x="548640" y="640080"/>
            <a:ext cx="11064240" cy="685800"/>
          </a:xfrm>
          <a:prstGeom prst="rect">
            <a:avLst/>
          </a:prstGeom>
          <a:noFill/>
          <a:ln/>
        </p:spPr>
        <p:txBody>
          <a:bodyPr wrap="square" lIns="0" tIns="0" rIns="0" bIns="0" rtlCol="0" anchor="ctr"/>
          <a:lstStyle/>
          <a:p>
            <a:pPr indent="0" marL="0">
              <a:buNone/>
            </a:pPr>
            <a:r>
              <a:rPr lang="en-US" sz="3000" b="1" dirty="0">
                <a:solidFill>
                  <a:srgbClr val="1B2838"/>
                </a:solidFill>
                <a:latin typeface="Arial" pitchFamily="34" charset="0"/>
                <a:ea typeface="Arial" pitchFamily="34" charset="-122"/>
                <a:cs typeface="Arial" pitchFamily="34" charset="-120"/>
              </a:rPr>
              <a:t>Three public data sources</a:t>
            </a:r>
            <a:endParaRPr lang="en-US" sz="3000" dirty="0"/>
          </a:p>
        </p:txBody>
      </p:sp>
      <p:sp>
        <p:nvSpPr>
          <p:cNvPr id="4" name="Text 2"/>
          <p:cNvSpPr txBox="1"/>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rgbClr val="5B6B7A"/>
                </a:solidFill>
                <a:latin typeface="Calibri" pitchFamily="34" charset="0"/>
                <a:ea typeface="Calibri" pitchFamily="34" charset="-122"/>
                <a:cs typeface="Calibri" pitchFamily="34" charset="-120"/>
              </a:rPr>
              <a:t>BridgeWatch AI  ·  UMBC DATA 606</a:t>
            </a:r>
            <a:endParaRPr lang="en-US" sz="1000" dirty="0"/>
          </a:p>
        </p:txBody>
      </p:sp>
      <p:sp>
        <p:nvSpPr>
          <p:cNvPr id="5" name="Text 3"/>
          <p:cNvSpPr txBox="1"/>
          <p:nvPr/>
        </p:nvSpPr>
        <p:spPr>
          <a:xfrm>
            <a:off x="10725912" y="6400800"/>
            <a:ext cx="914400" cy="274320"/>
          </a:xfrm>
          <a:prstGeom prst="rect">
            <a:avLst/>
          </a:prstGeom>
          <a:noFill/>
          <a:ln/>
        </p:spPr>
        <p:txBody>
          <a:bodyPr wrap="square" lIns="0" tIns="0" rIns="0" bIns="0" rtlCol="0" anchor="ctr"/>
          <a:lstStyle/>
          <a:p>
            <a:pPr algn="r" indent="0" marL="0">
              <a:buNone/>
            </a:pPr>
            <a:r>
              <a:rPr lang="en-US" sz="1000" dirty="0">
                <a:solidFill>
                  <a:srgbClr val="5B6B7A"/>
                </a:solidFill>
                <a:latin typeface="Calibri" pitchFamily="34" charset="0"/>
                <a:ea typeface="Calibri" pitchFamily="34" charset="-122"/>
                <a:cs typeface="Calibri" pitchFamily="34" charset="-120"/>
              </a:rPr>
              <a:t>3</a:t>
            </a:r>
            <a:endParaRPr lang="en-US" sz="1000" dirty="0"/>
          </a:p>
        </p:txBody>
      </p:sp>
      <p:sp>
        <p:nvSpPr>
          <p:cNvPr id="6" name="Shape 4"/>
          <p:cNvSpPr/>
          <p:nvPr/>
        </p:nvSpPr>
        <p:spPr>
          <a:xfrm>
            <a:off x="548640" y="1600200"/>
            <a:ext cx="3520440" cy="4480560"/>
          </a:xfrm>
          <a:prstGeom prst="roundRect">
            <a:avLst>
              <a:gd name="adj" fmla="val 2078"/>
            </a:avLst>
          </a:prstGeom>
          <a:solidFill>
            <a:srgbClr val="EEF1F4"/>
          </a:solidFill>
          <a:ln w="12700">
            <a:solidFill>
              <a:srgbClr val="EEF1F4"/>
            </a:solidFill>
            <a:prstDash val="solid"/>
          </a:ln>
        </p:spPr>
      </p:sp>
      <p:sp>
        <p:nvSpPr>
          <p:cNvPr id="7" name="Shape 5"/>
          <p:cNvSpPr/>
          <p:nvPr/>
        </p:nvSpPr>
        <p:spPr>
          <a:xfrm>
            <a:off x="822960" y="1828800"/>
            <a:ext cx="640080" cy="640080"/>
          </a:xfrm>
          <a:prstGeom prst="ellipse">
            <a:avLst/>
          </a:prstGeom>
          <a:solidFill>
            <a:srgbClr val="E8702A"/>
          </a:solidFill>
          <a:ln w="12700">
            <a:solidFill>
              <a:srgbClr val="E8702A"/>
            </a:solidFill>
            <a:prstDash val="solid"/>
          </a:ln>
        </p:spPr>
      </p:sp>
      <p:pic>
        <p:nvPicPr>
          <p:cNvPr id="8" name="Image 0" descr="preencoded.png">    </p:cNvPr>
          <p:cNvPicPr>
            <a:picLocks noChangeAspect="1"/>
          </p:cNvPicPr>
          <p:nvPr/>
        </p:nvPicPr>
        <p:blipFill>
          <a:blip r:embed="rId1"/>
          <a:stretch>
            <a:fillRect/>
          </a:stretch>
        </p:blipFill>
        <p:spPr>
          <a:xfrm>
            <a:off x="982980" y="1988820"/>
            <a:ext cx="320040" cy="320040"/>
          </a:xfrm>
          <a:prstGeom prst="rect">
            <a:avLst/>
          </a:prstGeom>
        </p:spPr>
      </p:pic>
      <p:sp>
        <p:nvSpPr>
          <p:cNvPr id="9" name="Text 6"/>
          <p:cNvSpPr txBox="1"/>
          <p:nvPr/>
        </p:nvSpPr>
        <p:spPr>
          <a:xfrm>
            <a:off x="822960" y="2606040"/>
            <a:ext cx="3017520" cy="411480"/>
          </a:xfrm>
          <a:prstGeom prst="rect">
            <a:avLst/>
          </a:prstGeom>
          <a:noFill/>
          <a:ln/>
        </p:spPr>
        <p:txBody>
          <a:bodyPr wrap="square" lIns="0" tIns="0" rIns="0" bIns="0" rtlCol="0" anchor="t"/>
          <a:lstStyle/>
          <a:p>
            <a:pPr indent="0" marL="0">
              <a:buNone/>
            </a:pPr>
            <a:r>
              <a:rPr lang="en-US" sz="1900" b="1" dirty="0">
                <a:solidFill>
                  <a:srgbClr val="1B2838"/>
                </a:solidFill>
                <a:latin typeface="Arial" pitchFamily="34" charset="0"/>
                <a:ea typeface="Arial" pitchFamily="34" charset="-122"/>
                <a:cs typeface="Arial" pitchFamily="34" charset="-120"/>
              </a:rPr>
              <a:t>Bridge inspections</a:t>
            </a:r>
            <a:endParaRPr lang="en-US" sz="1900" dirty="0"/>
          </a:p>
        </p:txBody>
      </p:sp>
      <p:sp>
        <p:nvSpPr>
          <p:cNvPr id="10" name="Text 7"/>
          <p:cNvSpPr txBox="1"/>
          <p:nvPr/>
        </p:nvSpPr>
        <p:spPr>
          <a:xfrm>
            <a:off x="822960" y="3017520"/>
            <a:ext cx="3017520" cy="502920"/>
          </a:xfrm>
          <a:prstGeom prst="rect">
            <a:avLst/>
          </a:prstGeom>
          <a:noFill/>
          <a:ln/>
        </p:spPr>
        <p:txBody>
          <a:bodyPr wrap="square" lIns="0" tIns="0" rIns="0" bIns="0" rtlCol="0" anchor="t"/>
          <a:lstStyle/>
          <a:p>
            <a:pPr indent="0" marL="0">
              <a:buNone/>
            </a:pPr>
            <a:r>
              <a:rPr lang="en-US" sz="1300" i="1" dirty="0">
                <a:solidFill>
                  <a:srgbClr val="5B6B7A"/>
                </a:solidFill>
                <a:latin typeface="Calibri" pitchFamily="34" charset="0"/>
                <a:ea typeface="Calibri" pitchFamily="34" charset="-122"/>
                <a:cs typeface="Calibri" pitchFamily="34" charset="-120"/>
              </a:rPr>
              <a:t>FHWA National Bridge Inventory</a:t>
            </a:r>
            <a:endParaRPr lang="en-US" sz="1300" dirty="0"/>
          </a:p>
        </p:txBody>
      </p:sp>
      <p:sp>
        <p:nvSpPr>
          <p:cNvPr id="11" name="Text 8"/>
          <p:cNvSpPr txBox="1"/>
          <p:nvPr/>
        </p:nvSpPr>
        <p:spPr>
          <a:xfrm>
            <a:off x="822960" y="3611880"/>
            <a:ext cx="3017520" cy="2377440"/>
          </a:xfrm>
          <a:prstGeom prst="rect">
            <a:avLst/>
          </a:prstGeom>
          <a:noFill/>
          <a:ln/>
        </p:spPr>
        <p:txBody>
          <a:bodyPr wrap="square" lIns="0" tIns="0" rIns="0" bIns="0" rtlCol="0" anchor="t"/>
          <a:lstStyle/>
          <a:p>
            <a:pPr marL="203200" indent="-203200">
              <a:spcAft>
                <a:spcPts val="600"/>
              </a:spcAft>
              <a:buSzPct val="100000"/>
              <a:buChar char="•"/>
            </a:pPr>
            <a:r>
              <a:rPr lang="en-US" sz="1400" dirty="0">
                <a:solidFill>
                  <a:srgbClr val="1B2838"/>
                </a:solidFill>
                <a:latin typeface="Calibri" pitchFamily="34" charset="0"/>
                <a:ea typeface="Calibri" pitchFamily="34" charset="-122"/>
                <a:cs typeface="Calibri" pitchFamily="34" charset="-120"/>
              </a:rPr>
              <a:t>42 files: 7 states × 6 years (2020 to 2025)</a:t>
            </a:r>
            <a:endParaRPr lang="en-US" sz="1400" dirty="0"/>
          </a:p>
          <a:p>
            <a:pPr marL="203200" indent="-203200">
              <a:spcAft>
                <a:spcPts val="600"/>
              </a:spcAft>
              <a:buSzPct val="100000"/>
              <a:buChar char="•"/>
            </a:pPr>
            <a:r>
              <a:rPr lang="en-US" sz="1400" dirty="0">
                <a:solidFill>
                  <a:srgbClr val="1B2838"/>
                </a:solidFill>
                <a:latin typeface="Calibri" pitchFamily="34" charset="0"/>
                <a:ea typeface="Calibri" pitchFamily="34" charset="-122"/>
                <a:cs typeface="Calibri" pitchFamily="34" charset="-120"/>
              </a:rPr>
              <a:t>123 columns, one row per bridge</a:t>
            </a:r>
            <a:endParaRPr lang="en-US" sz="1400" dirty="0"/>
          </a:p>
          <a:p>
            <a:pPr marL="203200" indent="-203200">
              <a:spcAft>
                <a:spcPts val="600"/>
              </a:spcAft>
              <a:buSzPct val="100000"/>
              <a:buChar char="•"/>
            </a:pPr>
            <a:r>
              <a:rPr lang="en-US" sz="1400" dirty="0">
                <a:solidFill>
                  <a:srgbClr val="1B2838"/>
                </a:solidFill>
                <a:latin typeface="Calibri" pitchFamily="34" charset="0"/>
                <a:ea typeface="Calibri" pitchFamily="34" charset="-122"/>
                <a:cs typeface="Calibri" pitchFamily="34" charset="-120"/>
              </a:rPr>
              <a:t>824,312 bridge-year records</a:t>
            </a:r>
            <a:endParaRPr lang="en-US" sz="1400" dirty="0"/>
          </a:p>
          <a:p>
            <a:pPr marL="203200" indent="-203200">
              <a:spcAft>
                <a:spcPts val="600"/>
              </a:spcAft>
              <a:buSzPct val="100000"/>
              <a:buChar char="•"/>
            </a:pPr>
            <a:r>
              <a:rPr lang="en-US" sz="1400" dirty="0">
                <a:solidFill>
                  <a:srgbClr val="1B2838"/>
                </a:solidFill>
                <a:latin typeface="Calibri" pitchFamily="34" charset="0"/>
                <a:ea typeface="Calibri" pitchFamily="34" charset="-122"/>
                <a:cs typeface="Calibri" pitchFamily="34" charset="-120"/>
              </a:rPr>
              <a:t>Age, design, traffic, condition ratings</a:t>
            </a:r>
            <a:endParaRPr lang="en-US" sz="1400" dirty="0"/>
          </a:p>
        </p:txBody>
      </p:sp>
      <p:sp>
        <p:nvSpPr>
          <p:cNvPr id="12" name="Shape 9"/>
          <p:cNvSpPr/>
          <p:nvPr/>
        </p:nvSpPr>
        <p:spPr>
          <a:xfrm>
            <a:off x="4297680" y="1600200"/>
            <a:ext cx="3520440" cy="4480560"/>
          </a:xfrm>
          <a:prstGeom prst="roundRect">
            <a:avLst>
              <a:gd name="adj" fmla="val 2078"/>
            </a:avLst>
          </a:prstGeom>
          <a:solidFill>
            <a:srgbClr val="EEF1F4"/>
          </a:solidFill>
          <a:ln w="12700">
            <a:solidFill>
              <a:srgbClr val="EEF1F4"/>
            </a:solidFill>
            <a:prstDash val="solid"/>
          </a:ln>
        </p:spPr>
      </p:sp>
      <p:sp>
        <p:nvSpPr>
          <p:cNvPr id="13" name="Shape 10"/>
          <p:cNvSpPr/>
          <p:nvPr/>
        </p:nvSpPr>
        <p:spPr>
          <a:xfrm>
            <a:off x="4572000" y="1828800"/>
            <a:ext cx="640080" cy="640080"/>
          </a:xfrm>
          <a:prstGeom prst="ellipse">
            <a:avLst/>
          </a:prstGeom>
          <a:solidFill>
            <a:srgbClr val="E8702A"/>
          </a:solidFill>
          <a:ln w="12700">
            <a:solidFill>
              <a:srgbClr val="E8702A"/>
            </a:solidFill>
            <a:prstDash val="solid"/>
          </a:ln>
        </p:spPr>
      </p:sp>
      <p:pic>
        <p:nvPicPr>
          <p:cNvPr id="14" name="Image 1" descr="preencoded.png">    </p:cNvPr>
          <p:cNvPicPr>
            <a:picLocks noChangeAspect="1"/>
          </p:cNvPicPr>
          <p:nvPr/>
        </p:nvPicPr>
        <p:blipFill>
          <a:blip r:embed="rId2"/>
          <a:stretch>
            <a:fillRect/>
          </a:stretch>
        </p:blipFill>
        <p:spPr>
          <a:xfrm>
            <a:off x="4732020" y="1988820"/>
            <a:ext cx="320040" cy="320040"/>
          </a:xfrm>
          <a:prstGeom prst="rect">
            <a:avLst/>
          </a:prstGeom>
        </p:spPr>
      </p:pic>
      <p:sp>
        <p:nvSpPr>
          <p:cNvPr id="15" name="Text 11"/>
          <p:cNvSpPr txBox="1"/>
          <p:nvPr/>
        </p:nvSpPr>
        <p:spPr>
          <a:xfrm>
            <a:off x="4572000" y="2606040"/>
            <a:ext cx="3017520" cy="411480"/>
          </a:xfrm>
          <a:prstGeom prst="rect">
            <a:avLst/>
          </a:prstGeom>
          <a:noFill/>
          <a:ln/>
        </p:spPr>
        <p:txBody>
          <a:bodyPr wrap="square" lIns="0" tIns="0" rIns="0" bIns="0" rtlCol="0" anchor="t"/>
          <a:lstStyle/>
          <a:p>
            <a:pPr indent="0" marL="0">
              <a:buNone/>
            </a:pPr>
            <a:r>
              <a:rPr lang="en-US" sz="1900" b="1" dirty="0">
                <a:solidFill>
                  <a:srgbClr val="1B2838"/>
                </a:solidFill>
                <a:latin typeface="Arial" pitchFamily="34" charset="0"/>
                <a:ea typeface="Arial" pitchFamily="34" charset="-122"/>
                <a:cs typeface="Arial" pitchFamily="34" charset="-120"/>
              </a:rPr>
              <a:t>Weather</a:t>
            </a:r>
            <a:endParaRPr lang="en-US" sz="1900" dirty="0"/>
          </a:p>
        </p:txBody>
      </p:sp>
      <p:sp>
        <p:nvSpPr>
          <p:cNvPr id="16" name="Text 12"/>
          <p:cNvSpPr txBox="1"/>
          <p:nvPr/>
        </p:nvSpPr>
        <p:spPr>
          <a:xfrm>
            <a:off x="4572000" y="3017520"/>
            <a:ext cx="3017520" cy="502920"/>
          </a:xfrm>
          <a:prstGeom prst="rect">
            <a:avLst/>
          </a:prstGeom>
          <a:noFill/>
          <a:ln/>
        </p:spPr>
        <p:txBody>
          <a:bodyPr wrap="square" lIns="0" tIns="0" rIns="0" bIns="0" rtlCol="0" anchor="t"/>
          <a:lstStyle/>
          <a:p>
            <a:pPr indent="0" marL="0">
              <a:buNone/>
            </a:pPr>
            <a:r>
              <a:rPr lang="en-US" sz="1300" i="1" dirty="0">
                <a:solidFill>
                  <a:srgbClr val="5B6B7A"/>
                </a:solidFill>
                <a:latin typeface="Calibri" pitchFamily="34" charset="0"/>
                <a:ea typeface="Calibri" pitchFamily="34" charset="-122"/>
                <a:cs typeface="Calibri" pitchFamily="34" charset="-120"/>
              </a:rPr>
              <a:t>NOAA nClimGrid-Daily</a:t>
            </a:r>
            <a:endParaRPr lang="en-US" sz="1300" dirty="0"/>
          </a:p>
        </p:txBody>
      </p:sp>
      <p:sp>
        <p:nvSpPr>
          <p:cNvPr id="17" name="Text 13"/>
          <p:cNvSpPr txBox="1"/>
          <p:nvPr/>
        </p:nvSpPr>
        <p:spPr>
          <a:xfrm>
            <a:off x="4572000" y="3611880"/>
            <a:ext cx="3017520" cy="2377440"/>
          </a:xfrm>
          <a:prstGeom prst="rect">
            <a:avLst/>
          </a:prstGeom>
          <a:noFill/>
          <a:ln/>
        </p:spPr>
        <p:txBody>
          <a:bodyPr wrap="square" lIns="0" tIns="0" rIns="0" bIns="0" rtlCol="0" anchor="t"/>
          <a:lstStyle/>
          <a:p>
            <a:pPr marL="203200" indent="-203200">
              <a:spcAft>
                <a:spcPts val="600"/>
              </a:spcAft>
              <a:buSzPct val="100000"/>
              <a:buChar char="•"/>
            </a:pPr>
            <a:r>
              <a:rPr lang="en-US" sz="1400" dirty="0">
                <a:solidFill>
                  <a:srgbClr val="1B2838"/>
                </a:solidFill>
                <a:latin typeface="Calibri" pitchFamily="34" charset="0"/>
                <a:ea typeface="Calibri" pitchFamily="34" charset="-122"/>
                <a:cs typeface="Calibri" pitchFamily="34" charset="-120"/>
              </a:rPr>
              <a:t>Daily temperature and precipitation on a ~5 km grid</a:t>
            </a:r>
            <a:endParaRPr lang="en-US" sz="1400" dirty="0"/>
          </a:p>
          <a:p>
            <a:pPr marL="203200" indent="-203200">
              <a:spcAft>
                <a:spcPts val="600"/>
              </a:spcAft>
              <a:buSzPct val="100000"/>
              <a:buChar char="•"/>
            </a:pPr>
            <a:r>
              <a:rPr lang="en-US" sz="1400" dirty="0">
                <a:solidFill>
                  <a:srgbClr val="1B2838"/>
                </a:solidFill>
                <a:latin typeface="Calibri" pitchFamily="34" charset="0"/>
                <a:ea typeface="Calibri" pitchFamily="34" charset="-122"/>
                <a:cs typeface="Calibri" pitchFamily="34" charset="-120"/>
              </a:rPr>
              <a:t>72 monthly files, about 4.6 GB</a:t>
            </a:r>
            <a:endParaRPr lang="en-US" sz="1400" dirty="0"/>
          </a:p>
          <a:p>
            <a:pPr marL="203200" indent="-203200">
              <a:spcAft>
                <a:spcPts val="600"/>
              </a:spcAft>
              <a:buSzPct val="100000"/>
              <a:buChar char="•"/>
            </a:pPr>
            <a:r>
              <a:rPr lang="en-US" sz="1400" dirty="0">
                <a:solidFill>
                  <a:srgbClr val="1B2838"/>
                </a:solidFill>
                <a:latin typeface="Calibri" pitchFamily="34" charset="0"/>
                <a:ea typeface="Calibri" pitchFamily="34" charset="-122"/>
                <a:cs typeface="Calibri" pitchFamily="34" charset="-120"/>
              </a:rPr>
              <a:t>Each bridge matched to its nearest grid cell</a:t>
            </a:r>
            <a:endParaRPr lang="en-US" sz="1400" dirty="0"/>
          </a:p>
          <a:p>
            <a:pPr marL="203200" indent="-203200">
              <a:spcAft>
                <a:spcPts val="600"/>
              </a:spcAft>
              <a:buSzPct val="100000"/>
              <a:buChar char="•"/>
            </a:pPr>
            <a:r>
              <a:rPr lang="en-US" sz="1400" dirty="0">
                <a:solidFill>
                  <a:srgbClr val="1B2838"/>
                </a:solidFill>
                <a:latin typeface="Calibri" pitchFamily="34" charset="0"/>
                <a:ea typeface="Calibri" pitchFamily="34" charset="-122"/>
                <a:cs typeface="Calibri" pitchFamily="34" charset="-120"/>
              </a:rPr>
              <a:t>Summarized to one row per bridge per year</a:t>
            </a:r>
            <a:endParaRPr lang="en-US" sz="1400" dirty="0"/>
          </a:p>
        </p:txBody>
      </p:sp>
      <p:sp>
        <p:nvSpPr>
          <p:cNvPr id="18" name="Shape 14"/>
          <p:cNvSpPr/>
          <p:nvPr/>
        </p:nvSpPr>
        <p:spPr>
          <a:xfrm>
            <a:off x="8046720" y="1600200"/>
            <a:ext cx="3520440" cy="4480560"/>
          </a:xfrm>
          <a:prstGeom prst="roundRect">
            <a:avLst>
              <a:gd name="adj" fmla="val 2078"/>
            </a:avLst>
          </a:prstGeom>
          <a:solidFill>
            <a:srgbClr val="EEF1F4"/>
          </a:solidFill>
          <a:ln w="12700">
            <a:solidFill>
              <a:srgbClr val="EEF1F4"/>
            </a:solidFill>
            <a:prstDash val="solid"/>
          </a:ln>
        </p:spPr>
      </p:sp>
      <p:sp>
        <p:nvSpPr>
          <p:cNvPr id="19" name="Shape 15"/>
          <p:cNvSpPr/>
          <p:nvPr/>
        </p:nvSpPr>
        <p:spPr>
          <a:xfrm>
            <a:off x="8321040" y="1828800"/>
            <a:ext cx="640080" cy="640080"/>
          </a:xfrm>
          <a:prstGeom prst="ellipse">
            <a:avLst/>
          </a:prstGeom>
          <a:solidFill>
            <a:srgbClr val="E8702A"/>
          </a:solidFill>
          <a:ln w="12700">
            <a:solidFill>
              <a:srgbClr val="E8702A"/>
            </a:solidFill>
            <a:prstDash val="solid"/>
          </a:ln>
        </p:spPr>
      </p:sp>
      <p:pic>
        <p:nvPicPr>
          <p:cNvPr id="20" name="Image 2" descr="preencoded.png">    </p:cNvPr>
          <p:cNvPicPr>
            <a:picLocks noChangeAspect="1"/>
          </p:cNvPicPr>
          <p:nvPr/>
        </p:nvPicPr>
        <p:blipFill>
          <a:blip r:embed="rId3"/>
          <a:stretch>
            <a:fillRect/>
          </a:stretch>
        </p:blipFill>
        <p:spPr>
          <a:xfrm>
            <a:off x="8481060" y="1988820"/>
            <a:ext cx="320040" cy="320040"/>
          </a:xfrm>
          <a:prstGeom prst="rect">
            <a:avLst/>
          </a:prstGeom>
        </p:spPr>
      </p:pic>
      <p:sp>
        <p:nvSpPr>
          <p:cNvPr id="21" name="Text 16"/>
          <p:cNvSpPr txBox="1"/>
          <p:nvPr/>
        </p:nvSpPr>
        <p:spPr>
          <a:xfrm>
            <a:off x="8321040" y="2606040"/>
            <a:ext cx="3017520" cy="411480"/>
          </a:xfrm>
          <a:prstGeom prst="rect">
            <a:avLst/>
          </a:prstGeom>
          <a:noFill/>
          <a:ln/>
        </p:spPr>
        <p:txBody>
          <a:bodyPr wrap="square" lIns="0" tIns="0" rIns="0" bIns="0" rtlCol="0" anchor="t"/>
          <a:lstStyle/>
          <a:p>
            <a:pPr indent="0" marL="0">
              <a:buNone/>
            </a:pPr>
            <a:r>
              <a:rPr lang="en-US" sz="1900" b="1" dirty="0">
                <a:solidFill>
                  <a:srgbClr val="1B2838"/>
                </a:solidFill>
                <a:latin typeface="Arial" pitchFamily="34" charset="0"/>
                <a:ea typeface="Arial" pitchFamily="34" charset="-122"/>
                <a:cs typeface="Arial" pitchFamily="34" charset="-120"/>
              </a:rPr>
              <a:t>State bridge spending</a:t>
            </a:r>
            <a:endParaRPr lang="en-US" sz="1900" dirty="0"/>
          </a:p>
        </p:txBody>
      </p:sp>
      <p:sp>
        <p:nvSpPr>
          <p:cNvPr id="22" name="Text 17"/>
          <p:cNvSpPr txBox="1"/>
          <p:nvPr/>
        </p:nvSpPr>
        <p:spPr>
          <a:xfrm>
            <a:off x="8321040" y="3017520"/>
            <a:ext cx="3017520" cy="502920"/>
          </a:xfrm>
          <a:prstGeom prst="rect">
            <a:avLst/>
          </a:prstGeom>
          <a:noFill/>
          <a:ln/>
        </p:spPr>
        <p:txBody>
          <a:bodyPr wrap="square" lIns="0" tIns="0" rIns="0" bIns="0" rtlCol="0" anchor="t"/>
          <a:lstStyle/>
          <a:p>
            <a:pPr indent="0" marL="0">
              <a:buNone/>
            </a:pPr>
            <a:r>
              <a:rPr lang="en-US" sz="1300" i="1" dirty="0">
                <a:solidFill>
                  <a:srgbClr val="5B6B7A"/>
                </a:solidFill>
                <a:latin typeface="Calibri" pitchFamily="34" charset="0"/>
                <a:ea typeface="Calibri" pitchFamily="34" charset="-122"/>
                <a:cs typeface="Calibri" pitchFamily="34" charset="-120"/>
              </a:rPr>
              <a:t>FHWA Highway Statistics, Table SF-12A</a:t>
            </a:r>
            <a:endParaRPr lang="en-US" sz="1300" dirty="0"/>
          </a:p>
        </p:txBody>
      </p:sp>
      <p:sp>
        <p:nvSpPr>
          <p:cNvPr id="23" name="Text 18"/>
          <p:cNvSpPr txBox="1"/>
          <p:nvPr/>
        </p:nvSpPr>
        <p:spPr>
          <a:xfrm>
            <a:off x="8321040" y="3611880"/>
            <a:ext cx="3017520" cy="2377440"/>
          </a:xfrm>
          <a:prstGeom prst="rect">
            <a:avLst/>
          </a:prstGeom>
          <a:noFill/>
          <a:ln/>
        </p:spPr>
        <p:txBody>
          <a:bodyPr wrap="square" lIns="0" tIns="0" rIns="0" bIns="0" rtlCol="0" anchor="t"/>
          <a:lstStyle/>
          <a:p>
            <a:pPr marL="203200" indent="-203200">
              <a:spcAft>
                <a:spcPts val="600"/>
              </a:spcAft>
              <a:buSzPct val="100000"/>
              <a:buChar char="•"/>
            </a:pPr>
            <a:r>
              <a:rPr lang="en-US" sz="1400" dirty="0">
                <a:solidFill>
                  <a:srgbClr val="1B2838"/>
                </a:solidFill>
                <a:latin typeface="Calibri" pitchFamily="34" charset="0"/>
                <a:ea typeface="Calibri" pitchFamily="34" charset="-122"/>
                <a:cs typeface="Calibri" pitchFamily="34" charset="-120"/>
              </a:rPr>
              <a:t>What each state spent on bridge replacement and repair</a:t>
            </a:r>
            <a:endParaRPr lang="en-US" sz="1400" dirty="0"/>
          </a:p>
          <a:p>
            <a:pPr marL="203200" indent="-203200">
              <a:spcAft>
                <a:spcPts val="600"/>
              </a:spcAft>
              <a:buSzPct val="100000"/>
              <a:buChar char="•"/>
            </a:pPr>
            <a:r>
              <a:rPr lang="en-US" sz="1400" dirty="0">
                <a:solidFill>
                  <a:srgbClr val="1B2838"/>
                </a:solidFill>
                <a:latin typeface="Calibri" pitchFamily="34" charset="0"/>
                <a:ea typeface="Calibri" pitchFamily="34" charset="-122"/>
                <a:cs typeface="Calibri" pitchFamily="34" charset="-120"/>
              </a:rPr>
              <a:t>5 yearly workbooks × 14 sheets</a:t>
            </a:r>
            <a:endParaRPr lang="en-US" sz="1400" dirty="0"/>
          </a:p>
          <a:p>
            <a:pPr marL="203200" indent="-203200">
              <a:spcAft>
                <a:spcPts val="600"/>
              </a:spcAft>
              <a:buSzPct val="100000"/>
              <a:buChar char="•"/>
            </a:pPr>
            <a:r>
              <a:rPr lang="en-US" sz="1400" dirty="0">
                <a:solidFill>
                  <a:srgbClr val="1B2838"/>
                </a:solidFill>
                <a:latin typeface="Calibri" pitchFamily="34" charset="0"/>
                <a:ea typeface="Calibri" pitchFamily="34" charset="-122"/>
                <a:cs typeface="Calibri" pitchFamily="34" charset="-120"/>
              </a:rPr>
              <a:t>Summed to 35 state-years (2020 to 2024)</a:t>
            </a:r>
            <a:endParaRPr lang="en-US" sz="1400" dirty="0"/>
          </a:p>
          <a:p>
            <a:pPr marL="203200" indent="-203200">
              <a:spcAft>
                <a:spcPts val="600"/>
              </a:spcAft>
              <a:buSzPct val="100000"/>
              <a:buChar char="•"/>
            </a:pPr>
            <a:r>
              <a:rPr lang="en-US" sz="1400" dirty="0">
                <a:solidFill>
                  <a:srgbClr val="1B2838"/>
                </a:solidFill>
                <a:latin typeface="Calibri" pitchFamily="34" charset="0"/>
                <a:ea typeface="Calibri" pitchFamily="34" charset="-122"/>
                <a:cs typeface="Calibri" pitchFamily="34" charset="-120"/>
              </a:rPr>
              <a:t>Thousands of dollars</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320040"/>
          </a:xfrm>
          <a:prstGeom prst="rect">
            <a:avLst/>
          </a:prstGeom>
          <a:noFill/>
          <a:ln/>
        </p:spPr>
        <p:txBody>
          <a:bodyPr wrap="square" lIns="0" tIns="0" rIns="0" bIns="0" rtlCol="0" anchor="ctr"/>
          <a:lstStyle/>
          <a:p>
            <a:pPr indent="0" marL="0">
              <a:buNone/>
            </a:pPr>
            <a:r>
              <a:rPr lang="en-US" sz="1200" b="1" spc="200" kern="0" dirty="0">
                <a:solidFill>
                  <a:srgbClr val="E8702A"/>
                </a:solidFill>
                <a:latin typeface="Arial" pitchFamily="34" charset="0"/>
                <a:ea typeface="Arial" pitchFamily="34" charset="-122"/>
                <a:cs typeface="Arial" pitchFamily="34" charset="-120"/>
              </a:rPr>
              <a:t>DATA SELECTION</a:t>
            </a:r>
            <a:endParaRPr lang="en-US" sz="1200" dirty="0"/>
          </a:p>
        </p:txBody>
      </p:sp>
      <p:sp>
        <p:nvSpPr>
          <p:cNvPr id="3" name="Text 1"/>
          <p:cNvSpPr txBox="1"/>
          <p:nvPr/>
        </p:nvSpPr>
        <p:spPr>
          <a:xfrm>
            <a:off x="548640" y="640080"/>
            <a:ext cx="11064240" cy="685800"/>
          </a:xfrm>
          <a:prstGeom prst="rect">
            <a:avLst/>
          </a:prstGeom>
          <a:noFill/>
          <a:ln/>
        </p:spPr>
        <p:txBody>
          <a:bodyPr wrap="square" lIns="0" tIns="0" rIns="0" bIns="0" rtlCol="0" anchor="ctr"/>
          <a:lstStyle/>
          <a:p>
            <a:pPr indent="0" marL="0">
              <a:buNone/>
            </a:pPr>
            <a:r>
              <a:rPr lang="en-US" sz="3000" b="1" dirty="0">
                <a:solidFill>
                  <a:srgbClr val="1B2838"/>
                </a:solidFill>
                <a:latin typeface="Arial" pitchFamily="34" charset="0"/>
                <a:ea typeface="Arial" pitchFamily="34" charset="-122"/>
                <a:cs typeface="Arial" pitchFamily="34" charset="-120"/>
              </a:rPr>
              <a:t>Seven states, chosen for geographic and climate diversity</a:t>
            </a:r>
            <a:endParaRPr lang="en-US" sz="3000" dirty="0"/>
          </a:p>
        </p:txBody>
      </p:sp>
      <p:sp>
        <p:nvSpPr>
          <p:cNvPr id="4" name="Text 2"/>
          <p:cNvSpPr txBox="1"/>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rgbClr val="5B6B7A"/>
                </a:solidFill>
                <a:latin typeface="Calibri" pitchFamily="34" charset="0"/>
                <a:ea typeface="Calibri" pitchFamily="34" charset="-122"/>
                <a:cs typeface="Calibri" pitchFamily="34" charset="-120"/>
              </a:rPr>
              <a:t>BridgeWatch AI  ·  UMBC DATA 606</a:t>
            </a:r>
            <a:endParaRPr lang="en-US" sz="1000" dirty="0"/>
          </a:p>
        </p:txBody>
      </p:sp>
      <p:sp>
        <p:nvSpPr>
          <p:cNvPr id="5" name="Text 3"/>
          <p:cNvSpPr txBox="1"/>
          <p:nvPr/>
        </p:nvSpPr>
        <p:spPr>
          <a:xfrm>
            <a:off x="10725912" y="6400800"/>
            <a:ext cx="914400" cy="274320"/>
          </a:xfrm>
          <a:prstGeom prst="rect">
            <a:avLst/>
          </a:prstGeom>
          <a:noFill/>
          <a:ln/>
        </p:spPr>
        <p:txBody>
          <a:bodyPr wrap="square" lIns="0" tIns="0" rIns="0" bIns="0" rtlCol="0" anchor="ctr"/>
          <a:lstStyle/>
          <a:p>
            <a:pPr algn="r" indent="0" marL="0">
              <a:buNone/>
            </a:pPr>
            <a:r>
              <a:rPr lang="en-US" sz="1000" dirty="0">
                <a:solidFill>
                  <a:srgbClr val="5B6B7A"/>
                </a:solidFill>
                <a:latin typeface="Calibri" pitchFamily="34" charset="0"/>
                <a:ea typeface="Calibri" pitchFamily="34" charset="-122"/>
                <a:cs typeface="Calibri" pitchFamily="34" charset="-120"/>
              </a:rPr>
              <a:t>4</a:t>
            </a:r>
            <a:endParaRPr lang="en-US" sz="1000" dirty="0"/>
          </a:p>
        </p:txBody>
      </p:sp>
      <p:pic>
        <p:nvPicPr>
          <p:cNvPr id="6" name="Image 0" descr="/tmp/claude-0/-home-user-UMBC-DATA606-Capstone/1855d377-ac3b-59b4-a6d6-3f04be275cc5/scratchpad/deck/map_clean.png">    </p:cNvPr>
          <p:cNvPicPr>
            <a:picLocks noChangeAspect="1"/>
          </p:cNvPicPr>
          <p:nvPr/>
        </p:nvPicPr>
        <p:blipFill>
          <a:blip r:embed="rId1"/>
          <a:stretch>
            <a:fillRect/>
          </a:stretch>
        </p:blipFill>
        <p:spPr>
          <a:xfrm>
            <a:off x="457200" y="1463040"/>
            <a:ext cx="7589520" cy="4279392"/>
          </a:xfrm>
          <a:prstGeom prst="rect">
            <a:avLst/>
          </a:prstGeom>
        </p:spPr>
      </p:pic>
      <p:sp>
        <p:nvSpPr>
          <p:cNvPr id="7" name="Text 4"/>
          <p:cNvSpPr txBox="1"/>
          <p:nvPr/>
        </p:nvSpPr>
        <p:spPr>
          <a:xfrm>
            <a:off x="548640" y="5806440"/>
            <a:ext cx="7315200" cy="274320"/>
          </a:xfrm>
          <a:prstGeom prst="rect">
            <a:avLst/>
          </a:prstGeom>
          <a:noFill/>
          <a:ln/>
        </p:spPr>
        <p:txBody>
          <a:bodyPr wrap="square" lIns="0" tIns="0" rIns="0" bIns="0" rtlCol="0" anchor="t"/>
          <a:lstStyle/>
          <a:p>
            <a:pPr indent="0" marL="0">
              <a:buNone/>
            </a:pPr>
            <a:r>
              <a:rPr lang="en-US" sz="1100" dirty="0">
                <a:solidFill>
                  <a:srgbClr val="5B6B7A"/>
                </a:solidFill>
                <a:latin typeface="Calibri" pitchFamily="34" charset="0"/>
                <a:ea typeface="Calibri" pitchFamily="34" charset="-122"/>
                <a:cs typeface="Calibri" pitchFamily="34" charset="-120"/>
              </a:rPr>
              <a:t>Bridge locations, 2025 (sample of 40,000 points)</a:t>
            </a:r>
            <a:endParaRPr lang="en-US" sz="1100" dirty="0"/>
          </a:p>
        </p:txBody>
      </p:sp>
      <p:sp>
        <p:nvSpPr>
          <p:cNvPr id="8" name="Shape 5"/>
          <p:cNvSpPr/>
          <p:nvPr/>
        </p:nvSpPr>
        <p:spPr>
          <a:xfrm>
            <a:off x="8321040" y="1600200"/>
            <a:ext cx="3337560" cy="4434840"/>
          </a:xfrm>
          <a:prstGeom prst="roundRect">
            <a:avLst>
              <a:gd name="adj" fmla="val 2192"/>
            </a:avLst>
          </a:prstGeom>
          <a:solidFill>
            <a:srgbClr val="EEF1F4"/>
          </a:solidFill>
          <a:ln w="12700">
            <a:solidFill>
              <a:srgbClr val="EEF1F4"/>
            </a:solidFill>
            <a:prstDash val="solid"/>
          </a:ln>
        </p:spPr>
      </p:sp>
      <p:sp>
        <p:nvSpPr>
          <p:cNvPr id="9" name="Text 6"/>
          <p:cNvSpPr txBox="1"/>
          <p:nvPr/>
        </p:nvSpPr>
        <p:spPr>
          <a:xfrm>
            <a:off x="8595360" y="1783080"/>
            <a:ext cx="2834640" cy="365760"/>
          </a:xfrm>
          <a:prstGeom prst="rect">
            <a:avLst/>
          </a:prstGeom>
          <a:noFill/>
          <a:ln/>
        </p:spPr>
        <p:txBody>
          <a:bodyPr wrap="square" lIns="0" tIns="0" rIns="0" bIns="0" rtlCol="0" anchor="t"/>
          <a:lstStyle/>
          <a:p>
            <a:pPr indent="0" marL="0">
              <a:buNone/>
            </a:pPr>
            <a:r>
              <a:rPr lang="en-US" sz="1800" b="1" dirty="0">
                <a:solidFill>
                  <a:srgbClr val="1B2838"/>
                </a:solidFill>
                <a:latin typeface="Arial" pitchFamily="34" charset="0"/>
                <a:ea typeface="Arial" pitchFamily="34" charset="-122"/>
                <a:cs typeface="Arial" pitchFamily="34" charset="-120"/>
              </a:rPr>
              <a:t>Why these states</a:t>
            </a:r>
            <a:endParaRPr lang="en-US" sz="1800" dirty="0"/>
          </a:p>
        </p:txBody>
      </p:sp>
      <p:sp>
        <p:nvSpPr>
          <p:cNvPr id="10" name="Text 7"/>
          <p:cNvSpPr txBox="1"/>
          <p:nvPr/>
        </p:nvSpPr>
        <p:spPr>
          <a:xfrm>
            <a:off x="8595360" y="2240280"/>
            <a:ext cx="2834640" cy="1828800"/>
          </a:xfrm>
          <a:prstGeom prst="rect">
            <a:avLst/>
          </a:prstGeom>
          <a:noFill/>
          <a:ln/>
        </p:spPr>
        <p:txBody>
          <a:bodyPr wrap="square" lIns="0" tIns="0" rIns="0" bIns="0" rtlCol="0" anchor="t"/>
          <a:lstStyle/>
          <a:p>
            <a:pPr marL="203200" indent="-203200">
              <a:spcAft>
                <a:spcPts val="600"/>
              </a:spcAft>
              <a:buSzPct val="100000"/>
              <a:buChar char="•"/>
            </a:pPr>
            <a:r>
              <a:rPr lang="en-US" sz="1400" b="1" dirty="0">
                <a:solidFill>
                  <a:srgbClr val="1B2838"/>
                </a:solidFill>
                <a:latin typeface="Calibri" pitchFamily="34" charset="0"/>
                <a:ea typeface="Calibri" pitchFamily="34" charset="-122"/>
                <a:cs typeface="Calibri" pitchFamily="34" charset="-120"/>
              </a:rPr>
              <a:t>Cold winters: </a:t>
            </a:r>
            <a:pPr indent="0" marL="0">
              <a:buNone/>
            </a:pPr>
            <a:r>
              <a:rPr lang="en-US" sz="1400" dirty="0">
                <a:solidFill>
                  <a:srgbClr val="1B2838"/>
                </a:solidFill>
                <a:latin typeface="Calibri" pitchFamily="34" charset="0"/>
                <a:ea typeface="Calibri" pitchFamily="34" charset="-122"/>
                <a:cs typeface="Calibri" pitchFamily="34" charset="-120"/>
              </a:rPr>
              <a:t>Michigan, New York</a:t>
            </a:r>
            <a:endParaRPr lang="en-US" sz="1400" dirty="0"/>
          </a:p>
          <a:p>
            <a:pPr marL="203200" indent="-203200">
              <a:spcAft>
                <a:spcPts val="600"/>
              </a:spcAft>
              <a:buSzPct val="100000"/>
              <a:buChar char="•"/>
            </a:pPr>
            <a:r>
              <a:rPr lang="en-US" sz="1400" b="1" dirty="0">
                <a:solidFill>
                  <a:srgbClr val="1B2838"/>
                </a:solidFill>
                <a:latin typeface="Calibri" pitchFamily="34" charset="0"/>
                <a:ea typeface="Calibri" pitchFamily="34" charset="-122"/>
                <a:cs typeface="Calibri" pitchFamily="34" charset="-120"/>
              </a:rPr>
              <a:t>Hot and humid: </a:t>
            </a:r>
            <a:pPr indent="0" marL="0">
              <a:buNone/>
            </a:pPr>
            <a:r>
              <a:rPr lang="en-US" sz="1400" dirty="0">
                <a:solidFill>
                  <a:srgbClr val="1B2838"/>
                </a:solidFill>
                <a:latin typeface="Calibri" pitchFamily="34" charset="0"/>
                <a:ea typeface="Calibri" pitchFamily="34" charset="-122"/>
                <a:cs typeface="Calibri" pitchFamily="34" charset="-120"/>
              </a:rPr>
              <a:t>Florida, Texas</a:t>
            </a:r>
            <a:endParaRPr lang="en-US" sz="1400" dirty="0"/>
          </a:p>
          <a:p>
            <a:pPr marL="203200" indent="-203200">
              <a:spcAft>
                <a:spcPts val="600"/>
              </a:spcAft>
              <a:buSzPct val="100000"/>
              <a:buChar char="•"/>
            </a:pPr>
            <a:r>
              <a:rPr lang="en-US" sz="1400" b="1" dirty="0">
                <a:solidFill>
                  <a:srgbClr val="1B2838"/>
                </a:solidFill>
                <a:latin typeface="Calibri" pitchFamily="34" charset="0"/>
                <a:ea typeface="Calibri" pitchFamily="34" charset="-122"/>
                <a:cs typeface="Calibri" pitchFamily="34" charset="-120"/>
              </a:rPr>
              <a:t>West Coast: </a:t>
            </a:r>
            <a:pPr indent="0" marL="0">
              <a:buNone/>
            </a:pPr>
            <a:r>
              <a:rPr lang="en-US" sz="1400" dirty="0">
                <a:solidFill>
                  <a:srgbClr val="1B2838"/>
                </a:solidFill>
                <a:latin typeface="Calibri" pitchFamily="34" charset="0"/>
                <a:ea typeface="Calibri" pitchFamily="34" charset="-122"/>
                <a:cs typeface="Calibri" pitchFamily="34" charset="-120"/>
              </a:rPr>
              <a:t>California, Washington</a:t>
            </a:r>
            <a:endParaRPr lang="en-US" sz="1400" dirty="0"/>
          </a:p>
          <a:p>
            <a:pPr marL="203200" indent="-203200">
              <a:spcAft>
                <a:spcPts val="600"/>
              </a:spcAft>
              <a:buSzPct val="100000"/>
              <a:buChar char="•"/>
            </a:pPr>
            <a:r>
              <a:rPr lang="en-US" sz="1400" b="1" dirty="0">
                <a:solidFill>
                  <a:srgbClr val="1B2838"/>
                </a:solidFill>
                <a:latin typeface="Calibri" pitchFamily="34" charset="0"/>
                <a:ea typeface="Calibri" pitchFamily="34" charset="-122"/>
                <a:cs typeface="Calibri" pitchFamily="34" charset="-120"/>
              </a:rPr>
              <a:t>Mid-Atlantic: </a:t>
            </a:r>
            <a:pPr indent="0" marL="0">
              <a:buNone/>
            </a:pPr>
            <a:r>
              <a:rPr lang="en-US" sz="1400" dirty="0">
                <a:solidFill>
                  <a:srgbClr val="1B2838"/>
                </a:solidFill>
                <a:latin typeface="Calibri" pitchFamily="34" charset="0"/>
                <a:ea typeface="Calibri" pitchFamily="34" charset="-122"/>
                <a:cs typeface="Calibri" pitchFamily="34" charset="-120"/>
              </a:rPr>
              <a:t>Maryland</a:t>
            </a:r>
            <a:endParaRPr lang="en-US" sz="1400" dirty="0"/>
          </a:p>
        </p:txBody>
      </p:sp>
      <p:sp>
        <p:nvSpPr>
          <p:cNvPr id="11" name="Text 8"/>
          <p:cNvSpPr txBox="1"/>
          <p:nvPr/>
        </p:nvSpPr>
        <p:spPr>
          <a:xfrm>
            <a:off x="8595360" y="4206240"/>
            <a:ext cx="2834640" cy="1097280"/>
          </a:xfrm>
          <a:prstGeom prst="rect">
            <a:avLst/>
          </a:prstGeom>
          <a:noFill/>
          <a:ln/>
        </p:spPr>
        <p:txBody>
          <a:bodyPr wrap="square" lIns="0" tIns="0" rIns="0" bIns="0" rtlCol="0" anchor="t"/>
          <a:lstStyle/>
          <a:p>
            <a:pPr indent="0" marL="0">
              <a:buNone/>
            </a:pPr>
            <a:r>
              <a:rPr lang="en-US" sz="1400" dirty="0">
                <a:solidFill>
                  <a:srgbClr val="5B6B7A"/>
                </a:solidFill>
                <a:latin typeface="Calibri" pitchFamily="34" charset="0"/>
                <a:ea typeface="Calibri" pitchFamily="34" charset="-122"/>
                <a:cs typeface="Calibri" pitchFamily="34" charset="-120"/>
              </a:rPr>
              <a:t>Texas alone holds 41% of the bridges; Maryland has the fewest (5,500).</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320040"/>
          </a:xfrm>
          <a:prstGeom prst="rect">
            <a:avLst/>
          </a:prstGeom>
          <a:noFill/>
          <a:ln/>
        </p:spPr>
        <p:txBody>
          <a:bodyPr wrap="square" lIns="0" tIns="0" rIns="0" bIns="0" rtlCol="0" anchor="ctr"/>
          <a:lstStyle/>
          <a:p>
            <a:pPr indent="0" marL="0">
              <a:buNone/>
            </a:pPr>
            <a:r>
              <a:rPr lang="en-US" sz="1200" b="1" spc="200" kern="0" dirty="0">
                <a:solidFill>
                  <a:srgbClr val="E8702A"/>
                </a:solidFill>
                <a:latin typeface="Arial" pitchFamily="34" charset="0"/>
                <a:ea typeface="Arial" pitchFamily="34" charset="-122"/>
                <a:cs typeface="Arial" pitchFamily="34" charset="-120"/>
              </a:rPr>
              <a:t>BUILDING THE TARGET</a:t>
            </a:r>
            <a:endParaRPr lang="en-US" sz="1200" dirty="0"/>
          </a:p>
        </p:txBody>
      </p:sp>
      <p:sp>
        <p:nvSpPr>
          <p:cNvPr id="3" name="Text 1"/>
          <p:cNvSpPr txBox="1"/>
          <p:nvPr/>
        </p:nvSpPr>
        <p:spPr>
          <a:xfrm>
            <a:off x="548640" y="640080"/>
            <a:ext cx="11064240" cy="685800"/>
          </a:xfrm>
          <a:prstGeom prst="rect">
            <a:avLst/>
          </a:prstGeom>
          <a:noFill/>
          <a:ln/>
        </p:spPr>
        <p:txBody>
          <a:bodyPr wrap="square" lIns="0" tIns="0" rIns="0" bIns="0" rtlCol="0" anchor="ctr"/>
          <a:lstStyle/>
          <a:p>
            <a:pPr indent="0" marL="0">
              <a:buNone/>
            </a:pPr>
            <a:r>
              <a:rPr lang="en-US" sz="3000" b="1" dirty="0">
                <a:solidFill>
                  <a:srgbClr val="1B2838"/>
                </a:solidFill>
                <a:latin typeface="Arial" pitchFamily="34" charset="0"/>
                <a:ea typeface="Arial" pitchFamily="34" charset="-122"/>
                <a:cs typeface="Arial" pitchFamily="34" charset="-120"/>
              </a:rPr>
              <a:t>What the model predicts</a:t>
            </a:r>
            <a:endParaRPr lang="en-US" sz="3000" dirty="0"/>
          </a:p>
        </p:txBody>
      </p:sp>
      <p:sp>
        <p:nvSpPr>
          <p:cNvPr id="4" name="Text 2"/>
          <p:cNvSpPr txBox="1"/>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rgbClr val="5B6B7A"/>
                </a:solidFill>
                <a:latin typeface="Calibri" pitchFamily="34" charset="0"/>
                <a:ea typeface="Calibri" pitchFamily="34" charset="-122"/>
                <a:cs typeface="Calibri" pitchFamily="34" charset="-120"/>
              </a:rPr>
              <a:t>BridgeWatch AI  ·  UMBC DATA 606</a:t>
            </a:r>
            <a:endParaRPr lang="en-US" sz="1000" dirty="0"/>
          </a:p>
        </p:txBody>
      </p:sp>
      <p:sp>
        <p:nvSpPr>
          <p:cNvPr id="5" name="Text 3"/>
          <p:cNvSpPr txBox="1"/>
          <p:nvPr/>
        </p:nvSpPr>
        <p:spPr>
          <a:xfrm>
            <a:off x="10725912" y="6400800"/>
            <a:ext cx="914400" cy="274320"/>
          </a:xfrm>
          <a:prstGeom prst="rect">
            <a:avLst/>
          </a:prstGeom>
          <a:noFill/>
          <a:ln/>
        </p:spPr>
        <p:txBody>
          <a:bodyPr wrap="square" lIns="0" tIns="0" rIns="0" bIns="0" rtlCol="0" anchor="ctr"/>
          <a:lstStyle/>
          <a:p>
            <a:pPr algn="r" indent="0" marL="0">
              <a:buNone/>
            </a:pPr>
            <a:r>
              <a:rPr lang="en-US" sz="1000" dirty="0">
                <a:solidFill>
                  <a:srgbClr val="5B6B7A"/>
                </a:solidFill>
                <a:latin typeface="Calibri" pitchFamily="34" charset="0"/>
                <a:ea typeface="Calibri" pitchFamily="34" charset="-122"/>
                <a:cs typeface="Calibri" pitchFamily="34" charset="-120"/>
              </a:rPr>
              <a:t>5</a:t>
            </a:r>
            <a:endParaRPr lang="en-US" sz="1000" dirty="0"/>
          </a:p>
        </p:txBody>
      </p:sp>
      <p:sp>
        <p:nvSpPr>
          <p:cNvPr id="6" name="Shape 4"/>
          <p:cNvSpPr/>
          <p:nvPr/>
        </p:nvSpPr>
        <p:spPr>
          <a:xfrm>
            <a:off x="822960" y="1691640"/>
            <a:ext cx="1234440" cy="594360"/>
          </a:xfrm>
          <a:prstGeom prst="roundRect">
            <a:avLst>
              <a:gd name="adj" fmla="val 12308"/>
            </a:avLst>
          </a:prstGeom>
          <a:solidFill>
            <a:srgbClr val="3E5569"/>
          </a:solidFill>
          <a:ln w="12700">
            <a:solidFill>
              <a:srgbClr val="3E5569"/>
            </a:solidFill>
            <a:prstDash val="solid"/>
          </a:ln>
        </p:spPr>
      </p:sp>
      <p:sp>
        <p:nvSpPr>
          <p:cNvPr id="7" name="Text 5"/>
          <p:cNvSpPr txBox="1"/>
          <p:nvPr/>
        </p:nvSpPr>
        <p:spPr>
          <a:xfrm>
            <a:off x="822960" y="1691640"/>
            <a:ext cx="1234440" cy="59436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2020</a:t>
            </a:r>
            <a:endParaRPr lang="en-US" sz="1800" dirty="0"/>
          </a:p>
        </p:txBody>
      </p:sp>
      <p:sp>
        <p:nvSpPr>
          <p:cNvPr id="8" name="Shape 6"/>
          <p:cNvSpPr/>
          <p:nvPr/>
        </p:nvSpPr>
        <p:spPr>
          <a:xfrm>
            <a:off x="2103120" y="1988820"/>
            <a:ext cx="457200" cy="0"/>
          </a:xfrm>
          <a:prstGeom prst="line">
            <a:avLst/>
          </a:prstGeom>
          <a:noFill/>
          <a:ln w="19050">
            <a:solidFill>
              <a:srgbClr val="5B6B7A"/>
            </a:solidFill>
            <a:prstDash val="solid"/>
            <a:tailEnd type="triangle"/>
          </a:ln>
        </p:spPr>
      </p:sp>
      <p:sp>
        <p:nvSpPr>
          <p:cNvPr id="9" name="Shape 7"/>
          <p:cNvSpPr/>
          <p:nvPr/>
        </p:nvSpPr>
        <p:spPr>
          <a:xfrm>
            <a:off x="2606040" y="1691640"/>
            <a:ext cx="1234440" cy="594360"/>
          </a:xfrm>
          <a:prstGeom prst="roundRect">
            <a:avLst>
              <a:gd name="adj" fmla="val 12308"/>
            </a:avLst>
          </a:prstGeom>
          <a:solidFill>
            <a:srgbClr val="3E5569"/>
          </a:solidFill>
          <a:ln w="12700">
            <a:solidFill>
              <a:srgbClr val="3E5569"/>
            </a:solidFill>
            <a:prstDash val="solid"/>
          </a:ln>
        </p:spPr>
      </p:sp>
      <p:sp>
        <p:nvSpPr>
          <p:cNvPr id="10" name="Text 8"/>
          <p:cNvSpPr txBox="1"/>
          <p:nvPr/>
        </p:nvSpPr>
        <p:spPr>
          <a:xfrm>
            <a:off x="2606040" y="1691640"/>
            <a:ext cx="1234440" cy="59436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2021</a:t>
            </a:r>
            <a:endParaRPr lang="en-US" sz="1800" dirty="0"/>
          </a:p>
        </p:txBody>
      </p:sp>
      <p:sp>
        <p:nvSpPr>
          <p:cNvPr id="11" name="Shape 9"/>
          <p:cNvSpPr/>
          <p:nvPr/>
        </p:nvSpPr>
        <p:spPr>
          <a:xfrm>
            <a:off x="3886200" y="1988820"/>
            <a:ext cx="457200" cy="0"/>
          </a:xfrm>
          <a:prstGeom prst="line">
            <a:avLst/>
          </a:prstGeom>
          <a:noFill/>
          <a:ln w="19050">
            <a:solidFill>
              <a:srgbClr val="5B6B7A"/>
            </a:solidFill>
            <a:prstDash val="solid"/>
            <a:tailEnd type="triangle"/>
          </a:ln>
        </p:spPr>
      </p:sp>
      <p:sp>
        <p:nvSpPr>
          <p:cNvPr id="12" name="Shape 10"/>
          <p:cNvSpPr/>
          <p:nvPr/>
        </p:nvSpPr>
        <p:spPr>
          <a:xfrm>
            <a:off x="4389120" y="1691640"/>
            <a:ext cx="1234440" cy="594360"/>
          </a:xfrm>
          <a:prstGeom prst="roundRect">
            <a:avLst>
              <a:gd name="adj" fmla="val 12308"/>
            </a:avLst>
          </a:prstGeom>
          <a:solidFill>
            <a:srgbClr val="3E5569"/>
          </a:solidFill>
          <a:ln w="12700">
            <a:solidFill>
              <a:srgbClr val="3E5569"/>
            </a:solidFill>
            <a:prstDash val="solid"/>
          </a:ln>
        </p:spPr>
      </p:sp>
      <p:sp>
        <p:nvSpPr>
          <p:cNvPr id="13" name="Text 11"/>
          <p:cNvSpPr txBox="1"/>
          <p:nvPr/>
        </p:nvSpPr>
        <p:spPr>
          <a:xfrm>
            <a:off x="4389120" y="1691640"/>
            <a:ext cx="1234440" cy="59436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2022</a:t>
            </a:r>
            <a:endParaRPr lang="en-US" sz="1800" dirty="0"/>
          </a:p>
        </p:txBody>
      </p:sp>
      <p:sp>
        <p:nvSpPr>
          <p:cNvPr id="14" name="Shape 12"/>
          <p:cNvSpPr/>
          <p:nvPr/>
        </p:nvSpPr>
        <p:spPr>
          <a:xfrm>
            <a:off x="5669280" y="1988820"/>
            <a:ext cx="457200" cy="0"/>
          </a:xfrm>
          <a:prstGeom prst="line">
            <a:avLst/>
          </a:prstGeom>
          <a:noFill/>
          <a:ln w="19050">
            <a:solidFill>
              <a:srgbClr val="5B6B7A"/>
            </a:solidFill>
            <a:prstDash val="solid"/>
            <a:tailEnd type="triangle"/>
          </a:ln>
        </p:spPr>
      </p:sp>
      <p:sp>
        <p:nvSpPr>
          <p:cNvPr id="15" name="Shape 13"/>
          <p:cNvSpPr/>
          <p:nvPr/>
        </p:nvSpPr>
        <p:spPr>
          <a:xfrm>
            <a:off x="6172200" y="1691640"/>
            <a:ext cx="1234440" cy="594360"/>
          </a:xfrm>
          <a:prstGeom prst="roundRect">
            <a:avLst>
              <a:gd name="adj" fmla="val 12308"/>
            </a:avLst>
          </a:prstGeom>
          <a:solidFill>
            <a:srgbClr val="3E5569"/>
          </a:solidFill>
          <a:ln w="12700">
            <a:solidFill>
              <a:srgbClr val="3E5569"/>
            </a:solidFill>
            <a:prstDash val="solid"/>
          </a:ln>
        </p:spPr>
      </p:sp>
      <p:sp>
        <p:nvSpPr>
          <p:cNvPr id="16" name="Text 14"/>
          <p:cNvSpPr txBox="1"/>
          <p:nvPr/>
        </p:nvSpPr>
        <p:spPr>
          <a:xfrm>
            <a:off x="6172200" y="1691640"/>
            <a:ext cx="1234440" cy="59436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2023</a:t>
            </a:r>
            <a:endParaRPr lang="en-US" sz="1800" dirty="0"/>
          </a:p>
        </p:txBody>
      </p:sp>
      <p:sp>
        <p:nvSpPr>
          <p:cNvPr id="17" name="Shape 15"/>
          <p:cNvSpPr/>
          <p:nvPr/>
        </p:nvSpPr>
        <p:spPr>
          <a:xfrm>
            <a:off x="7452360" y="1988820"/>
            <a:ext cx="457200" cy="0"/>
          </a:xfrm>
          <a:prstGeom prst="line">
            <a:avLst/>
          </a:prstGeom>
          <a:noFill/>
          <a:ln w="19050">
            <a:solidFill>
              <a:srgbClr val="5B6B7A"/>
            </a:solidFill>
            <a:prstDash val="solid"/>
            <a:tailEnd type="triangle"/>
          </a:ln>
        </p:spPr>
      </p:sp>
      <p:sp>
        <p:nvSpPr>
          <p:cNvPr id="18" name="Shape 16"/>
          <p:cNvSpPr/>
          <p:nvPr/>
        </p:nvSpPr>
        <p:spPr>
          <a:xfrm>
            <a:off x="7955280" y="1691640"/>
            <a:ext cx="1234440" cy="594360"/>
          </a:xfrm>
          <a:prstGeom prst="roundRect">
            <a:avLst>
              <a:gd name="adj" fmla="val 12308"/>
            </a:avLst>
          </a:prstGeom>
          <a:solidFill>
            <a:srgbClr val="3E5569"/>
          </a:solidFill>
          <a:ln w="12700">
            <a:solidFill>
              <a:srgbClr val="3E5569"/>
            </a:solidFill>
            <a:prstDash val="solid"/>
          </a:ln>
        </p:spPr>
      </p:sp>
      <p:sp>
        <p:nvSpPr>
          <p:cNvPr id="19" name="Text 17"/>
          <p:cNvSpPr txBox="1"/>
          <p:nvPr/>
        </p:nvSpPr>
        <p:spPr>
          <a:xfrm>
            <a:off x="7955280" y="1691640"/>
            <a:ext cx="1234440" cy="59436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2024</a:t>
            </a:r>
            <a:endParaRPr lang="en-US" sz="1800" dirty="0"/>
          </a:p>
        </p:txBody>
      </p:sp>
      <p:sp>
        <p:nvSpPr>
          <p:cNvPr id="20" name="Shape 18"/>
          <p:cNvSpPr/>
          <p:nvPr/>
        </p:nvSpPr>
        <p:spPr>
          <a:xfrm>
            <a:off x="9235440" y="1988820"/>
            <a:ext cx="457200" cy="0"/>
          </a:xfrm>
          <a:prstGeom prst="line">
            <a:avLst/>
          </a:prstGeom>
          <a:noFill/>
          <a:ln w="19050">
            <a:solidFill>
              <a:srgbClr val="5B6B7A"/>
            </a:solidFill>
            <a:prstDash val="solid"/>
            <a:tailEnd type="triangle"/>
          </a:ln>
        </p:spPr>
      </p:sp>
      <p:sp>
        <p:nvSpPr>
          <p:cNvPr id="21" name="Shape 19"/>
          <p:cNvSpPr/>
          <p:nvPr/>
        </p:nvSpPr>
        <p:spPr>
          <a:xfrm>
            <a:off x="9738360" y="1691640"/>
            <a:ext cx="1234440" cy="594360"/>
          </a:xfrm>
          <a:prstGeom prst="roundRect">
            <a:avLst>
              <a:gd name="adj" fmla="val 12308"/>
            </a:avLst>
          </a:prstGeom>
          <a:solidFill>
            <a:srgbClr val="E8702A"/>
          </a:solidFill>
          <a:ln w="12700">
            <a:solidFill>
              <a:srgbClr val="E8702A"/>
            </a:solidFill>
            <a:prstDash val="solid"/>
          </a:ln>
        </p:spPr>
      </p:sp>
      <p:sp>
        <p:nvSpPr>
          <p:cNvPr id="22" name="Text 20"/>
          <p:cNvSpPr txBox="1"/>
          <p:nvPr/>
        </p:nvSpPr>
        <p:spPr>
          <a:xfrm>
            <a:off x="9738360" y="1691640"/>
            <a:ext cx="1234440" cy="59436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2025</a:t>
            </a:r>
            <a:endParaRPr lang="en-US" sz="1800" dirty="0"/>
          </a:p>
        </p:txBody>
      </p:sp>
      <p:sp>
        <p:nvSpPr>
          <p:cNvPr id="23" name="Text 21"/>
          <p:cNvSpPr txBox="1"/>
          <p:nvPr/>
        </p:nvSpPr>
        <p:spPr>
          <a:xfrm>
            <a:off x="822960" y="2468880"/>
            <a:ext cx="10515600" cy="365760"/>
          </a:xfrm>
          <a:prstGeom prst="rect">
            <a:avLst/>
          </a:prstGeom>
          <a:noFill/>
          <a:ln/>
        </p:spPr>
        <p:txBody>
          <a:bodyPr wrap="square" lIns="0" tIns="0" rIns="0" bIns="0" rtlCol="0" anchor="t"/>
          <a:lstStyle/>
          <a:p>
            <a:pPr indent="0" marL="0">
              <a:buNone/>
            </a:pPr>
            <a:r>
              <a:rPr lang="en-US" sz="1500" dirty="0">
                <a:solidFill>
                  <a:srgbClr val="5B6B7A"/>
                </a:solidFill>
                <a:latin typeface="Calibri" pitchFamily="34" charset="0"/>
                <a:ea typeface="Calibri" pitchFamily="34" charset="-122"/>
                <a:cs typeface="Calibri" pitchFamily="34" charset="-120"/>
              </a:rPr>
              <a:t>Each bridge's record in one year is paired with its record the next year: 5 year-to-year transitions per bridge.</a:t>
            </a:r>
            <a:endParaRPr lang="en-US" sz="1500" dirty="0"/>
          </a:p>
        </p:txBody>
      </p:sp>
      <p:sp>
        <p:nvSpPr>
          <p:cNvPr id="24" name="Shape 22"/>
          <p:cNvSpPr/>
          <p:nvPr/>
        </p:nvSpPr>
        <p:spPr>
          <a:xfrm>
            <a:off x="822960" y="3063240"/>
            <a:ext cx="6309360" cy="2651760"/>
          </a:xfrm>
          <a:prstGeom prst="roundRect">
            <a:avLst>
              <a:gd name="adj" fmla="val 2759"/>
            </a:avLst>
          </a:prstGeom>
          <a:solidFill>
            <a:srgbClr val="EEF1F4"/>
          </a:solidFill>
          <a:ln w="12700">
            <a:solidFill>
              <a:srgbClr val="EEF1F4"/>
            </a:solidFill>
            <a:prstDash val="solid"/>
          </a:ln>
        </p:spPr>
      </p:sp>
      <p:sp>
        <p:nvSpPr>
          <p:cNvPr id="25" name="Text 23"/>
          <p:cNvSpPr txBox="1"/>
          <p:nvPr/>
        </p:nvSpPr>
        <p:spPr>
          <a:xfrm>
            <a:off x="1097280" y="3246120"/>
            <a:ext cx="5760720" cy="411480"/>
          </a:xfrm>
          <a:prstGeom prst="rect">
            <a:avLst/>
          </a:prstGeom>
          <a:noFill/>
          <a:ln/>
        </p:spPr>
        <p:txBody>
          <a:bodyPr wrap="square" lIns="0" tIns="0" rIns="0" bIns="0" rtlCol="0" anchor="t"/>
          <a:lstStyle/>
          <a:p>
            <a:pPr indent="0" marL="0">
              <a:buNone/>
            </a:pPr>
            <a:r>
              <a:rPr lang="en-US" sz="1800" b="1" dirty="0">
                <a:solidFill>
                  <a:srgbClr val="E8702A"/>
                </a:solidFill>
                <a:latin typeface="Courier New" pitchFamily="34" charset="0"/>
                <a:ea typeface="Courier New" pitchFamily="34" charset="-122"/>
                <a:cs typeface="Courier New" pitchFamily="34" charset="-120"/>
              </a:rPr>
              <a:t>deteriorated_next_period</a:t>
            </a:r>
            <a:endParaRPr lang="en-US" sz="1800" dirty="0"/>
          </a:p>
        </p:txBody>
      </p:sp>
      <p:sp>
        <p:nvSpPr>
          <p:cNvPr id="26" name="Text 24"/>
          <p:cNvSpPr txBox="1"/>
          <p:nvPr/>
        </p:nvSpPr>
        <p:spPr>
          <a:xfrm>
            <a:off x="1097280" y="3749040"/>
            <a:ext cx="5760720" cy="1920240"/>
          </a:xfrm>
          <a:prstGeom prst="rect">
            <a:avLst/>
          </a:prstGeom>
          <a:noFill/>
          <a:ln/>
        </p:spPr>
        <p:txBody>
          <a:bodyPr wrap="square" lIns="0" tIns="0" rIns="0" bIns="0" rtlCol="0" anchor="t"/>
          <a:lstStyle/>
          <a:p>
            <a:pPr indent="0" marL="0">
              <a:spcAft>
                <a:spcPts val="400"/>
              </a:spcAft>
              <a:buNone/>
            </a:pPr>
            <a:r>
              <a:rPr lang="en-US" sz="1400" b="1" dirty="0">
                <a:solidFill>
                  <a:srgbClr val="E8702A"/>
                </a:solidFill>
                <a:latin typeface="Calibri" pitchFamily="34" charset="0"/>
                <a:ea typeface="Calibri" pitchFamily="34" charset="-122"/>
                <a:cs typeface="Calibri" pitchFamily="34" charset="-120"/>
              </a:rPr>
              <a:t>= 1  </a:t>
            </a:r>
            <a:pPr indent="0" marL="0">
              <a:spcAft>
                <a:spcPts val="400"/>
              </a:spcAft>
              <a:buNone/>
            </a:pPr>
            <a:r>
              <a:rPr lang="en-US" sz="1400" dirty="0">
                <a:solidFill>
                  <a:srgbClr val="1B2838"/>
                </a:solidFill>
                <a:latin typeface="Calibri" pitchFamily="34" charset="0"/>
                <a:ea typeface="Calibri" pitchFamily="34" charset="-122"/>
                <a:cs typeface="Calibri" pitchFamily="34" charset="-120"/>
              </a:rPr>
              <a:t>if the bridge's LOWEST_RATING next year is lower than this year</a:t>
            </a:r>
            <a:endParaRPr lang="en-US" sz="1400" dirty="0"/>
          </a:p>
          <a:p>
            <a:pPr indent="0" marL="0">
              <a:spcAft>
                <a:spcPts val="400"/>
              </a:spcAft>
              <a:buNone/>
            </a:pPr>
            <a:r>
              <a:rPr lang="en-US" sz="1400" b="1" dirty="0">
                <a:solidFill>
                  <a:srgbClr val="E8702A"/>
                </a:solidFill>
                <a:latin typeface="Calibri" pitchFamily="34" charset="0"/>
                <a:ea typeface="Calibri" pitchFamily="34" charset="-122"/>
                <a:cs typeface="Calibri" pitchFamily="34" charset="-120"/>
              </a:rPr>
              <a:t>= 0  </a:t>
            </a:r>
            <a:pPr indent="0" marL="0">
              <a:spcAft>
                <a:spcPts val="400"/>
              </a:spcAft>
              <a:buNone/>
            </a:pPr>
            <a:r>
              <a:rPr lang="en-US" sz="1400" dirty="0">
                <a:solidFill>
                  <a:srgbClr val="1B2838"/>
                </a:solidFill>
                <a:latin typeface="Calibri" pitchFamily="34" charset="0"/>
                <a:ea typeface="Calibri" pitchFamily="34" charset="-122"/>
                <a:cs typeface="Calibri" pitchFamily="34" charset="-120"/>
              </a:rPr>
              <a:t>if it stayed the same or improved</a:t>
            </a:r>
            <a:endParaRPr lang="en-US" sz="1400" dirty="0"/>
          </a:p>
          <a:p>
            <a:pPr indent="0" marL="0">
              <a:spcAft>
                <a:spcPts val="400"/>
              </a:spcAft>
              <a:buNone/>
            </a:pPr>
            <a:r>
              <a:rPr lang="en-US" sz="800" dirty="0">
                <a:solidFill>
                  <a:srgbClr val="1B2838"/>
                </a:solidFill>
                <a:latin typeface="Calibri" pitchFamily="34" charset="0"/>
                <a:ea typeface="Calibri" pitchFamily="34" charset="-122"/>
                <a:cs typeface="Calibri" pitchFamily="34" charset="-120"/>
              </a:rPr>
              <a:t> </a:t>
            </a:r>
            <a:endParaRPr lang="en-US" sz="1400" dirty="0"/>
          </a:p>
          <a:p>
            <a:pPr indent="0" marL="0">
              <a:spcAft>
                <a:spcPts val="400"/>
              </a:spcAft>
              <a:buNone/>
            </a:pPr>
            <a:r>
              <a:rPr lang="en-US" sz="1400" b="1" dirty="0">
                <a:solidFill>
                  <a:srgbClr val="1B2838"/>
                </a:solidFill>
                <a:latin typeface="Calibri" pitchFamily="34" charset="0"/>
                <a:ea typeface="Calibri" pitchFamily="34" charset="-122"/>
                <a:cs typeface="Calibri" pitchFamily="34" charset="-120"/>
              </a:rPr>
              <a:t>LOWEST_RATING </a:t>
            </a:r>
            <a:pPr indent="0" marL="0">
              <a:spcAft>
                <a:spcPts val="400"/>
              </a:spcAft>
              <a:buNone/>
            </a:pPr>
            <a:r>
              <a:rPr lang="en-US" sz="1400" dirty="0">
                <a:solidFill>
                  <a:srgbClr val="5B6B7A"/>
                </a:solidFill>
                <a:latin typeface="Calibri" pitchFamily="34" charset="0"/>
                <a:ea typeface="Calibri" pitchFamily="34" charset="-122"/>
                <a:cs typeface="Calibri" pitchFamily="34" charset="-120"/>
              </a:rPr>
              <a:t>is FHWA's minimum of the deck, superstructure, substructure, and culvert ratings (0 = failed, 9 = excellent). It is never missing.</a:t>
            </a:r>
            <a:endParaRPr lang="en-US" sz="1400" dirty="0"/>
          </a:p>
        </p:txBody>
      </p:sp>
      <p:sp>
        <p:nvSpPr>
          <p:cNvPr id="27" name="Text 25"/>
          <p:cNvSpPr txBox="1"/>
          <p:nvPr/>
        </p:nvSpPr>
        <p:spPr>
          <a:xfrm>
            <a:off x="7589520" y="3063240"/>
            <a:ext cx="4023360" cy="731520"/>
          </a:xfrm>
          <a:prstGeom prst="rect">
            <a:avLst/>
          </a:prstGeom>
          <a:noFill/>
          <a:ln/>
        </p:spPr>
        <p:txBody>
          <a:bodyPr wrap="square" lIns="0" tIns="0" rIns="0" bIns="0" rtlCol="0" anchor="t"/>
          <a:lstStyle/>
          <a:p>
            <a:pPr indent="0" marL="0">
              <a:buNone/>
            </a:pPr>
            <a:r>
              <a:rPr lang="en-US" sz="4000" b="1" dirty="0">
                <a:solidFill>
                  <a:srgbClr val="1B2838"/>
                </a:solidFill>
                <a:latin typeface="Arial" pitchFamily="34" charset="0"/>
                <a:ea typeface="Arial" pitchFamily="34" charset="-122"/>
                <a:cs typeface="Arial" pitchFamily="34" charset="-120"/>
              </a:rPr>
              <a:t>681,841</a:t>
            </a:r>
            <a:endParaRPr lang="en-US" sz="4000" dirty="0"/>
          </a:p>
        </p:txBody>
      </p:sp>
      <p:sp>
        <p:nvSpPr>
          <p:cNvPr id="28" name="Text 26"/>
          <p:cNvSpPr txBox="1"/>
          <p:nvPr/>
        </p:nvSpPr>
        <p:spPr>
          <a:xfrm>
            <a:off x="7589520" y="3813048"/>
            <a:ext cx="4023360" cy="548640"/>
          </a:xfrm>
          <a:prstGeom prst="rect">
            <a:avLst/>
          </a:prstGeom>
          <a:noFill/>
          <a:ln/>
        </p:spPr>
        <p:txBody>
          <a:bodyPr wrap="square" lIns="0" tIns="0" rIns="0" bIns="0" rtlCol="0" anchor="t"/>
          <a:lstStyle/>
          <a:p>
            <a:pPr indent="0" marL="0">
              <a:buNone/>
            </a:pPr>
            <a:r>
              <a:rPr lang="en-US" sz="1300" dirty="0">
                <a:solidFill>
                  <a:srgbClr val="5B6B7A"/>
                </a:solidFill>
                <a:latin typeface="Calibri" pitchFamily="34" charset="0"/>
                <a:ea typeface="Calibri" pitchFamily="34" charset="-122"/>
                <a:cs typeface="Calibri" pitchFamily="34" charset="-120"/>
              </a:rPr>
              <a:t>bridge transitions in the model dataset</a:t>
            </a:r>
            <a:endParaRPr lang="en-US" sz="1300" dirty="0"/>
          </a:p>
        </p:txBody>
      </p:sp>
      <p:sp>
        <p:nvSpPr>
          <p:cNvPr id="29" name="Text 27"/>
          <p:cNvSpPr txBox="1"/>
          <p:nvPr/>
        </p:nvSpPr>
        <p:spPr>
          <a:xfrm>
            <a:off x="7589520" y="4343400"/>
            <a:ext cx="4023360" cy="731520"/>
          </a:xfrm>
          <a:prstGeom prst="rect">
            <a:avLst/>
          </a:prstGeom>
          <a:noFill/>
          <a:ln/>
        </p:spPr>
        <p:txBody>
          <a:bodyPr wrap="square" lIns="0" tIns="0" rIns="0" bIns="0" rtlCol="0" anchor="t"/>
          <a:lstStyle/>
          <a:p>
            <a:pPr indent="0" marL="0">
              <a:buNone/>
            </a:pPr>
            <a:r>
              <a:rPr lang="en-US" sz="4000" b="1" dirty="0">
                <a:solidFill>
                  <a:srgbClr val="E8702A"/>
                </a:solidFill>
                <a:latin typeface="Arial" pitchFamily="34" charset="0"/>
                <a:ea typeface="Arial" pitchFamily="34" charset="-122"/>
                <a:cs typeface="Arial" pitchFamily="34" charset="-120"/>
              </a:rPr>
              <a:t>4.34%</a:t>
            </a:r>
            <a:endParaRPr lang="en-US" sz="4000" dirty="0"/>
          </a:p>
        </p:txBody>
      </p:sp>
      <p:sp>
        <p:nvSpPr>
          <p:cNvPr id="30" name="Text 28"/>
          <p:cNvSpPr txBox="1"/>
          <p:nvPr/>
        </p:nvSpPr>
        <p:spPr>
          <a:xfrm>
            <a:off x="7589520" y="5093208"/>
            <a:ext cx="4023360" cy="548640"/>
          </a:xfrm>
          <a:prstGeom prst="rect">
            <a:avLst/>
          </a:prstGeom>
          <a:noFill/>
          <a:ln/>
        </p:spPr>
        <p:txBody>
          <a:bodyPr wrap="square" lIns="0" tIns="0" rIns="0" bIns="0" rtlCol="0" anchor="t"/>
          <a:lstStyle/>
          <a:p>
            <a:pPr indent="0" marL="0">
              <a:buNone/>
            </a:pPr>
            <a:r>
              <a:rPr lang="en-US" sz="1300" dirty="0">
                <a:solidFill>
                  <a:srgbClr val="5B6B7A"/>
                </a:solidFill>
                <a:latin typeface="Calibri" pitchFamily="34" charset="0"/>
                <a:ea typeface="Calibri" pitchFamily="34" charset="-122"/>
                <a:cs typeface="Calibri" pitchFamily="34" charset="-120"/>
              </a:rPr>
              <a:t>deteriorated (29,583 transitions): a 22 to 1 imbalance</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320040"/>
          </a:xfrm>
          <a:prstGeom prst="rect">
            <a:avLst/>
          </a:prstGeom>
          <a:noFill/>
          <a:ln/>
        </p:spPr>
        <p:txBody>
          <a:bodyPr wrap="square" lIns="0" tIns="0" rIns="0" bIns="0" rtlCol="0" anchor="ctr"/>
          <a:lstStyle/>
          <a:p>
            <a:pPr indent="0" marL="0">
              <a:buNone/>
            </a:pPr>
            <a:r>
              <a:rPr lang="en-US" sz="1200" b="1" spc="200" kern="0" dirty="0">
                <a:solidFill>
                  <a:srgbClr val="E8702A"/>
                </a:solidFill>
                <a:latin typeface="Arial" pitchFamily="34" charset="0"/>
                <a:ea typeface="Arial" pitchFamily="34" charset="-122"/>
                <a:cs typeface="Arial" pitchFamily="34" charset="-120"/>
              </a:rPr>
              <a:t>DATA CLEANING</a:t>
            </a:r>
            <a:endParaRPr lang="en-US" sz="1200" dirty="0"/>
          </a:p>
        </p:txBody>
      </p:sp>
      <p:sp>
        <p:nvSpPr>
          <p:cNvPr id="3" name="Text 1"/>
          <p:cNvSpPr txBox="1"/>
          <p:nvPr/>
        </p:nvSpPr>
        <p:spPr>
          <a:xfrm>
            <a:off x="548640" y="640080"/>
            <a:ext cx="11064240" cy="685800"/>
          </a:xfrm>
          <a:prstGeom prst="rect">
            <a:avLst/>
          </a:prstGeom>
          <a:noFill/>
          <a:ln/>
        </p:spPr>
        <p:txBody>
          <a:bodyPr wrap="square" lIns="0" tIns="0" rIns="0" bIns="0" rtlCol="0" anchor="ctr"/>
          <a:lstStyle/>
          <a:p>
            <a:pPr indent="0" marL="0">
              <a:buNone/>
            </a:pPr>
            <a:r>
              <a:rPr lang="en-US" sz="3000" b="1" dirty="0">
                <a:solidFill>
                  <a:srgbClr val="1B2838"/>
                </a:solidFill>
                <a:latin typeface="Arial" pitchFamily="34" charset="0"/>
                <a:ea typeface="Arial" pitchFamily="34" charset="-122"/>
                <a:cs typeface="Arial" pitchFamily="34" charset="-120"/>
              </a:rPr>
              <a:t>Checking the raw files before trusting them</a:t>
            </a:r>
            <a:endParaRPr lang="en-US" sz="3000" dirty="0"/>
          </a:p>
        </p:txBody>
      </p:sp>
      <p:sp>
        <p:nvSpPr>
          <p:cNvPr id="4" name="Text 2"/>
          <p:cNvSpPr txBox="1"/>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rgbClr val="5B6B7A"/>
                </a:solidFill>
                <a:latin typeface="Calibri" pitchFamily="34" charset="0"/>
                <a:ea typeface="Calibri" pitchFamily="34" charset="-122"/>
                <a:cs typeface="Calibri" pitchFamily="34" charset="-120"/>
              </a:rPr>
              <a:t>BridgeWatch AI  ·  UMBC DATA 606</a:t>
            </a:r>
            <a:endParaRPr lang="en-US" sz="1000" dirty="0"/>
          </a:p>
        </p:txBody>
      </p:sp>
      <p:sp>
        <p:nvSpPr>
          <p:cNvPr id="5" name="Text 3"/>
          <p:cNvSpPr txBox="1"/>
          <p:nvPr/>
        </p:nvSpPr>
        <p:spPr>
          <a:xfrm>
            <a:off x="10725912" y="6400800"/>
            <a:ext cx="914400" cy="274320"/>
          </a:xfrm>
          <a:prstGeom prst="rect">
            <a:avLst/>
          </a:prstGeom>
          <a:noFill/>
          <a:ln/>
        </p:spPr>
        <p:txBody>
          <a:bodyPr wrap="square" lIns="0" tIns="0" rIns="0" bIns="0" rtlCol="0" anchor="ctr"/>
          <a:lstStyle/>
          <a:p>
            <a:pPr algn="r" indent="0" marL="0">
              <a:buNone/>
            </a:pPr>
            <a:r>
              <a:rPr lang="en-US" sz="1000" dirty="0">
                <a:solidFill>
                  <a:srgbClr val="5B6B7A"/>
                </a:solidFill>
                <a:latin typeface="Calibri" pitchFamily="34" charset="0"/>
                <a:ea typeface="Calibri" pitchFamily="34" charset="-122"/>
                <a:cs typeface="Calibri" pitchFamily="34" charset="-120"/>
              </a:rPr>
              <a:t>6</a:t>
            </a:r>
            <a:endParaRPr lang="en-US" sz="1000" dirty="0"/>
          </a:p>
        </p:txBody>
      </p:sp>
      <p:sp>
        <p:nvSpPr>
          <p:cNvPr id="6" name="Shape 4"/>
          <p:cNvSpPr/>
          <p:nvPr/>
        </p:nvSpPr>
        <p:spPr>
          <a:xfrm>
            <a:off x="548640" y="1600200"/>
            <a:ext cx="5440680" cy="2057400"/>
          </a:xfrm>
          <a:prstGeom prst="roundRect">
            <a:avLst>
              <a:gd name="adj" fmla="val 3556"/>
            </a:avLst>
          </a:prstGeom>
          <a:solidFill>
            <a:srgbClr val="EEF1F4"/>
          </a:solidFill>
          <a:ln w="12700">
            <a:solidFill>
              <a:srgbClr val="EEF1F4"/>
            </a:solidFill>
            <a:prstDash val="solid"/>
          </a:ln>
        </p:spPr>
      </p:sp>
      <p:sp>
        <p:nvSpPr>
          <p:cNvPr id="7" name="Shape 5"/>
          <p:cNvSpPr/>
          <p:nvPr/>
        </p:nvSpPr>
        <p:spPr>
          <a:xfrm>
            <a:off x="822960" y="1874520"/>
            <a:ext cx="548640" cy="548640"/>
          </a:xfrm>
          <a:prstGeom prst="ellipse">
            <a:avLst/>
          </a:prstGeom>
          <a:solidFill>
            <a:srgbClr val="E8702A"/>
          </a:solidFill>
          <a:ln w="12700">
            <a:solidFill>
              <a:srgbClr val="E8702A"/>
            </a:solidFill>
            <a:prstDash val="solid"/>
          </a:ln>
        </p:spPr>
      </p:sp>
      <p:pic>
        <p:nvPicPr>
          <p:cNvPr id="8" name="Image 0" descr="preencoded.png">    </p:cNvPr>
          <p:cNvPicPr>
            <a:picLocks noChangeAspect="1"/>
          </p:cNvPicPr>
          <p:nvPr/>
        </p:nvPicPr>
        <p:blipFill>
          <a:blip r:embed="rId1"/>
          <a:stretch>
            <a:fillRect/>
          </a:stretch>
        </p:blipFill>
        <p:spPr>
          <a:xfrm>
            <a:off x="960120" y="2011680"/>
            <a:ext cx="274320" cy="274320"/>
          </a:xfrm>
          <a:prstGeom prst="rect">
            <a:avLst/>
          </a:prstGeom>
        </p:spPr>
      </p:pic>
      <p:sp>
        <p:nvSpPr>
          <p:cNvPr id="9" name="Text 6"/>
          <p:cNvSpPr txBox="1"/>
          <p:nvPr/>
        </p:nvSpPr>
        <p:spPr>
          <a:xfrm>
            <a:off x="1554480" y="1874520"/>
            <a:ext cx="4206240" cy="411480"/>
          </a:xfrm>
          <a:prstGeom prst="rect">
            <a:avLst/>
          </a:prstGeom>
          <a:noFill/>
          <a:ln/>
        </p:spPr>
        <p:txBody>
          <a:bodyPr wrap="square" lIns="0" tIns="0" rIns="0" bIns="0" rtlCol="0" anchor="t"/>
          <a:lstStyle/>
          <a:p>
            <a:pPr indent="0" marL="0">
              <a:buNone/>
            </a:pPr>
            <a:r>
              <a:rPr lang="en-US" sz="1700" b="1" dirty="0">
                <a:solidFill>
                  <a:srgbClr val="1B2838"/>
                </a:solidFill>
                <a:latin typeface="Arial" pitchFamily="34" charset="0"/>
                <a:ea typeface="Arial" pitchFamily="34" charset="-122"/>
                <a:cs typeface="Arial" pitchFamily="34" charset="-120"/>
              </a:rPr>
              <a:t>Same columns in every file</a:t>
            </a:r>
            <a:endParaRPr lang="en-US" sz="1700" dirty="0"/>
          </a:p>
        </p:txBody>
      </p:sp>
      <p:sp>
        <p:nvSpPr>
          <p:cNvPr id="10" name="Text 7"/>
          <p:cNvSpPr txBox="1"/>
          <p:nvPr/>
        </p:nvSpPr>
        <p:spPr>
          <a:xfrm>
            <a:off x="1554480" y="2331720"/>
            <a:ext cx="4206240" cy="1234440"/>
          </a:xfrm>
          <a:prstGeom prst="rect">
            <a:avLst/>
          </a:prstGeom>
          <a:noFill/>
          <a:ln/>
        </p:spPr>
        <p:txBody>
          <a:bodyPr wrap="square" lIns="0" tIns="0" rIns="0" bIns="0" rtlCol="0" anchor="t"/>
          <a:lstStyle/>
          <a:p>
            <a:pPr indent="0" marL="0">
              <a:buNone/>
            </a:pPr>
            <a:r>
              <a:rPr lang="en-US" sz="1400" dirty="0">
                <a:solidFill>
                  <a:srgbClr val="5B6B7A"/>
                </a:solidFill>
                <a:latin typeface="Calibri" pitchFamily="34" charset="0"/>
                <a:ea typeface="Calibri" pitchFamily="34" charset="-122"/>
                <a:cs typeface="Calibri" pitchFamily="34" charset="-120"/>
              </a:rPr>
              <a:t>All 42 files share one identical 123-column layout, so they can be stacked and joined safely even though FHWA was changing its coding standard in this period.</a:t>
            </a:r>
            <a:endParaRPr lang="en-US" sz="1400" dirty="0"/>
          </a:p>
        </p:txBody>
      </p:sp>
      <p:sp>
        <p:nvSpPr>
          <p:cNvPr id="11" name="Shape 8"/>
          <p:cNvSpPr/>
          <p:nvPr/>
        </p:nvSpPr>
        <p:spPr>
          <a:xfrm>
            <a:off x="6172200" y="1600200"/>
            <a:ext cx="5440680" cy="2057400"/>
          </a:xfrm>
          <a:prstGeom prst="roundRect">
            <a:avLst>
              <a:gd name="adj" fmla="val 3556"/>
            </a:avLst>
          </a:prstGeom>
          <a:solidFill>
            <a:srgbClr val="EEF1F4"/>
          </a:solidFill>
          <a:ln w="12700">
            <a:solidFill>
              <a:srgbClr val="EEF1F4"/>
            </a:solidFill>
            <a:prstDash val="solid"/>
          </a:ln>
        </p:spPr>
      </p:sp>
      <p:sp>
        <p:nvSpPr>
          <p:cNvPr id="12" name="Shape 9"/>
          <p:cNvSpPr/>
          <p:nvPr/>
        </p:nvSpPr>
        <p:spPr>
          <a:xfrm>
            <a:off x="6446520" y="1874520"/>
            <a:ext cx="548640" cy="548640"/>
          </a:xfrm>
          <a:prstGeom prst="ellipse">
            <a:avLst/>
          </a:prstGeom>
          <a:solidFill>
            <a:srgbClr val="E8702A"/>
          </a:solidFill>
          <a:ln w="12700">
            <a:solidFill>
              <a:srgbClr val="E8702A"/>
            </a:solidFill>
            <a:prstDash val="solid"/>
          </a:ln>
        </p:spPr>
      </p:sp>
      <p:pic>
        <p:nvPicPr>
          <p:cNvPr id="13" name="Image 1" descr="preencoded.png">    </p:cNvPr>
          <p:cNvPicPr>
            <a:picLocks noChangeAspect="1"/>
          </p:cNvPicPr>
          <p:nvPr/>
        </p:nvPicPr>
        <p:blipFill>
          <a:blip r:embed="rId2"/>
          <a:stretch>
            <a:fillRect/>
          </a:stretch>
        </p:blipFill>
        <p:spPr>
          <a:xfrm>
            <a:off x="6583680" y="2011680"/>
            <a:ext cx="274320" cy="274320"/>
          </a:xfrm>
          <a:prstGeom prst="rect">
            <a:avLst/>
          </a:prstGeom>
        </p:spPr>
      </p:pic>
      <p:sp>
        <p:nvSpPr>
          <p:cNvPr id="14" name="Text 10"/>
          <p:cNvSpPr txBox="1"/>
          <p:nvPr/>
        </p:nvSpPr>
        <p:spPr>
          <a:xfrm>
            <a:off x="7178040" y="1874520"/>
            <a:ext cx="4206240" cy="411480"/>
          </a:xfrm>
          <a:prstGeom prst="rect">
            <a:avLst/>
          </a:prstGeom>
          <a:noFill/>
          <a:ln/>
        </p:spPr>
        <p:txBody>
          <a:bodyPr wrap="square" lIns="0" tIns="0" rIns="0" bIns="0" rtlCol="0" anchor="t"/>
          <a:lstStyle/>
          <a:p>
            <a:pPr indent="0" marL="0">
              <a:buNone/>
            </a:pPr>
            <a:r>
              <a:rPr lang="en-US" sz="1700" b="1" dirty="0">
                <a:solidFill>
                  <a:srgbClr val="1B2838"/>
                </a:solidFill>
                <a:latin typeface="Arial" pitchFamily="34" charset="0"/>
                <a:ea typeface="Arial" pitchFamily="34" charset="-122"/>
                <a:cs typeface="Arial" pitchFamily="34" charset="-120"/>
              </a:rPr>
              <a:t>Duplicates removed</a:t>
            </a:r>
            <a:endParaRPr lang="en-US" sz="1700" dirty="0"/>
          </a:p>
        </p:txBody>
      </p:sp>
      <p:sp>
        <p:nvSpPr>
          <p:cNvPr id="15" name="Text 11"/>
          <p:cNvSpPr txBox="1"/>
          <p:nvPr/>
        </p:nvSpPr>
        <p:spPr>
          <a:xfrm>
            <a:off x="7178040" y="2331720"/>
            <a:ext cx="4206240" cy="1234440"/>
          </a:xfrm>
          <a:prstGeom prst="rect">
            <a:avLst/>
          </a:prstGeom>
          <a:noFill/>
          <a:ln/>
        </p:spPr>
        <p:txBody>
          <a:bodyPr wrap="square" lIns="0" tIns="0" rIns="0" bIns="0" rtlCol="0" anchor="t"/>
          <a:lstStyle/>
          <a:p>
            <a:pPr indent="0" marL="0">
              <a:buNone/>
            </a:pPr>
            <a:r>
              <a:rPr lang="en-US" sz="1400" dirty="0">
                <a:solidFill>
                  <a:srgbClr val="5B6B7A"/>
                </a:solidFill>
                <a:latin typeface="Calibri" pitchFamily="34" charset="0"/>
                <a:ea typeface="Calibri" pitchFamily="34" charset="-122"/>
                <a:cs typeface="Calibri" pitchFamily="34" charset="-120"/>
              </a:rPr>
              <a:t>2 rows dropped: an exact duplicate in Texas 2022, and two different California bridges that were given the same ID in 2021.</a:t>
            </a:r>
            <a:endParaRPr lang="en-US" sz="1400" dirty="0"/>
          </a:p>
        </p:txBody>
      </p:sp>
      <p:sp>
        <p:nvSpPr>
          <p:cNvPr id="16" name="Shape 12"/>
          <p:cNvSpPr/>
          <p:nvPr/>
        </p:nvSpPr>
        <p:spPr>
          <a:xfrm>
            <a:off x="548640" y="3886200"/>
            <a:ext cx="5440680" cy="2057400"/>
          </a:xfrm>
          <a:prstGeom prst="roundRect">
            <a:avLst>
              <a:gd name="adj" fmla="val 3556"/>
            </a:avLst>
          </a:prstGeom>
          <a:solidFill>
            <a:srgbClr val="EEF1F4"/>
          </a:solidFill>
          <a:ln w="12700">
            <a:solidFill>
              <a:srgbClr val="EEF1F4"/>
            </a:solidFill>
            <a:prstDash val="solid"/>
          </a:ln>
        </p:spPr>
      </p:sp>
      <p:sp>
        <p:nvSpPr>
          <p:cNvPr id="17" name="Shape 13"/>
          <p:cNvSpPr/>
          <p:nvPr/>
        </p:nvSpPr>
        <p:spPr>
          <a:xfrm>
            <a:off x="822960" y="4160520"/>
            <a:ext cx="548640" cy="548640"/>
          </a:xfrm>
          <a:prstGeom prst="ellipse">
            <a:avLst/>
          </a:prstGeom>
          <a:solidFill>
            <a:srgbClr val="E8702A"/>
          </a:solidFill>
          <a:ln w="12700">
            <a:solidFill>
              <a:srgbClr val="E8702A"/>
            </a:solidFill>
            <a:prstDash val="solid"/>
          </a:ln>
        </p:spPr>
      </p:sp>
      <p:pic>
        <p:nvPicPr>
          <p:cNvPr id="18" name="Image 2" descr="preencoded.png">    </p:cNvPr>
          <p:cNvPicPr>
            <a:picLocks noChangeAspect="1"/>
          </p:cNvPicPr>
          <p:nvPr/>
        </p:nvPicPr>
        <p:blipFill>
          <a:blip r:embed="rId3"/>
          <a:stretch>
            <a:fillRect/>
          </a:stretch>
        </p:blipFill>
        <p:spPr>
          <a:xfrm>
            <a:off x="960120" y="4297680"/>
            <a:ext cx="274320" cy="274320"/>
          </a:xfrm>
          <a:prstGeom prst="rect">
            <a:avLst/>
          </a:prstGeom>
        </p:spPr>
      </p:pic>
      <p:sp>
        <p:nvSpPr>
          <p:cNvPr id="19" name="Text 14"/>
          <p:cNvSpPr txBox="1"/>
          <p:nvPr/>
        </p:nvSpPr>
        <p:spPr>
          <a:xfrm>
            <a:off x="1554480" y="4160520"/>
            <a:ext cx="4206240" cy="411480"/>
          </a:xfrm>
          <a:prstGeom prst="rect">
            <a:avLst/>
          </a:prstGeom>
          <a:noFill/>
          <a:ln/>
        </p:spPr>
        <p:txBody>
          <a:bodyPr wrap="square" lIns="0" tIns="0" rIns="0" bIns="0" rtlCol="0" anchor="t"/>
          <a:lstStyle/>
          <a:p>
            <a:pPr indent="0" marL="0">
              <a:buNone/>
            </a:pPr>
            <a:r>
              <a:rPr lang="en-US" sz="1700" b="1" dirty="0">
                <a:solidFill>
                  <a:srgbClr val="1B2838"/>
                </a:solidFill>
                <a:latin typeface="Arial" pitchFamily="34" charset="0"/>
                <a:ea typeface="Arial" pitchFamily="34" charset="-122"/>
                <a:cs typeface="Arial" pitchFamily="34" charset="-120"/>
              </a:rPr>
              <a:t>Join key is reliable</a:t>
            </a:r>
            <a:endParaRPr lang="en-US" sz="1700" dirty="0"/>
          </a:p>
        </p:txBody>
      </p:sp>
      <p:sp>
        <p:nvSpPr>
          <p:cNvPr id="20" name="Text 15"/>
          <p:cNvSpPr txBox="1"/>
          <p:nvPr/>
        </p:nvSpPr>
        <p:spPr>
          <a:xfrm>
            <a:off x="1554480" y="4617720"/>
            <a:ext cx="4206240" cy="1234440"/>
          </a:xfrm>
          <a:prstGeom prst="rect">
            <a:avLst/>
          </a:prstGeom>
          <a:noFill/>
          <a:ln/>
        </p:spPr>
        <p:txBody>
          <a:bodyPr wrap="square" lIns="0" tIns="0" rIns="0" bIns="0" rtlCol="0" anchor="t"/>
          <a:lstStyle/>
          <a:p>
            <a:pPr indent="0" marL="0">
              <a:buNone/>
            </a:pPr>
            <a:r>
              <a:rPr lang="en-US" sz="1400" dirty="0">
                <a:solidFill>
                  <a:srgbClr val="5B6B7A"/>
                </a:solidFill>
                <a:latin typeface="Calibri" pitchFamily="34" charset="0"/>
                <a:ea typeface="Calibri" pitchFamily="34" charset="-122"/>
                <a:cs typeface="Calibri" pitchFamily="34" charset="-120"/>
              </a:rPr>
              <a:t>Over 99% of bridges carry the same ID from one year to the next in every state, so bridges can be followed over time.</a:t>
            </a:r>
            <a:endParaRPr lang="en-US" sz="1400" dirty="0"/>
          </a:p>
        </p:txBody>
      </p:sp>
      <p:sp>
        <p:nvSpPr>
          <p:cNvPr id="21" name="Shape 16"/>
          <p:cNvSpPr/>
          <p:nvPr/>
        </p:nvSpPr>
        <p:spPr>
          <a:xfrm>
            <a:off x="6172200" y="3886200"/>
            <a:ext cx="5440680" cy="2057400"/>
          </a:xfrm>
          <a:prstGeom prst="roundRect">
            <a:avLst>
              <a:gd name="adj" fmla="val 3556"/>
            </a:avLst>
          </a:prstGeom>
          <a:solidFill>
            <a:srgbClr val="EEF1F4"/>
          </a:solidFill>
          <a:ln w="12700">
            <a:solidFill>
              <a:srgbClr val="EEF1F4"/>
            </a:solidFill>
            <a:prstDash val="solid"/>
          </a:ln>
        </p:spPr>
      </p:sp>
      <p:sp>
        <p:nvSpPr>
          <p:cNvPr id="22" name="Shape 17"/>
          <p:cNvSpPr/>
          <p:nvPr/>
        </p:nvSpPr>
        <p:spPr>
          <a:xfrm>
            <a:off x="6446520" y="4160520"/>
            <a:ext cx="548640" cy="548640"/>
          </a:xfrm>
          <a:prstGeom prst="ellipse">
            <a:avLst/>
          </a:prstGeom>
          <a:solidFill>
            <a:srgbClr val="E8702A"/>
          </a:solidFill>
          <a:ln w="12700">
            <a:solidFill>
              <a:srgbClr val="E8702A"/>
            </a:solidFill>
            <a:prstDash val="solid"/>
          </a:ln>
        </p:spPr>
      </p:sp>
      <p:pic>
        <p:nvPicPr>
          <p:cNvPr id="23" name="Image 3" descr="preencoded.png">    </p:cNvPr>
          <p:cNvPicPr>
            <a:picLocks noChangeAspect="1"/>
          </p:cNvPicPr>
          <p:nvPr/>
        </p:nvPicPr>
        <p:blipFill>
          <a:blip r:embed="rId4"/>
          <a:stretch>
            <a:fillRect/>
          </a:stretch>
        </p:blipFill>
        <p:spPr>
          <a:xfrm>
            <a:off x="6583680" y="4297680"/>
            <a:ext cx="274320" cy="274320"/>
          </a:xfrm>
          <a:prstGeom prst="rect">
            <a:avLst/>
          </a:prstGeom>
        </p:spPr>
      </p:pic>
      <p:sp>
        <p:nvSpPr>
          <p:cNvPr id="24" name="Text 18"/>
          <p:cNvSpPr txBox="1"/>
          <p:nvPr/>
        </p:nvSpPr>
        <p:spPr>
          <a:xfrm>
            <a:off x="7178040" y="4160520"/>
            <a:ext cx="4206240" cy="411480"/>
          </a:xfrm>
          <a:prstGeom prst="rect">
            <a:avLst/>
          </a:prstGeom>
          <a:noFill/>
          <a:ln/>
        </p:spPr>
        <p:txBody>
          <a:bodyPr wrap="square" lIns="0" tIns="0" rIns="0" bIns="0" rtlCol="0" anchor="t"/>
          <a:lstStyle/>
          <a:p>
            <a:pPr indent="0" marL="0">
              <a:buNone/>
            </a:pPr>
            <a:r>
              <a:rPr lang="en-US" sz="1700" b="1" dirty="0">
                <a:solidFill>
                  <a:srgbClr val="1B2838"/>
                </a:solidFill>
                <a:latin typeface="Arial" pitchFamily="34" charset="0"/>
                <a:ea typeface="Arial" pitchFamily="34" charset="-122"/>
                <a:cs typeface="Arial" pitchFamily="34" charset="-120"/>
              </a:rPr>
              <a:t>Suspicious values flagged</a:t>
            </a:r>
            <a:endParaRPr lang="en-US" sz="1700" dirty="0"/>
          </a:p>
        </p:txBody>
      </p:sp>
      <p:sp>
        <p:nvSpPr>
          <p:cNvPr id="25" name="Text 19"/>
          <p:cNvSpPr txBox="1"/>
          <p:nvPr/>
        </p:nvSpPr>
        <p:spPr>
          <a:xfrm>
            <a:off x="7178040" y="4617720"/>
            <a:ext cx="4206240" cy="1234440"/>
          </a:xfrm>
          <a:prstGeom prst="rect">
            <a:avLst/>
          </a:prstGeom>
          <a:noFill/>
          <a:ln/>
        </p:spPr>
        <p:txBody>
          <a:bodyPr wrap="square" lIns="0" tIns="0" rIns="0" bIns="0" rtlCol="0" anchor="t"/>
          <a:lstStyle/>
          <a:p>
            <a:pPr indent="0" marL="0">
              <a:buNone/>
            </a:pPr>
            <a:r>
              <a:rPr lang="en-US" sz="1400" dirty="0">
                <a:solidFill>
                  <a:srgbClr val="5B6B7A"/>
                </a:solidFill>
                <a:latin typeface="Calibri" pitchFamily="34" charset="0"/>
                <a:ea typeface="Calibri" pitchFamily="34" charset="-122"/>
                <a:cs typeface="Calibri" pitchFamily="34" charset="-120"/>
              </a:rPr>
              <a:t>5 ages over 200 years and 684 bridges (0.49%) reporting zero daily traffic were checked and kept, since they are rare and plausible.</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320040"/>
          </a:xfrm>
          <a:prstGeom prst="rect">
            <a:avLst/>
          </a:prstGeom>
          <a:noFill/>
          <a:ln/>
        </p:spPr>
        <p:txBody>
          <a:bodyPr wrap="square" lIns="0" tIns="0" rIns="0" bIns="0" rtlCol="0" anchor="ctr"/>
          <a:lstStyle/>
          <a:p>
            <a:pPr indent="0" marL="0">
              <a:buNone/>
            </a:pPr>
            <a:r>
              <a:rPr lang="en-US" sz="1200" b="1" spc="200" kern="0" dirty="0">
                <a:solidFill>
                  <a:srgbClr val="E8702A"/>
                </a:solidFill>
                <a:latin typeface="Arial" pitchFamily="34" charset="0"/>
                <a:ea typeface="Arial" pitchFamily="34" charset="-122"/>
                <a:cs typeface="Arial" pitchFamily="34" charset="-120"/>
              </a:rPr>
              <a:t>DATA CLEANING</a:t>
            </a:r>
            <a:endParaRPr lang="en-US" sz="1200" dirty="0"/>
          </a:p>
        </p:txBody>
      </p:sp>
      <p:sp>
        <p:nvSpPr>
          <p:cNvPr id="3" name="Text 1"/>
          <p:cNvSpPr txBox="1"/>
          <p:nvPr/>
        </p:nvSpPr>
        <p:spPr>
          <a:xfrm>
            <a:off x="548640" y="640080"/>
            <a:ext cx="11064240" cy="685800"/>
          </a:xfrm>
          <a:prstGeom prst="rect">
            <a:avLst/>
          </a:prstGeom>
          <a:noFill/>
          <a:ln/>
        </p:spPr>
        <p:txBody>
          <a:bodyPr wrap="square" lIns="0" tIns="0" rIns="0" bIns="0" rtlCol="0" anchor="ctr"/>
          <a:lstStyle/>
          <a:p>
            <a:pPr indent="0" marL="0">
              <a:buNone/>
            </a:pPr>
            <a:r>
              <a:rPr lang="en-US" sz="3000" b="1" dirty="0">
                <a:solidFill>
                  <a:srgbClr val="1B2838"/>
                </a:solidFill>
                <a:latin typeface="Arial" pitchFamily="34" charset="0"/>
                <a:ea typeface="Arial" pitchFamily="34" charset="-122"/>
                <a:cs typeface="Arial" pitchFamily="34" charset="-120"/>
              </a:rPr>
              <a:t>Decoding and validating bridge locations</a:t>
            </a:r>
            <a:endParaRPr lang="en-US" sz="3000" dirty="0"/>
          </a:p>
        </p:txBody>
      </p:sp>
      <p:sp>
        <p:nvSpPr>
          <p:cNvPr id="4" name="Text 2"/>
          <p:cNvSpPr txBox="1"/>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rgbClr val="5B6B7A"/>
                </a:solidFill>
                <a:latin typeface="Calibri" pitchFamily="34" charset="0"/>
                <a:ea typeface="Calibri" pitchFamily="34" charset="-122"/>
                <a:cs typeface="Calibri" pitchFamily="34" charset="-120"/>
              </a:rPr>
              <a:t>BridgeWatch AI  ·  UMBC DATA 606</a:t>
            </a:r>
            <a:endParaRPr lang="en-US" sz="1000" dirty="0"/>
          </a:p>
        </p:txBody>
      </p:sp>
      <p:sp>
        <p:nvSpPr>
          <p:cNvPr id="5" name="Text 3"/>
          <p:cNvSpPr txBox="1"/>
          <p:nvPr/>
        </p:nvSpPr>
        <p:spPr>
          <a:xfrm>
            <a:off x="10725912" y="6400800"/>
            <a:ext cx="914400" cy="274320"/>
          </a:xfrm>
          <a:prstGeom prst="rect">
            <a:avLst/>
          </a:prstGeom>
          <a:noFill/>
          <a:ln/>
        </p:spPr>
        <p:txBody>
          <a:bodyPr wrap="square" lIns="0" tIns="0" rIns="0" bIns="0" rtlCol="0" anchor="ctr"/>
          <a:lstStyle/>
          <a:p>
            <a:pPr algn="r" indent="0" marL="0">
              <a:buNone/>
            </a:pPr>
            <a:r>
              <a:rPr lang="en-US" sz="1000" dirty="0">
                <a:solidFill>
                  <a:srgbClr val="5B6B7A"/>
                </a:solidFill>
                <a:latin typeface="Calibri" pitchFamily="34" charset="0"/>
                <a:ea typeface="Calibri" pitchFamily="34" charset="-122"/>
                <a:cs typeface="Calibri" pitchFamily="34" charset="-120"/>
              </a:rPr>
              <a:t>7</a:t>
            </a:r>
            <a:endParaRPr lang="en-US" sz="1000" dirty="0"/>
          </a:p>
        </p:txBody>
      </p:sp>
      <p:sp>
        <p:nvSpPr>
          <p:cNvPr id="6" name="Shape 4"/>
          <p:cNvSpPr/>
          <p:nvPr/>
        </p:nvSpPr>
        <p:spPr>
          <a:xfrm>
            <a:off x="548640" y="1600200"/>
            <a:ext cx="5394960" cy="4434840"/>
          </a:xfrm>
          <a:prstGeom prst="roundRect">
            <a:avLst>
              <a:gd name="adj" fmla="val 1649"/>
            </a:avLst>
          </a:prstGeom>
          <a:solidFill>
            <a:srgbClr val="EEF1F4"/>
          </a:solidFill>
          <a:ln w="12700">
            <a:solidFill>
              <a:srgbClr val="EEF1F4"/>
            </a:solidFill>
            <a:prstDash val="solid"/>
          </a:ln>
        </p:spPr>
      </p:sp>
      <p:sp>
        <p:nvSpPr>
          <p:cNvPr id="7" name="Text 5"/>
          <p:cNvSpPr txBox="1"/>
          <p:nvPr/>
        </p:nvSpPr>
        <p:spPr>
          <a:xfrm>
            <a:off x="822960" y="1783080"/>
            <a:ext cx="4846320" cy="365760"/>
          </a:xfrm>
          <a:prstGeom prst="rect">
            <a:avLst/>
          </a:prstGeom>
          <a:noFill/>
          <a:ln/>
        </p:spPr>
        <p:txBody>
          <a:bodyPr wrap="square" lIns="0" tIns="0" rIns="0" bIns="0" rtlCol="0" anchor="t"/>
          <a:lstStyle/>
          <a:p>
            <a:pPr indent="0" marL="0">
              <a:buNone/>
            </a:pPr>
            <a:r>
              <a:rPr lang="en-US" sz="1800" b="1" dirty="0">
                <a:solidFill>
                  <a:srgbClr val="1B2838"/>
                </a:solidFill>
                <a:latin typeface="Arial" pitchFamily="34" charset="0"/>
                <a:ea typeface="Arial" pitchFamily="34" charset="-122"/>
                <a:cs typeface="Arial" pitchFamily="34" charset="-120"/>
              </a:rPr>
              <a:t>The raw format</a:t>
            </a:r>
            <a:endParaRPr lang="en-US" sz="1800" dirty="0"/>
          </a:p>
        </p:txBody>
      </p:sp>
      <p:sp>
        <p:nvSpPr>
          <p:cNvPr id="8" name="Text 6"/>
          <p:cNvSpPr txBox="1"/>
          <p:nvPr/>
        </p:nvSpPr>
        <p:spPr>
          <a:xfrm>
            <a:off x="822960" y="2194560"/>
            <a:ext cx="4846320" cy="640080"/>
          </a:xfrm>
          <a:prstGeom prst="rect">
            <a:avLst/>
          </a:prstGeom>
          <a:noFill/>
          <a:ln/>
        </p:spPr>
        <p:txBody>
          <a:bodyPr wrap="square" lIns="0" tIns="0" rIns="0" bIns="0" rtlCol="0" anchor="t"/>
          <a:lstStyle/>
          <a:p>
            <a:pPr indent="0" marL="0">
              <a:buNone/>
            </a:pPr>
            <a:r>
              <a:rPr lang="en-US" sz="1400" dirty="0">
                <a:solidFill>
                  <a:srgbClr val="5B6B7A"/>
                </a:solidFill>
                <a:latin typeface="Calibri" pitchFamily="34" charset="0"/>
                <a:ea typeface="Calibri" pitchFamily="34" charset="-122"/>
                <a:cs typeface="Calibri" pitchFamily="34" charset="-120"/>
              </a:rPr>
              <a:t>Latitude and longitude are stored as packed integers with no decimal point or sign.</a:t>
            </a:r>
            <a:endParaRPr lang="en-US" sz="1400" dirty="0"/>
          </a:p>
        </p:txBody>
      </p:sp>
      <p:sp>
        <p:nvSpPr>
          <p:cNvPr id="9" name="Text 7"/>
          <p:cNvSpPr txBox="1"/>
          <p:nvPr/>
        </p:nvSpPr>
        <p:spPr>
          <a:xfrm>
            <a:off x="822960" y="2926080"/>
            <a:ext cx="1828800" cy="457200"/>
          </a:xfrm>
          <a:prstGeom prst="rect">
            <a:avLst/>
          </a:prstGeom>
          <a:noFill/>
          <a:ln/>
        </p:spPr>
        <p:txBody>
          <a:bodyPr wrap="square" lIns="0" tIns="0" rIns="0" bIns="0" rtlCol="0" anchor="ctr"/>
          <a:lstStyle/>
          <a:p>
            <a:pPr indent="0" marL="0">
              <a:buNone/>
            </a:pPr>
            <a:r>
              <a:rPr lang="en-US" sz="1400" dirty="0">
                <a:solidFill>
                  <a:srgbClr val="5B6B7A"/>
                </a:solidFill>
                <a:latin typeface="Calibri" pitchFamily="34" charset="0"/>
                <a:ea typeface="Calibri" pitchFamily="34" charset="-122"/>
                <a:cs typeface="Calibri" pitchFamily="34" charset="-120"/>
              </a:rPr>
              <a:t>Raw LAT_016</a:t>
            </a:r>
            <a:endParaRPr lang="en-US" sz="1400" dirty="0"/>
          </a:p>
        </p:txBody>
      </p:sp>
      <p:sp>
        <p:nvSpPr>
          <p:cNvPr id="10" name="Text 8"/>
          <p:cNvSpPr txBox="1"/>
          <p:nvPr/>
        </p:nvSpPr>
        <p:spPr>
          <a:xfrm>
            <a:off x="2651760" y="2926080"/>
            <a:ext cx="3017520" cy="457200"/>
          </a:xfrm>
          <a:prstGeom prst="rect">
            <a:avLst/>
          </a:prstGeom>
          <a:noFill/>
          <a:ln/>
        </p:spPr>
        <p:txBody>
          <a:bodyPr wrap="square" lIns="0" tIns="0" rIns="0" bIns="0" rtlCol="0" anchor="ctr"/>
          <a:lstStyle/>
          <a:p>
            <a:pPr indent="0" marL="0">
              <a:buNone/>
            </a:pPr>
            <a:r>
              <a:rPr lang="en-US" sz="1800" b="1" dirty="0">
                <a:solidFill>
                  <a:srgbClr val="1B2838"/>
                </a:solidFill>
                <a:latin typeface="Courier New" pitchFamily="34" charset="0"/>
                <a:ea typeface="Courier New" pitchFamily="34" charset="-122"/>
                <a:cs typeface="Courier New" pitchFamily="34" charset="-120"/>
              </a:rPr>
              <a:t>40454199</a:t>
            </a:r>
            <a:endParaRPr lang="en-US" sz="1800" dirty="0"/>
          </a:p>
        </p:txBody>
      </p:sp>
      <p:sp>
        <p:nvSpPr>
          <p:cNvPr id="11" name="Text 9"/>
          <p:cNvSpPr txBox="1"/>
          <p:nvPr/>
        </p:nvSpPr>
        <p:spPr>
          <a:xfrm>
            <a:off x="822960" y="3611880"/>
            <a:ext cx="1828800" cy="457200"/>
          </a:xfrm>
          <a:prstGeom prst="rect">
            <a:avLst/>
          </a:prstGeom>
          <a:noFill/>
          <a:ln/>
        </p:spPr>
        <p:txBody>
          <a:bodyPr wrap="square" lIns="0" tIns="0" rIns="0" bIns="0" rtlCol="0" anchor="ctr"/>
          <a:lstStyle/>
          <a:p>
            <a:pPr indent="0" marL="0">
              <a:buNone/>
            </a:pPr>
            <a:r>
              <a:rPr lang="en-US" sz="1400" dirty="0">
                <a:solidFill>
                  <a:srgbClr val="5B6B7A"/>
                </a:solidFill>
                <a:latin typeface="Calibri" pitchFamily="34" charset="0"/>
                <a:ea typeface="Calibri" pitchFamily="34" charset="-122"/>
                <a:cs typeface="Calibri" pitchFamily="34" charset="-120"/>
              </a:rPr>
              <a:t>Read as</a:t>
            </a:r>
            <a:endParaRPr lang="en-US" sz="1400" dirty="0"/>
          </a:p>
        </p:txBody>
      </p:sp>
      <p:sp>
        <p:nvSpPr>
          <p:cNvPr id="12" name="Text 10"/>
          <p:cNvSpPr txBox="1"/>
          <p:nvPr/>
        </p:nvSpPr>
        <p:spPr>
          <a:xfrm>
            <a:off x="2651760" y="3611880"/>
            <a:ext cx="3017520" cy="457200"/>
          </a:xfrm>
          <a:prstGeom prst="rect">
            <a:avLst/>
          </a:prstGeom>
          <a:noFill/>
          <a:ln/>
        </p:spPr>
        <p:txBody>
          <a:bodyPr wrap="square" lIns="0" tIns="0" rIns="0" bIns="0" rtlCol="0" anchor="ctr"/>
          <a:lstStyle/>
          <a:p>
            <a:pPr indent="0" marL="0">
              <a:buNone/>
            </a:pPr>
            <a:r>
              <a:rPr lang="en-US" sz="1800" b="1" dirty="0">
                <a:solidFill>
                  <a:srgbClr val="1B2838"/>
                </a:solidFill>
                <a:latin typeface="Courier New" pitchFamily="34" charset="0"/>
                <a:ea typeface="Courier New" pitchFamily="34" charset="-122"/>
                <a:cs typeface="Courier New" pitchFamily="34" charset="-120"/>
              </a:rPr>
              <a:t>40° 45′ 41.99″</a:t>
            </a:r>
            <a:endParaRPr lang="en-US" sz="1800" dirty="0"/>
          </a:p>
        </p:txBody>
      </p:sp>
      <p:sp>
        <p:nvSpPr>
          <p:cNvPr id="13" name="Text 11"/>
          <p:cNvSpPr txBox="1"/>
          <p:nvPr/>
        </p:nvSpPr>
        <p:spPr>
          <a:xfrm>
            <a:off x="822960" y="4297680"/>
            <a:ext cx="1828800" cy="457200"/>
          </a:xfrm>
          <a:prstGeom prst="rect">
            <a:avLst/>
          </a:prstGeom>
          <a:noFill/>
          <a:ln/>
        </p:spPr>
        <p:txBody>
          <a:bodyPr wrap="square" lIns="0" tIns="0" rIns="0" bIns="0" rtlCol="0" anchor="ctr"/>
          <a:lstStyle/>
          <a:p>
            <a:pPr indent="0" marL="0">
              <a:buNone/>
            </a:pPr>
            <a:r>
              <a:rPr lang="en-US" sz="1400" dirty="0">
                <a:solidFill>
                  <a:srgbClr val="5B6B7A"/>
                </a:solidFill>
                <a:latin typeface="Calibri" pitchFamily="34" charset="0"/>
                <a:ea typeface="Calibri" pitchFamily="34" charset="-122"/>
                <a:cs typeface="Calibri" pitchFamily="34" charset="-120"/>
              </a:rPr>
              <a:t>Decoded</a:t>
            </a:r>
            <a:endParaRPr lang="en-US" sz="1400" dirty="0"/>
          </a:p>
        </p:txBody>
      </p:sp>
      <p:sp>
        <p:nvSpPr>
          <p:cNvPr id="14" name="Text 12"/>
          <p:cNvSpPr txBox="1"/>
          <p:nvPr/>
        </p:nvSpPr>
        <p:spPr>
          <a:xfrm>
            <a:off x="2651760" y="4297680"/>
            <a:ext cx="3017520" cy="457200"/>
          </a:xfrm>
          <a:prstGeom prst="rect">
            <a:avLst/>
          </a:prstGeom>
          <a:noFill/>
          <a:ln/>
        </p:spPr>
        <p:txBody>
          <a:bodyPr wrap="square" lIns="0" tIns="0" rIns="0" bIns="0" rtlCol="0" anchor="ctr"/>
          <a:lstStyle/>
          <a:p>
            <a:pPr indent="0" marL="0">
              <a:buNone/>
            </a:pPr>
            <a:r>
              <a:rPr lang="en-US" sz="1800" b="1" dirty="0">
                <a:solidFill>
                  <a:srgbClr val="E8702A"/>
                </a:solidFill>
                <a:latin typeface="Courier New" pitchFamily="34" charset="0"/>
                <a:ea typeface="Courier New" pitchFamily="34" charset="-122"/>
                <a:cs typeface="Courier New" pitchFamily="34" charset="-120"/>
              </a:rPr>
              <a:t>40.7617</a:t>
            </a:r>
            <a:endParaRPr lang="en-US" sz="1800" dirty="0"/>
          </a:p>
        </p:txBody>
      </p:sp>
      <p:sp>
        <p:nvSpPr>
          <p:cNvPr id="15" name="Text 13"/>
          <p:cNvSpPr txBox="1"/>
          <p:nvPr/>
        </p:nvSpPr>
        <p:spPr>
          <a:xfrm>
            <a:off x="822960" y="5029200"/>
            <a:ext cx="4846320" cy="731520"/>
          </a:xfrm>
          <a:prstGeom prst="rect">
            <a:avLst/>
          </a:prstGeom>
          <a:noFill/>
          <a:ln/>
        </p:spPr>
        <p:txBody>
          <a:bodyPr wrap="square" lIns="0" tIns="0" rIns="0" bIns="0" rtlCol="0" anchor="t"/>
          <a:lstStyle/>
          <a:p>
            <a:pPr indent="0" marL="0">
              <a:buNone/>
            </a:pPr>
            <a:r>
              <a:rPr lang="en-US" sz="1400" dirty="0">
                <a:solidFill>
                  <a:srgbClr val="5B6B7A"/>
                </a:solidFill>
                <a:latin typeface="Calibri" pitchFamily="34" charset="0"/>
                <a:ea typeface="Calibri" pitchFamily="34" charset="-122"/>
                <a:cs typeface="Calibri" pitchFamily="34" charset="-120"/>
              </a:rPr>
              <a:t>Longitudes are made negative, since every bridge here is in the western hemisphere.</a:t>
            </a:r>
            <a:endParaRPr lang="en-US" sz="1400" dirty="0"/>
          </a:p>
        </p:txBody>
      </p:sp>
      <p:sp>
        <p:nvSpPr>
          <p:cNvPr id="16" name="Text 14"/>
          <p:cNvSpPr txBox="1"/>
          <p:nvPr/>
        </p:nvSpPr>
        <p:spPr>
          <a:xfrm>
            <a:off x="6400800" y="1600200"/>
            <a:ext cx="5212080" cy="365760"/>
          </a:xfrm>
          <a:prstGeom prst="rect">
            <a:avLst/>
          </a:prstGeom>
          <a:noFill/>
          <a:ln/>
        </p:spPr>
        <p:txBody>
          <a:bodyPr wrap="square" lIns="0" tIns="0" rIns="0" bIns="0" rtlCol="0" anchor="t"/>
          <a:lstStyle/>
          <a:p>
            <a:pPr indent="0" marL="0">
              <a:buNone/>
            </a:pPr>
            <a:r>
              <a:rPr lang="en-US" sz="1800" b="1" dirty="0">
                <a:solidFill>
                  <a:srgbClr val="1B2838"/>
                </a:solidFill>
                <a:latin typeface="Arial" pitchFamily="34" charset="0"/>
                <a:ea typeface="Arial" pitchFamily="34" charset="-122"/>
                <a:cs typeface="Arial" pitchFamily="34" charset="-120"/>
              </a:rPr>
              <a:t>Problems found (2025 snapshot)</a:t>
            </a:r>
            <a:endParaRPr lang="en-US" sz="1800" dirty="0"/>
          </a:p>
        </p:txBody>
      </p:sp>
      <p:sp>
        <p:nvSpPr>
          <p:cNvPr id="17" name="Text 15"/>
          <p:cNvSpPr txBox="1"/>
          <p:nvPr/>
        </p:nvSpPr>
        <p:spPr>
          <a:xfrm>
            <a:off x="6400800" y="2103120"/>
            <a:ext cx="1188720" cy="640080"/>
          </a:xfrm>
          <a:prstGeom prst="rect">
            <a:avLst/>
          </a:prstGeom>
          <a:noFill/>
          <a:ln/>
        </p:spPr>
        <p:txBody>
          <a:bodyPr wrap="square" lIns="0" tIns="0" rIns="0" bIns="0" rtlCol="0" anchor="t"/>
          <a:lstStyle/>
          <a:p>
            <a:pPr indent="0" marL="0">
              <a:buNone/>
            </a:pPr>
            <a:r>
              <a:rPr lang="en-US" sz="2800" b="1" dirty="0">
                <a:solidFill>
                  <a:srgbClr val="E8702A"/>
                </a:solidFill>
                <a:latin typeface="Arial" pitchFamily="34" charset="0"/>
                <a:ea typeface="Arial" pitchFamily="34" charset="-122"/>
                <a:cs typeface="Arial" pitchFamily="34" charset="-120"/>
              </a:rPr>
              <a:t>10</a:t>
            </a:r>
            <a:endParaRPr lang="en-US" sz="2800" dirty="0"/>
          </a:p>
        </p:txBody>
      </p:sp>
      <p:sp>
        <p:nvSpPr>
          <p:cNvPr id="18" name="Text 16"/>
          <p:cNvSpPr txBox="1"/>
          <p:nvPr/>
        </p:nvSpPr>
        <p:spPr>
          <a:xfrm>
            <a:off x="7635240" y="2148840"/>
            <a:ext cx="4023360" cy="822960"/>
          </a:xfrm>
          <a:prstGeom prst="rect">
            <a:avLst/>
          </a:prstGeom>
          <a:noFill/>
          <a:ln/>
        </p:spPr>
        <p:txBody>
          <a:bodyPr wrap="square" lIns="0" tIns="0" rIns="0" bIns="0" rtlCol="0" anchor="t"/>
          <a:lstStyle/>
          <a:p>
            <a:pPr indent="0" marL="0">
              <a:buNone/>
            </a:pPr>
            <a:r>
              <a:rPr lang="en-US" sz="1400" dirty="0">
                <a:solidFill>
                  <a:srgbClr val="1B2838"/>
                </a:solidFill>
                <a:latin typeface="Calibri" pitchFamily="34" charset="0"/>
                <a:ea typeface="Calibri" pitchFamily="34" charset="-122"/>
                <a:cs typeface="Calibri" pitchFamily="34" charset="-120"/>
              </a:rPr>
              <a:t>blank coordinates</a:t>
            </a:r>
            <a:endParaRPr lang="en-US" sz="1400" dirty="0"/>
          </a:p>
        </p:txBody>
      </p:sp>
      <p:sp>
        <p:nvSpPr>
          <p:cNvPr id="19" name="Text 17"/>
          <p:cNvSpPr txBox="1"/>
          <p:nvPr/>
        </p:nvSpPr>
        <p:spPr>
          <a:xfrm>
            <a:off x="6400800" y="3017520"/>
            <a:ext cx="1188720" cy="640080"/>
          </a:xfrm>
          <a:prstGeom prst="rect">
            <a:avLst/>
          </a:prstGeom>
          <a:noFill/>
          <a:ln/>
        </p:spPr>
        <p:txBody>
          <a:bodyPr wrap="square" lIns="0" tIns="0" rIns="0" bIns="0" rtlCol="0" anchor="t"/>
          <a:lstStyle/>
          <a:p>
            <a:pPr indent="0" marL="0">
              <a:buNone/>
            </a:pPr>
            <a:r>
              <a:rPr lang="en-US" sz="2800" b="1" dirty="0">
                <a:solidFill>
                  <a:srgbClr val="E8702A"/>
                </a:solidFill>
                <a:latin typeface="Arial" pitchFamily="34" charset="0"/>
                <a:ea typeface="Arial" pitchFamily="34" charset="-122"/>
                <a:cs typeface="Arial" pitchFamily="34" charset="-120"/>
              </a:rPr>
              <a:t>370</a:t>
            </a:r>
            <a:endParaRPr lang="en-US" sz="2800" dirty="0"/>
          </a:p>
        </p:txBody>
      </p:sp>
      <p:sp>
        <p:nvSpPr>
          <p:cNvPr id="20" name="Text 18"/>
          <p:cNvSpPr txBox="1"/>
          <p:nvPr/>
        </p:nvSpPr>
        <p:spPr>
          <a:xfrm>
            <a:off x="7635240" y="3063240"/>
            <a:ext cx="4023360" cy="822960"/>
          </a:xfrm>
          <a:prstGeom prst="rect">
            <a:avLst/>
          </a:prstGeom>
          <a:noFill/>
          <a:ln/>
        </p:spPr>
        <p:txBody>
          <a:bodyPr wrap="square" lIns="0" tIns="0" rIns="0" bIns="0" rtlCol="0" anchor="t"/>
          <a:lstStyle/>
          <a:p>
            <a:pPr indent="0" marL="0">
              <a:buNone/>
            </a:pPr>
            <a:r>
              <a:rPr lang="en-US" sz="1400" dirty="0">
                <a:solidFill>
                  <a:srgbClr val="1B2838"/>
                </a:solidFill>
                <a:latin typeface="Calibri" pitchFamily="34" charset="0"/>
                <a:ea typeface="Calibri" pitchFamily="34" charset="-122"/>
                <a:cs typeface="Calibri" pitchFamily="34" charset="-120"/>
              </a:rPr>
              <a:t>stored in a nonstandard signed decimal format (0.27%)</a:t>
            </a:r>
            <a:endParaRPr lang="en-US" sz="1400" dirty="0"/>
          </a:p>
        </p:txBody>
      </p:sp>
      <p:sp>
        <p:nvSpPr>
          <p:cNvPr id="21" name="Text 19"/>
          <p:cNvSpPr txBox="1"/>
          <p:nvPr/>
        </p:nvSpPr>
        <p:spPr>
          <a:xfrm>
            <a:off x="6400800" y="3931920"/>
            <a:ext cx="1188720" cy="640080"/>
          </a:xfrm>
          <a:prstGeom prst="rect">
            <a:avLst/>
          </a:prstGeom>
          <a:noFill/>
          <a:ln/>
        </p:spPr>
        <p:txBody>
          <a:bodyPr wrap="square" lIns="0" tIns="0" rIns="0" bIns="0" rtlCol="0" anchor="t"/>
          <a:lstStyle/>
          <a:p>
            <a:pPr indent="0" marL="0">
              <a:buNone/>
            </a:pPr>
            <a:r>
              <a:rPr lang="en-US" sz="2800" b="1" dirty="0">
                <a:solidFill>
                  <a:srgbClr val="E8702A"/>
                </a:solidFill>
                <a:latin typeface="Arial" pitchFamily="34" charset="0"/>
                <a:ea typeface="Arial" pitchFamily="34" charset="-122"/>
                <a:cs typeface="Arial" pitchFamily="34" charset="-120"/>
              </a:rPr>
              <a:t>146</a:t>
            </a:r>
            <a:endParaRPr lang="en-US" sz="2800" dirty="0"/>
          </a:p>
        </p:txBody>
      </p:sp>
      <p:sp>
        <p:nvSpPr>
          <p:cNvPr id="22" name="Text 20"/>
          <p:cNvSpPr txBox="1"/>
          <p:nvPr/>
        </p:nvSpPr>
        <p:spPr>
          <a:xfrm>
            <a:off x="7635240" y="3977640"/>
            <a:ext cx="4023360" cy="822960"/>
          </a:xfrm>
          <a:prstGeom prst="rect">
            <a:avLst/>
          </a:prstGeom>
          <a:noFill/>
          <a:ln/>
        </p:spPr>
        <p:txBody>
          <a:bodyPr wrap="square" lIns="0" tIns="0" rIns="0" bIns="0" rtlCol="0" anchor="t"/>
          <a:lstStyle/>
          <a:p>
            <a:pPr indent="0" marL="0">
              <a:buNone/>
            </a:pPr>
            <a:r>
              <a:rPr lang="en-US" sz="1400" dirty="0">
                <a:solidFill>
                  <a:srgbClr val="1B2838"/>
                </a:solidFill>
                <a:latin typeface="Calibri" pitchFamily="34" charset="0"/>
                <a:ea typeface="Calibri" pitchFamily="34" charset="-122"/>
                <a:cs typeface="Calibri" pitchFamily="34" charset="-120"/>
              </a:rPr>
              <a:t>decode fine but land outside their state, e.g. placeholder codes 00000000 and 99999999</a:t>
            </a:r>
            <a:endParaRPr lang="en-US" sz="1400" dirty="0"/>
          </a:p>
        </p:txBody>
      </p:sp>
      <p:sp>
        <p:nvSpPr>
          <p:cNvPr id="23" name="Shape 21"/>
          <p:cNvSpPr/>
          <p:nvPr/>
        </p:nvSpPr>
        <p:spPr>
          <a:xfrm>
            <a:off x="6400800" y="4937760"/>
            <a:ext cx="5257800" cy="1097280"/>
          </a:xfrm>
          <a:prstGeom prst="roundRect">
            <a:avLst>
              <a:gd name="adj" fmla="val 6667"/>
            </a:avLst>
          </a:prstGeom>
          <a:solidFill>
            <a:srgbClr val="FDF0E7"/>
          </a:solidFill>
          <a:ln w="12700">
            <a:solidFill>
              <a:srgbClr val="FDF0E7"/>
            </a:solidFill>
            <a:prstDash val="solid"/>
          </a:ln>
        </p:spPr>
      </p:sp>
      <p:sp>
        <p:nvSpPr>
          <p:cNvPr id="24" name="Text 22"/>
          <p:cNvSpPr txBox="1"/>
          <p:nvPr/>
        </p:nvSpPr>
        <p:spPr>
          <a:xfrm>
            <a:off x="6629400" y="5047488"/>
            <a:ext cx="4846320" cy="914400"/>
          </a:xfrm>
          <a:prstGeom prst="rect">
            <a:avLst/>
          </a:prstGeom>
          <a:noFill/>
          <a:ln/>
        </p:spPr>
        <p:txBody>
          <a:bodyPr wrap="square" lIns="0" tIns="0" rIns="0" bIns="0" rtlCol="0" anchor="t"/>
          <a:lstStyle/>
          <a:p>
            <a:pPr indent="0" marL="0">
              <a:buNone/>
            </a:pPr>
            <a:r>
              <a:rPr lang="en-US" sz="1400" dirty="0">
                <a:solidFill>
                  <a:srgbClr val="1B2838"/>
                </a:solidFill>
                <a:latin typeface="Calibri" pitchFamily="34" charset="0"/>
                <a:ea typeface="Calibri" pitchFamily="34" charset="-122"/>
                <a:cs typeface="Calibri" pitchFamily="34" charset="-120"/>
              </a:rPr>
              <a:t>Decision: set these to missing rather than guess. Only 156 of 139,079 bridges (0.11%) lose their location, and a wrong location is worse than none on a risk map.</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320040"/>
          </a:xfrm>
          <a:prstGeom prst="rect">
            <a:avLst/>
          </a:prstGeom>
          <a:noFill/>
          <a:ln/>
        </p:spPr>
        <p:txBody>
          <a:bodyPr wrap="square" lIns="0" tIns="0" rIns="0" bIns="0" rtlCol="0" anchor="ctr"/>
          <a:lstStyle/>
          <a:p>
            <a:pPr indent="0" marL="0">
              <a:buNone/>
            </a:pPr>
            <a:r>
              <a:rPr lang="en-US" sz="1200" b="1" spc="200" kern="0" dirty="0">
                <a:solidFill>
                  <a:srgbClr val="E8702A"/>
                </a:solidFill>
                <a:latin typeface="Arial" pitchFamily="34" charset="0"/>
                <a:ea typeface="Arial" pitchFamily="34" charset="-122"/>
                <a:cs typeface="Arial" pitchFamily="34" charset="-120"/>
              </a:rPr>
              <a:t>DATA CLEANING</a:t>
            </a:r>
            <a:endParaRPr lang="en-US" sz="1200" dirty="0"/>
          </a:p>
        </p:txBody>
      </p:sp>
      <p:sp>
        <p:nvSpPr>
          <p:cNvPr id="3" name="Text 1"/>
          <p:cNvSpPr txBox="1"/>
          <p:nvPr/>
        </p:nvSpPr>
        <p:spPr>
          <a:xfrm>
            <a:off x="548640" y="640080"/>
            <a:ext cx="11064240" cy="685800"/>
          </a:xfrm>
          <a:prstGeom prst="rect">
            <a:avLst/>
          </a:prstGeom>
          <a:noFill/>
          <a:ln/>
        </p:spPr>
        <p:txBody>
          <a:bodyPr wrap="square" lIns="0" tIns="0" rIns="0" bIns="0" rtlCol="0" anchor="ctr"/>
          <a:lstStyle/>
          <a:p>
            <a:pPr indent="0" marL="0">
              <a:buNone/>
            </a:pPr>
            <a:r>
              <a:rPr lang="en-US" sz="3000" b="1" dirty="0">
                <a:solidFill>
                  <a:srgbClr val="1B2838"/>
                </a:solidFill>
                <a:latin typeface="Arial" pitchFamily="34" charset="0"/>
                <a:ea typeface="Arial" pitchFamily="34" charset="-122"/>
                <a:cs typeface="Arial" pitchFamily="34" charset="-120"/>
              </a:rPr>
              <a:t>Missing values: mostly small, and some are by design</a:t>
            </a:r>
            <a:endParaRPr lang="en-US" sz="3000" dirty="0"/>
          </a:p>
        </p:txBody>
      </p:sp>
      <p:sp>
        <p:nvSpPr>
          <p:cNvPr id="4" name="Text 2"/>
          <p:cNvSpPr txBox="1"/>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rgbClr val="5B6B7A"/>
                </a:solidFill>
                <a:latin typeface="Calibri" pitchFamily="34" charset="0"/>
                <a:ea typeface="Calibri" pitchFamily="34" charset="-122"/>
                <a:cs typeface="Calibri" pitchFamily="34" charset="-120"/>
              </a:rPr>
              <a:t>BridgeWatch AI  ·  UMBC DATA 606</a:t>
            </a:r>
            <a:endParaRPr lang="en-US" sz="1000" dirty="0"/>
          </a:p>
        </p:txBody>
      </p:sp>
      <p:sp>
        <p:nvSpPr>
          <p:cNvPr id="5" name="Text 3"/>
          <p:cNvSpPr txBox="1"/>
          <p:nvPr/>
        </p:nvSpPr>
        <p:spPr>
          <a:xfrm>
            <a:off x="10725912" y="6400800"/>
            <a:ext cx="914400" cy="274320"/>
          </a:xfrm>
          <a:prstGeom prst="rect">
            <a:avLst/>
          </a:prstGeom>
          <a:noFill/>
          <a:ln/>
        </p:spPr>
        <p:txBody>
          <a:bodyPr wrap="square" lIns="0" tIns="0" rIns="0" bIns="0" rtlCol="0" anchor="ctr"/>
          <a:lstStyle/>
          <a:p>
            <a:pPr algn="r" indent="0" marL="0">
              <a:buNone/>
            </a:pPr>
            <a:r>
              <a:rPr lang="en-US" sz="1000" dirty="0">
                <a:solidFill>
                  <a:srgbClr val="5B6B7A"/>
                </a:solidFill>
                <a:latin typeface="Calibri" pitchFamily="34" charset="0"/>
                <a:ea typeface="Calibri" pitchFamily="34" charset="-122"/>
                <a:cs typeface="Calibri" pitchFamily="34" charset="-120"/>
              </a:rPr>
              <a:t>8</a:t>
            </a:r>
            <a:endParaRPr lang="en-US" sz="1000" dirty="0"/>
          </a:p>
        </p:txBody>
      </p:sp>
      <p:graphicFrame>
        <p:nvGraphicFramePr>
          <p:cNvPr id="6" name="Chart 0" descr=""/>
          <p:cNvGraphicFramePr/>
          <p:nvPr/>
        </p:nvGraphicFramePr>
        <p:xfrm>
          <a:off x="548640" y="1554480"/>
          <a:ext cx="6035040" cy="3931920"/>
        </p:xfrm>
        <a:graphic xmlns:a="http://schemas.openxmlformats.org/drawingml/2006/main">
          <a:graphicData uri="http://schemas.openxmlformats.org/drawingml/2006/chart">
            <c:chart xmlns:c="http://schemas.openxmlformats.org/drawingml/2006/chart" r:id="rId1"/>
          </a:graphicData>
        </a:graphic>
      </p:graphicFrame>
      <p:sp>
        <p:nvSpPr>
          <p:cNvPr id="7" name="Text 4"/>
          <p:cNvSpPr txBox="1"/>
          <p:nvPr/>
        </p:nvSpPr>
        <p:spPr>
          <a:xfrm>
            <a:off x="548640" y="5577840"/>
            <a:ext cx="5943600" cy="365760"/>
          </a:xfrm>
          <a:prstGeom prst="rect">
            <a:avLst/>
          </a:prstGeom>
          <a:noFill/>
          <a:ln/>
        </p:spPr>
        <p:txBody>
          <a:bodyPr wrap="square" lIns="0" tIns="0" rIns="0" bIns="0" rtlCol="0" anchor="t"/>
          <a:lstStyle/>
          <a:p>
            <a:pPr indent="0" marL="0">
              <a:buNone/>
            </a:pPr>
            <a:r>
              <a:rPr lang="en-US" sz="1300" dirty="0">
                <a:solidFill>
                  <a:srgbClr val="5B6B7A"/>
                </a:solidFill>
                <a:latin typeface="Calibri" pitchFamily="34" charset="0"/>
                <a:ea typeface="Calibri" pitchFamily="34" charset="-122"/>
                <a:cs typeface="Calibri" pitchFamily="34" charset="-120"/>
              </a:rPr>
              <a:t>Every other feature is 0% missing.</a:t>
            </a:r>
            <a:endParaRPr lang="en-US" sz="1300" dirty="0"/>
          </a:p>
        </p:txBody>
      </p:sp>
      <p:sp>
        <p:nvSpPr>
          <p:cNvPr id="8" name="Shape 5"/>
          <p:cNvSpPr/>
          <p:nvPr/>
        </p:nvSpPr>
        <p:spPr>
          <a:xfrm>
            <a:off x="6949440" y="1600200"/>
            <a:ext cx="502920" cy="502920"/>
          </a:xfrm>
          <a:prstGeom prst="ellipse">
            <a:avLst/>
          </a:prstGeom>
          <a:solidFill>
            <a:srgbClr val="E8702A"/>
          </a:solidFill>
          <a:ln w="12700">
            <a:solidFill>
              <a:srgbClr val="E8702A"/>
            </a:solidFill>
            <a:prstDash val="solid"/>
          </a:ln>
        </p:spPr>
      </p:sp>
      <p:pic>
        <p:nvPicPr>
          <p:cNvPr id="9" name="Image 0" descr="preencoded.png">    </p:cNvPr>
          <p:cNvPicPr>
            <a:picLocks noChangeAspect="1"/>
          </p:cNvPicPr>
          <p:nvPr/>
        </p:nvPicPr>
        <p:blipFill>
          <a:blip r:embed="rId2"/>
          <a:stretch>
            <a:fillRect/>
          </a:stretch>
        </p:blipFill>
        <p:spPr>
          <a:xfrm>
            <a:off x="7075170" y="1725930"/>
            <a:ext cx="251460" cy="251460"/>
          </a:xfrm>
          <a:prstGeom prst="rect">
            <a:avLst/>
          </a:prstGeom>
        </p:spPr>
      </p:pic>
      <p:sp>
        <p:nvSpPr>
          <p:cNvPr id="10" name="Text 6"/>
          <p:cNvSpPr txBox="1"/>
          <p:nvPr/>
        </p:nvSpPr>
        <p:spPr>
          <a:xfrm>
            <a:off x="7635240" y="1581912"/>
            <a:ext cx="4023360" cy="365760"/>
          </a:xfrm>
          <a:prstGeom prst="rect">
            <a:avLst/>
          </a:prstGeom>
          <a:noFill/>
          <a:ln/>
        </p:spPr>
        <p:txBody>
          <a:bodyPr wrap="square" lIns="0" tIns="0" rIns="0" bIns="0" rtlCol="0" anchor="t"/>
          <a:lstStyle/>
          <a:p>
            <a:pPr indent="0" marL="0">
              <a:buNone/>
            </a:pPr>
            <a:r>
              <a:rPr lang="en-US" sz="1600" b="1" dirty="0">
                <a:solidFill>
                  <a:srgbClr val="1B2838"/>
                </a:solidFill>
                <a:latin typeface="Arial" pitchFamily="34" charset="0"/>
                <a:ea typeface="Arial" pitchFamily="34" charset="-122"/>
                <a:cs typeface="Arial" pitchFamily="34" charset="-120"/>
              </a:rPr>
              <a:t>Missing by design</a:t>
            </a:r>
            <a:endParaRPr lang="en-US" sz="1600" dirty="0"/>
          </a:p>
        </p:txBody>
      </p:sp>
      <p:sp>
        <p:nvSpPr>
          <p:cNvPr id="11" name="Text 7"/>
          <p:cNvSpPr txBox="1"/>
          <p:nvPr/>
        </p:nvSpPr>
        <p:spPr>
          <a:xfrm>
            <a:off x="7635240" y="1965960"/>
            <a:ext cx="4023360" cy="1051560"/>
          </a:xfrm>
          <a:prstGeom prst="rect">
            <a:avLst/>
          </a:prstGeom>
          <a:noFill/>
          <a:ln/>
        </p:spPr>
        <p:txBody>
          <a:bodyPr wrap="square" lIns="0" tIns="0" rIns="0" bIns="0" rtlCol="0" anchor="t"/>
          <a:lstStyle/>
          <a:p>
            <a:pPr indent="0" marL="0">
              <a:buNone/>
            </a:pPr>
            <a:r>
              <a:rPr lang="en-US" sz="1350" dirty="0">
                <a:solidFill>
                  <a:srgbClr val="5B6B7A"/>
                </a:solidFill>
                <a:latin typeface="Calibri" pitchFamily="34" charset="0"/>
                <a:ea typeface="Calibri" pitchFamily="34" charset="-122"/>
                <a:cs typeface="Calibri" pitchFamily="34" charset="-120"/>
              </a:rPr>
              <a:t>Culverts only have a culvert rating; other bridges only have deck, superstructure, and substructure ratings. So the target uses LOWEST_RATING, which covers both.</a:t>
            </a:r>
            <a:endParaRPr lang="en-US" sz="1350" dirty="0"/>
          </a:p>
        </p:txBody>
      </p:sp>
      <p:sp>
        <p:nvSpPr>
          <p:cNvPr id="12" name="Shape 8"/>
          <p:cNvSpPr/>
          <p:nvPr/>
        </p:nvSpPr>
        <p:spPr>
          <a:xfrm>
            <a:off x="6949440" y="3081528"/>
            <a:ext cx="502920" cy="502920"/>
          </a:xfrm>
          <a:prstGeom prst="ellipse">
            <a:avLst/>
          </a:prstGeom>
          <a:solidFill>
            <a:srgbClr val="E8702A"/>
          </a:solidFill>
          <a:ln w="12700">
            <a:solidFill>
              <a:srgbClr val="E8702A"/>
            </a:solidFill>
            <a:prstDash val="solid"/>
          </a:ln>
        </p:spPr>
      </p:sp>
      <p:pic>
        <p:nvPicPr>
          <p:cNvPr id="13" name="Image 1" descr="preencoded.png">    </p:cNvPr>
          <p:cNvPicPr>
            <a:picLocks noChangeAspect="1"/>
          </p:cNvPicPr>
          <p:nvPr/>
        </p:nvPicPr>
        <p:blipFill>
          <a:blip r:embed="rId3"/>
          <a:stretch>
            <a:fillRect/>
          </a:stretch>
        </p:blipFill>
        <p:spPr>
          <a:xfrm>
            <a:off x="7075170" y="3207258"/>
            <a:ext cx="251460" cy="251460"/>
          </a:xfrm>
          <a:prstGeom prst="rect">
            <a:avLst/>
          </a:prstGeom>
        </p:spPr>
      </p:pic>
      <p:sp>
        <p:nvSpPr>
          <p:cNvPr id="14" name="Text 9"/>
          <p:cNvSpPr txBox="1"/>
          <p:nvPr/>
        </p:nvSpPr>
        <p:spPr>
          <a:xfrm>
            <a:off x="7635240" y="3063240"/>
            <a:ext cx="4023360" cy="365760"/>
          </a:xfrm>
          <a:prstGeom prst="rect">
            <a:avLst/>
          </a:prstGeom>
          <a:noFill/>
          <a:ln/>
        </p:spPr>
        <p:txBody>
          <a:bodyPr wrap="square" lIns="0" tIns="0" rIns="0" bIns="0" rtlCol="0" anchor="t"/>
          <a:lstStyle/>
          <a:p>
            <a:pPr indent="0" marL="0">
              <a:buNone/>
            </a:pPr>
            <a:r>
              <a:rPr lang="en-US" sz="1600" b="1" dirty="0">
                <a:solidFill>
                  <a:srgbClr val="1B2838"/>
                </a:solidFill>
                <a:latin typeface="Arial" pitchFamily="34" charset="0"/>
                <a:ea typeface="Arial" pitchFamily="34" charset="-122"/>
                <a:cs typeface="Arial" pitchFamily="34" charset="-120"/>
              </a:rPr>
              <a:t>Weather gaps are coastal</a:t>
            </a:r>
            <a:endParaRPr lang="en-US" sz="1600" dirty="0"/>
          </a:p>
        </p:txBody>
      </p:sp>
      <p:sp>
        <p:nvSpPr>
          <p:cNvPr id="15" name="Text 10"/>
          <p:cNvSpPr txBox="1"/>
          <p:nvPr/>
        </p:nvSpPr>
        <p:spPr>
          <a:xfrm>
            <a:off x="7635240" y="3447288"/>
            <a:ext cx="4023360" cy="1051560"/>
          </a:xfrm>
          <a:prstGeom prst="rect">
            <a:avLst/>
          </a:prstGeom>
          <a:noFill/>
          <a:ln/>
        </p:spPr>
        <p:txBody>
          <a:bodyPr wrap="square" lIns="0" tIns="0" rIns="0" bIns="0" rtlCol="0" anchor="t"/>
          <a:lstStyle/>
          <a:p>
            <a:pPr indent="0" marL="0">
              <a:buNone/>
            </a:pPr>
            <a:r>
              <a:rPr lang="en-US" sz="1350" dirty="0">
                <a:solidFill>
                  <a:srgbClr val="5B6B7A"/>
                </a:solidFill>
                <a:latin typeface="Calibri" pitchFamily="34" charset="0"/>
                <a:ea typeface="Calibri" pitchFamily="34" charset="-122"/>
                <a:cs typeface="Calibri" pitchFamily="34" charset="-120"/>
              </a:rPr>
              <a:t>About 1.4% of bridges sit next to a grid cell just offshore, so they get no temperature values.</a:t>
            </a:r>
            <a:endParaRPr lang="en-US" sz="1350" dirty="0"/>
          </a:p>
        </p:txBody>
      </p:sp>
      <p:sp>
        <p:nvSpPr>
          <p:cNvPr id="16" name="Shape 11"/>
          <p:cNvSpPr/>
          <p:nvPr/>
        </p:nvSpPr>
        <p:spPr>
          <a:xfrm>
            <a:off x="6949440" y="4562856"/>
            <a:ext cx="502920" cy="502920"/>
          </a:xfrm>
          <a:prstGeom prst="ellipse">
            <a:avLst/>
          </a:prstGeom>
          <a:solidFill>
            <a:srgbClr val="E8702A"/>
          </a:solidFill>
          <a:ln w="12700">
            <a:solidFill>
              <a:srgbClr val="E8702A"/>
            </a:solidFill>
            <a:prstDash val="solid"/>
          </a:ln>
        </p:spPr>
      </p:sp>
      <p:pic>
        <p:nvPicPr>
          <p:cNvPr id="17" name="Image 2" descr="preencoded.png">    </p:cNvPr>
          <p:cNvPicPr>
            <a:picLocks noChangeAspect="1"/>
          </p:cNvPicPr>
          <p:nvPr/>
        </p:nvPicPr>
        <p:blipFill>
          <a:blip r:embed="rId4"/>
          <a:stretch>
            <a:fillRect/>
          </a:stretch>
        </p:blipFill>
        <p:spPr>
          <a:xfrm>
            <a:off x="7075170" y="4688586"/>
            <a:ext cx="251460" cy="251460"/>
          </a:xfrm>
          <a:prstGeom prst="rect">
            <a:avLst/>
          </a:prstGeom>
        </p:spPr>
      </p:pic>
      <p:sp>
        <p:nvSpPr>
          <p:cNvPr id="18" name="Text 12"/>
          <p:cNvSpPr txBox="1"/>
          <p:nvPr/>
        </p:nvSpPr>
        <p:spPr>
          <a:xfrm>
            <a:off x="7635240" y="4544568"/>
            <a:ext cx="4023360" cy="365760"/>
          </a:xfrm>
          <a:prstGeom prst="rect">
            <a:avLst/>
          </a:prstGeom>
          <a:noFill/>
          <a:ln/>
        </p:spPr>
        <p:txBody>
          <a:bodyPr wrap="square" lIns="0" tIns="0" rIns="0" bIns="0" rtlCol="0" anchor="t"/>
          <a:lstStyle/>
          <a:p>
            <a:pPr indent="0" marL="0">
              <a:buNone/>
            </a:pPr>
            <a:r>
              <a:rPr lang="en-US" sz="1600" b="1" dirty="0">
                <a:solidFill>
                  <a:srgbClr val="1B2838"/>
                </a:solidFill>
                <a:latin typeface="Arial" pitchFamily="34" charset="0"/>
                <a:ea typeface="Arial" pitchFamily="34" charset="-122"/>
                <a:cs typeface="Arial" pitchFamily="34" charset="-120"/>
              </a:rPr>
              <a:t>How gaps are filled</a:t>
            </a:r>
            <a:endParaRPr lang="en-US" sz="1600" dirty="0"/>
          </a:p>
        </p:txBody>
      </p:sp>
      <p:sp>
        <p:nvSpPr>
          <p:cNvPr id="19" name="Text 13"/>
          <p:cNvSpPr txBox="1"/>
          <p:nvPr/>
        </p:nvSpPr>
        <p:spPr>
          <a:xfrm>
            <a:off x="7635240" y="4928616"/>
            <a:ext cx="4023360" cy="1051560"/>
          </a:xfrm>
          <a:prstGeom prst="rect">
            <a:avLst/>
          </a:prstGeom>
          <a:noFill/>
          <a:ln/>
        </p:spPr>
        <p:txBody>
          <a:bodyPr wrap="square" lIns="0" tIns="0" rIns="0" bIns="0" rtlCol="0" anchor="t"/>
          <a:lstStyle/>
          <a:p>
            <a:pPr indent="0" marL="0">
              <a:buNone/>
            </a:pPr>
            <a:r>
              <a:rPr lang="en-US" sz="1350" dirty="0">
                <a:solidFill>
                  <a:srgbClr val="5B6B7A"/>
                </a:solidFill>
                <a:latin typeface="Calibri" pitchFamily="34" charset="0"/>
                <a:ea typeface="Calibri" pitchFamily="34" charset="-122"/>
                <a:cs typeface="Calibri" pitchFamily="34" charset="-120"/>
              </a:rPr>
              <a:t>Inside the model: numbers get the median, categories get the most common value. Learned from training data only.</a:t>
            </a:r>
            <a:endParaRPr lang="en-US" sz="13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320040"/>
          </a:xfrm>
          <a:prstGeom prst="rect">
            <a:avLst/>
          </a:prstGeom>
          <a:noFill/>
          <a:ln/>
        </p:spPr>
        <p:txBody>
          <a:bodyPr wrap="square" lIns="0" tIns="0" rIns="0" bIns="0" rtlCol="0" anchor="ctr"/>
          <a:lstStyle/>
          <a:p>
            <a:pPr indent="0" marL="0">
              <a:buNone/>
            </a:pPr>
            <a:r>
              <a:rPr lang="en-US" sz="1200" b="1" spc="200" kern="0" dirty="0">
                <a:solidFill>
                  <a:srgbClr val="E8702A"/>
                </a:solidFill>
                <a:latin typeface="Arial" pitchFamily="34" charset="0"/>
                <a:ea typeface="Arial" pitchFamily="34" charset="-122"/>
                <a:cs typeface="Arial" pitchFamily="34" charset="-120"/>
              </a:rPr>
              <a:t>FEATURE SELECTION</a:t>
            </a:r>
            <a:endParaRPr lang="en-US" sz="1200" dirty="0"/>
          </a:p>
        </p:txBody>
      </p:sp>
      <p:sp>
        <p:nvSpPr>
          <p:cNvPr id="3" name="Text 1"/>
          <p:cNvSpPr txBox="1"/>
          <p:nvPr/>
        </p:nvSpPr>
        <p:spPr>
          <a:xfrm>
            <a:off x="548640" y="640080"/>
            <a:ext cx="11064240" cy="685800"/>
          </a:xfrm>
          <a:prstGeom prst="rect">
            <a:avLst/>
          </a:prstGeom>
          <a:noFill/>
          <a:ln/>
        </p:spPr>
        <p:txBody>
          <a:bodyPr wrap="square" lIns="0" tIns="0" rIns="0" bIns="0" rtlCol="0" anchor="ctr"/>
          <a:lstStyle/>
          <a:p>
            <a:pPr indent="0" marL="0">
              <a:buNone/>
            </a:pPr>
            <a:r>
              <a:rPr lang="en-US" sz="3000" b="1" dirty="0">
                <a:solidFill>
                  <a:srgbClr val="1B2838"/>
                </a:solidFill>
                <a:latin typeface="Arial" pitchFamily="34" charset="0"/>
                <a:ea typeface="Arial" pitchFamily="34" charset="-122"/>
                <a:cs typeface="Arial" pitchFamily="34" charset="-120"/>
              </a:rPr>
              <a:t>What goes into the model, and what stays out</a:t>
            </a:r>
            <a:endParaRPr lang="en-US" sz="3000" dirty="0"/>
          </a:p>
        </p:txBody>
      </p:sp>
      <p:sp>
        <p:nvSpPr>
          <p:cNvPr id="4" name="Text 2"/>
          <p:cNvSpPr txBox="1"/>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rgbClr val="5B6B7A"/>
                </a:solidFill>
                <a:latin typeface="Calibri" pitchFamily="34" charset="0"/>
                <a:ea typeface="Calibri" pitchFamily="34" charset="-122"/>
                <a:cs typeface="Calibri" pitchFamily="34" charset="-120"/>
              </a:rPr>
              <a:t>BridgeWatch AI  ·  UMBC DATA 606</a:t>
            </a:r>
            <a:endParaRPr lang="en-US" sz="1000" dirty="0"/>
          </a:p>
        </p:txBody>
      </p:sp>
      <p:sp>
        <p:nvSpPr>
          <p:cNvPr id="5" name="Text 3"/>
          <p:cNvSpPr txBox="1"/>
          <p:nvPr/>
        </p:nvSpPr>
        <p:spPr>
          <a:xfrm>
            <a:off x="10725912" y="6400800"/>
            <a:ext cx="914400" cy="274320"/>
          </a:xfrm>
          <a:prstGeom prst="rect">
            <a:avLst/>
          </a:prstGeom>
          <a:noFill/>
          <a:ln/>
        </p:spPr>
        <p:txBody>
          <a:bodyPr wrap="square" lIns="0" tIns="0" rIns="0" bIns="0" rtlCol="0" anchor="ctr"/>
          <a:lstStyle/>
          <a:p>
            <a:pPr algn="r" indent="0" marL="0">
              <a:buNone/>
            </a:pPr>
            <a:r>
              <a:rPr lang="en-US" sz="1000" dirty="0">
                <a:solidFill>
                  <a:srgbClr val="5B6B7A"/>
                </a:solidFill>
                <a:latin typeface="Calibri" pitchFamily="34" charset="0"/>
                <a:ea typeface="Calibri" pitchFamily="34" charset="-122"/>
                <a:cs typeface="Calibri" pitchFamily="34" charset="-120"/>
              </a:rPr>
              <a:t>9</a:t>
            </a:r>
            <a:endParaRPr lang="en-US" sz="1000" dirty="0"/>
          </a:p>
        </p:txBody>
      </p:sp>
      <p:sp>
        <p:nvSpPr>
          <p:cNvPr id="6" name="Shape 4"/>
          <p:cNvSpPr/>
          <p:nvPr/>
        </p:nvSpPr>
        <p:spPr>
          <a:xfrm>
            <a:off x="548640" y="1600200"/>
            <a:ext cx="6355080" cy="4480560"/>
          </a:xfrm>
          <a:prstGeom prst="roundRect">
            <a:avLst>
              <a:gd name="adj" fmla="val 1633"/>
            </a:avLst>
          </a:prstGeom>
          <a:solidFill>
            <a:srgbClr val="EEF1F4"/>
          </a:solidFill>
          <a:ln w="12700">
            <a:solidFill>
              <a:srgbClr val="EEF1F4"/>
            </a:solidFill>
            <a:prstDash val="solid"/>
          </a:ln>
        </p:spPr>
      </p:sp>
      <p:sp>
        <p:nvSpPr>
          <p:cNvPr id="7" name="Text 5"/>
          <p:cNvSpPr txBox="1"/>
          <p:nvPr/>
        </p:nvSpPr>
        <p:spPr>
          <a:xfrm>
            <a:off x="822960" y="1783080"/>
            <a:ext cx="5852160" cy="411480"/>
          </a:xfrm>
          <a:prstGeom prst="rect">
            <a:avLst/>
          </a:prstGeom>
          <a:noFill/>
          <a:ln/>
        </p:spPr>
        <p:txBody>
          <a:bodyPr wrap="square" lIns="0" tIns="0" rIns="0" bIns="0" rtlCol="0" anchor="t"/>
          <a:lstStyle/>
          <a:p>
            <a:pPr indent="0" marL="0">
              <a:buNone/>
            </a:pPr>
            <a:r>
              <a:rPr lang="en-US" sz="1900" b="1" dirty="0">
                <a:solidFill>
                  <a:srgbClr val="1B2838"/>
                </a:solidFill>
                <a:latin typeface="Arial" pitchFamily="34" charset="0"/>
                <a:ea typeface="Arial" pitchFamily="34" charset="-122"/>
                <a:cs typeface="Arial" pitchFamily="34" charset="-120"/>
              </a:rPr>
              <a:t>26 features kept</a:t>
            </a:r>
            <a:endParaRPr lang="en-US" sz="1900" dirty="0"/>
          </a:p>
        </p:txBody>
      </p:sp>
      <p:sp>
        <p:nvSpPr>
          <p:cNvPr id="8" name="Text 6"/>
          <p:cNvSpPr txBox="1"/>
          <p:nvPr/>
        </p:nvSpPr>
        <p:spPr>
          <a:xfrm>
            <a:off x="822960" y="2286000"/>
            <a:ext cx="5852160" cy="3657600"/>
          </a:xfrm>
          <a:prstGeom prst="rect">
            <a:avLst/>
          </a:prstGeom>
          <a:noFill/>
          <a:ln/>
        </p:spPr>
        <p:txBody>
          <a:bodyPr wrap="square" lIns="0" tIns="0" rIns="0" bIns="0" rtlCol="0" anchor="t"/>
          <a:lstStyle/>
          <a:p>
            <a:pPr marL="203200" indent="-203200">
              <a:spcAft>
                <a:spcPts val="600"/>
              </a:spcAft>
              <a:buSzPct val="100000"/>
              <a:buChar char="•"/>
            </a:pPr>
            <a:r>
              <a:rPr lang="en-US" sz="1400" b="1" dirty="0">
                <a:solidFill>
                  <a:srgbClr val="1B2838"/>
                </a:solidFill>
                <a:latin typeface="Calibri" pitchFamily="34" charset="0"/>
                <a:ea typeface="Calibri" pitchFamily="34" charset="-122"/>
                <a:cs typeface="Calibri" pitchFamily="34" charset="-120"/>
              </a:rPr>
              <a:t>Current condition: </a:t>
            </a:r>
            <a:pPr indent="0" marL="0">
              <a:buNone/>
            </a:pPr>
            <a:r>
              <a:rPr lang="en-US" sz="1400" dirty="0">
                <a:solidFill>
                  <a:srgbClr val="1B2838"/>
                </a:solidFill>
                <a:latin typeface="Calibri" pitchFamily="34" charset="0"/>
                <a:ea typeface="Calibri" pitchFamily="34" charset="-122"/>
                <a:cs typeface="Calibri" pitchFamily="34" charset="-120"/>
              </a:rPr>
              <a:t>LOWEST_RATING, deck / superstructure / substructure / culvert ratings</a:t>
            </a:r>
            <a:endParaRPr lang="en-US" sz="1400" dirty="0"/>
          </a:p>
          <a:p>
            <a:pPr marL="203200" indent="-203200">
              <a:spcAft>
                <a:spcPts val="600"/>
              </a:spcAft>
              <a:buSzPct val="100000"/>
              <a:buChar char="•"/>
            </a:pPr>
            <a:r>
              <a:rPr lang="en-US" sz="1400" b="1" dirty="0">
                <a:solidFill>
                  <a:srgbClr val="1B2838"/>
                </a:solidFill>
                <a:latin typeface="Calibri" pitchFamily="34" charset="0"/>
                <a:ea typeface="Calibri" pitchFamily="34" charset="-122"/>
                <a:cs typeface="Calibri" pitchFamily="34" charset="-120"/>
              </a:rPr>
              <a:t>Age and design: </a:t>
            </a:r>
            <a:pPr indent="0" marL="0">
              <a:buNone/>
            </a:pPr>
            <a:r>
              <a:rPr lang="en-US" sz="1400" dirty="0">
                <a:solidFill>
                  <a:srgbClr val="1B2838"/>
                </a:solidFill>
                <a:latin typeface="Calibri" pitchFamily="34" charset="0"/>
                <a:ea typeface="Calibri" pitchFamily="34" charset="-122"/>
                <a:cs typeface="Calibri" pitchFamily="34" charset="-120"/>
              </a:rPr>
              <a:t>age, material, structure type, deck type, spans, length, width</a:t>
            </a:r>
            <a:endParaRPr lang="en-US" sz="1400" dirty="0"/>
          </a:p>
          <a:p>
            <a:pPr marL="203200" indent="-203200">
              <a:spcAft>
                <a:spcPts val="600"/>
              </a:spcAft>
              <a:buSzPct val="100000"/>
              <a:buChar char="•"/>
            </a:pPr>
            <a:r>
              <a:rPr lang="en-US" sz="1400" b="1" dirty="0">
                <a:solidFill>
                  <a:srgbClr val="1B2838"/>
                </a:solidFill>
                <a:latin typeface="Calibri" pitchFamily="34" charset="0"/>
                <a:ea typeface="Calibri" pitchFamily="34" charset="-122"/>
                <a:cs typeface="Calibri" pitchFamily="34" charset="-120"/>
              </a:rPr>
              <a:t>Use: </a:t>
            </a:r>
            <a:pPr indent="0" marL="0">
              <a:buNone/>
            </a:pPr>
            <a:r>
              <a:rPr lang="en-US" sz="1400" dirty="0">
                <a:solidFill>
                  <a:srgbClr val="1B2838"/>
                </a:solidFill>
                <a:latin typeface="Calibri" pitchFamily="34" charset="0"/>
                <a:ea typeface="Calibri" pitchFamily="34" charset="-122"/>
                <a:cs typeface="Calibri" pitchFamily="34" charset="-120"/>
              </a:rPr>
              <a:t>daily traffic, truck share, lanes, inspection interval</a:t>
            </a:r>
            <a:endParaRPr lang="en-US" sz="1400" dirty="0"/>
          </a:p>
          <a:p>
            <a:pPr marL="203200" indent="-203200">
              <a:spcAft>
                <a:spcPts val="600"/>
              </a:spcAft>
              <a:buSzPct val="100000"/>
              <a:buChar char="•"/>
            </a:pPr>
            <a:r>
              <a:rPr lang="en-US" sz="1400" b="1" dirty="0">
                <a:solidFill>
                  <a:srgbClr val="1B2838"/>
                </a:solidFill>
                <a:latin typeface="Calibri" pitchFamily="34" charset="0"/>
                <a:ea typeface="Calibri" pitchFamily="34" charset="-122"/>
                <a:cs typeface="Calibri" pitchFamily="34" charset="-120"/>
              </a:rPr>
              <a:t>Risk and ownership: </a:t>
            </a:r>
            <a:pPr indent="0" marL="0">
              <a:buNone/>
            </a:pPr>
            <a:r>
              <a:rPr lang="en-US" sz="1400" dirty="0">
                <a:solidFill>
                  <a:srgbClr val="1B2838"/>
                </a:solidFill>
                <a:latin typeface="Calibri" pitchFamily="34" charset="0"/>
                <a:ea typeface="Calibri" pitchFamily="34" charset="-122"/>
                <a:cs typeface="Calibri" pitchFamily="34" charset="-120"/>
              </a:rPr>
              <a:t>scour rating, owner, state</a:t>
            </a:r>
            <a:endParaRPr lang="en-US" sz="1400" dirty="0"/>
          </a:p>
          <a:p>
            <a:pPr marL="203200" indent="-203200">
              <a:spcAft>
                <a:spcPts val="600"/>
              </a:spcAft>
              <a:buSzPct val="100000"/>
              <a:buChar char="•"/>
            </a:pPr>
            <a:r>
              <a:rPr lang="en-US" sz="1400" b="1" dirty="0">
                <a:solidFill>
                  <a:srgbClr val="1B2838"/>
                </a:solidFill>
                <a:latin typeface="Calibri" pitchFamily="34" charset="0"/>
                <a:ea typeface="Calibri" pitchFamily="34" charset="-122"/>
                <a:cs typeface="Calibri" pitchFamily="34" charset="-120"/>
              </a:rPr>
              <a:t>Location: </a:t>
            </a:r>
            <a:pPr indent="0" marL="0">
              <a:buNone/>
            </a:pPr>
            <a:r>
              <a:rPr lang="en-US" sz="1400" dirty="0">
                <a:solidFill>
                  <a:srgbClr val="1B2838"/>
                </a:solidFill>
                <a:latin typeface="Calibri" pitchFamily="34" charset="0"/>
                <a:ea typeface="Calibri" pitchFamily="34" charset="-122"/>
                <a:cs typeface="Calibri" pitchFamily="34" charset="-120"/>
              </a:rPr>
              <a:t>latitude, longitude</a:t>
            </a:r>
            <a:endParaRPr lang="en-US" sz="1400" dirty="0"/>
          </a:p>
          <a:p>
            <a:pPr marL="203200" indent="-203200">
              <a:spcAft>
                <a:spcPts val="600"/>
              </a:spcAft>
              <a:buSzPct val="100000"/>
              <a:buChar char="•"/>
            </a:pPr>
            <a:r>
              <a:rPr lang="en-US" sz="1400" b="1" dirty="0">
                <a:solidFill>
                  <a:srgbClr val="1B2838"/>
                </a:solidFill>
                <a:latin typeface="Calibri" pitchFamily="34" charset="0"/>
                <a:ea typeface="Calibri" pitchFamily="34" charset="-122"/>
                <a:cs typeface="Calibri" pitchFamily="34" charset="-120"/>
              </a:rPr>
              <a:t>Weather: </a:t>
            </a:r>
            <a:pPr indent="0" marL="0">
              <a:buNone/>
            </a:pPr>
            <a:r>
              <a:rPr lang="en-US" sz="1400" dirty="0">
                <a:solidFill>
                  <a:srgbClr val="1B2838"/>
                </a:solidFill>
                <a:latin typeface="Calibri" pitchFamily="34" charset="0"/>
                <a:ea typeface="Calibri" pitchFamily="34" charset="-122"/>
                <a:cs typeface="Calibri" pitchFamily="34" charset="-120"/>
              </a:rPr>
              <a:t>max / min / average temperature, precipitation, freeze and thaw days</a:t>
            </a:r>
            <a:endParaRPr lang="en-US" sz="1400" dirty="0"/>
          </a:p>
        </p:txBody>
      </p:sp>
      <p:sp>
        <p:nvSpPr>
          <p:cNvPr id="9" name="Text 7"/>
          <p:cNvSpPr txBox="1"/>
          <p:nvPr/>
        </p:nvSpPr>
        <p:spPr>
          <a:xfrm>
            <a:off x="7269480" y="1783080"/>
            <a:ext cx="4389120" cy="411480"/>
          </a:xfrm>
          <a:prstGeom prst="rect">
            <a:avLst/>
          </a:prstGeom>
          <a:noFill/>
          <a:ln/>
        </p:spPr>
        <p:txBody>
          <a:bodyPr wrap="square" lIns="0" tIns="0" rIns="0" bIns="0" rtlCol="0" anchor="t"/>
          <a:lstStyle/>
          <a:p>
            <a:pPr indent="0" marL="0">
              <a:buNone/>
            </a:pPr>
            <a:r>
              <a:rPr lang="en-US" sz="1900" b="1" dirty="0">
                <a:solidFill>
                  <a:srgbClr val="1B2838"/>
                </a:solidFill>
                <a:latin typeface="Arial" pitchFamily="34" charset="0"/>
                <a:ea typeface="Arial" pitchFamily="34" charset="-122"/>
                <a:cs typeface="Arial" pitchFamily="34" charset="-120"/>
              </a:rPr>
              <a:t>Left out, and why</a:t>
            </a:r>
            <a:endParaRPr lang="en-US" sz="1900" dirty="0"/>
          </a:p>
        </p:txBody>
      </p:sp>
      <p:sp>
        <p:nvSpPr>
          <p:cNvPr id="10" name="Text 8"/>
          <p:cNvSpPr txBox="1"/>
          <p:nvPr/>
        </p:nvSpPr>
        <p:spPr>
          <a:xfrm>
            <a:off x="7269480" y="2286000"/>
            <a:ext cx="4389120" cy="320040"/>
          </a:xfrm>
          <a:prstGeom prst="rect">
            <a:avLst/>
          </a:prstGeom>
          <a:noFill/>
          <a:ln/>
        </p:spPr>
        <p:txBody>
          <a:bodyPr wrap="square" lIns="0" tIns="0" rIns="0" bIns="0" rtlCol="0" anchor="t"/>
          <a:lstStyle/>
          <a:p>
            <a:pPr indent="0" marL="0">
              <a:buNone/>
            </a:pPr>
            <a:r>
              <a:rPr lang="en-US" sz="1500" b="1" dirty="0">
                <a:solidFill>
                  <a:srgbClr val="1B2838"/>
                </a:solidFill>
                <a:latin typeface="Calibri" pitchFamily="34" charset="0"/>
                <a:ea typeface="Calibri" pitchFamily="34" charset="-122"/>
                <a:cs typeface="Calibri" pitchFamily="34" charset="-120"/>
              </a:rPr>
              <a:t>Bridge ID</a:t>
            </a:r>
            <a:endParaRPr lang="en-US" sz="1500" dirty="0"/>
          </a:p>
        </p:txBody>
      </p:sp>
      <p:sp>
        <p:nvSpPr>
          <p:cNvPr id="11" name="Text 9"/>
          <p:cNvSpPr txBox="1"/>
          <p:nvPr/>
        </p:nvSpPr>
        <p:spPr>
          <a:xfrm>
            <a:off x="7269480" y="2587752"/>
            <a:ext cx="4389120" cy="365760"/>
          </a:xfrm>
          <a:prstGeom prst="rect">
            <a:avLst/>
          </a:prstGeom>
          <a:noFill/>
          <a:ln/>
        </p:spPr>
        <p:txBody>
          <a:bodyPr wrap="square" lIns="0" tIns="0" rIns="0" bIns="0" rtlCol="0" anchor="t"/>
          <a:lstStyle/>
          <a:p>
            <a:pPr indent="0" marL="0">
              <a:buNone/>
            </a:pPr>
            <a:r>
              <a:rPr lang="en-US" sz="1350" dirty="0">
                <a:solidFill>
                  <a:srgbClr val="5B6B7A"/>
                </a:solidFill>
                <a:latin typeface="Calibri" pitchFamily="34" charset="0"/>
                <a:ea typeface="Calibri" pitchFamily="34" charset="-122"/>
                <a:cs typeface="Calibri" pitchFamily="34" charset="-120"/>
              </a:rPr>
              <a:t>an identifier, not a predictor</a:t>
            </a:r>
            <a:endParaRPr lang="en-US" sz="1350" dirty="0"/>
          </a:p>
        </p:txBody>
      </p:sp>
      <p:sp>
        <p:nvSpPr>
          <p:cNvPr id="12" name="Text 10"/>
          <p:cNvSpPr txBox="1"/>
          <p:nvPr/>
        </p:nvSpPr>
        <p:spPr>
          <a:xfrm>
            <a:off x="7269480" y="3017520"/>
            <a:ext cx="4389120" cy="320040"/>
          </a:xfrm>
          <a:prstGeom prst="rect">
            <a:avLst/>
          </a:prstGeom>
          <a:noFill/>
          <a:ln/>
        </p:spPr>
        <p:txBody>
          <a:bodyPr wrap="square" lIns="0" tIns="0" rIns="0" bIns="0" rtlCol="0" anchor="t"/>
          <a:lstStyle/>
          <a:p>
            <a:pPr indent="0" marL="0">
              <a:buNone/>
            </a:pPr>
            <a:r>
              <a:rPr lang="en-US" sz="1500" b="1" dirty="0">
                <a:solidFill>
                  <a:srgbClr val="1B2838"/>
                </a:solidFill>
                <a:latin typeface="Calibri" pitchFamily="34" charset="0"/>
                <a:ea typeface="Calibri" pitchFamily="34" charset="-122"/>
                <a:cs typeface="Calibri" pitchFamily="34" charset="-120"/>
              </a:rPr>
              <a:t>Year built</a:t>
            </a:r>
            <a:endParaRPr lang="en-US" sz="1500" dirty="0"/>
          </a:p>
        </p:txBody>
      </p:sp>
      <p:sp>
        <p:nvSpPr>
          <p:cNvPr id="13" name="Text 11"/>
          <p:cNvSpPr txBox="1"/>
          <p:nvPr/>
        </p:nvSpPr>
        <p:spPr>
          <a:xfrm>
            <a:off x="7269480" y="3319272"/>
            <a:ext cx="4389120" cy="365760"/>
          </a:xfrm>
          <a:prstGeom prst="rect">
            <a:avLst/>
          </a:prstGeom>
          <a:noFill/>
          <a:ln/>
        </p:spPr>
        <p:txBody>
          <a:bodyPr wrap="square" lIns="0" tIns="0" rIns="0" bIns="0" rtlCol="0" anchor="t"/>
          <a:lstStyle/>
          <a:p>
            <a:pPr indent="0" marL="0">
              <a:buNone/>
            </a:pPr>
            <a:r>
              <a:rPr lang="en-US" sz="1350" dirty="0">
                <a:solidFill>
                  <a:srgbClr val="5B6B7A"/>
                </a:solidFill>
                <a:latin typeface="Calibri" pitchFamily="34" charset="0"/>
                <a:ea typeface="Calibri" pitchFamily="34" charset="-122"/>
                <a:cs typeface="Calibri" pitchFamily="34" charset="-120"/>
              </a:rPr>
              <a:t>replaced by age, which is more directly useful</a:t>
            </a:r>
            <a:endParaRPr lang="en-US" sz="1350" dirty="0"/>
          </a:p>
        </p:txBody>
      </p:sp>
      <p:sp>
        <p:nvSpPr>
          <p:cNvPr id="14" name="Text 12"/>
          <p:cNvSpPr txBox="1"/>
          <p:nvPr/>
        </p:nvSpPr>
        <p:spPr>
          <a:xfrm>
            <a:off x="7269480" y="3749040"/>
            <a:ext cx="4389120" cy="320040"/>
          </a:xfrm>
          <a:prstGeom prst="rect">
            <a:avLst/>
          </a:prstGeom>
          <a:noFill/>
          <a:ln/>
        </p:spPr>
        <p:txBody>
          <a:bodyPr wrap="square" lIns="0" tIns="0" rIns="0" bIns="0" rtlCol="0" anchor="t"/>
          <a:lstStyle/>
          <a:p>
            <a:pPr indent="0" marL="0">
              <a:buNone/>
            </a:pPr>
            <a:r>
              <a:rPr lang="en-US" sz="1500" b="1" dirty="0">
                <a:solidFill>
                  <a:srgbClr val="1B2838"/>
                </a:solidFill>
                <a:latin typeface="Calibri" pitchFamily="34" charset="0"/>
                <a:ea typeface="Calibri" pitchFamily="34" charset="-122"/>
                <a:cs typeface="Calibri" pitchFamily="34" charset="-120"/>
              </a:rPr>
              <a:t>Overall condition (G/F/P)</a:t>
            </a:r>
            <a:endParaRPr lang="en-US" sz="1500" dirty="0"/>
          </a:p>
        </p:txBody>
      </p:sp>
      <p:sp>
        <p:nvSpPr>
          <p:cNvPr id="15" name="Text 13"/>
          <p:cNvSpPr txBox="1"/>
          <p:nvPr/>
        </p:nvSpPr>
        <p:spPr>
          <a:xfrm>
            <a:off x="7269480" y="4050792"/>
            <a:ext cx="4389120" cy="365760"/>
          </a:xfrm>
          <a:prstGeom prst="rect">
            <a:avLst/>
          </a:prstGeom>
          <a:noFill/>
          <a:ln/>
        </p:spPr>
        <p:txBody>
          <a:bodyPr wrap="square" lIns="0" tIns="0" rIns="0" bIns="0" rtlCol="0" anchor="t"/>
          <a:lstStyle/>
          <a:p>
            <a:pPr indent="0" marL="0">
              <a:buNone/>
            </a:pPr>
            <a:r>
              <a:rPr lang="en-US" sz="1350" dirty="0">
                <a:solidFill>
                  <a:srgbClr val="5B6B7A"/>
                </a:solidFill>
                <a:latin typeface="Calibri" pitchFamily="34" charset="0"/>
                <a:ea typeface="Calibri" pitchFamily="34" charset="-122"/>
                <a:cs typeface="Calibri" pitchFamily="34" charset="-120"/>
              </a:rPr>
              <a:t>a coarse summary of the same ratings</a:t>
            </a:r>
            <a:endParaRPr lang="en-US" sz="1350" dirty="0"/>
          </a:p>
        </p:txBody>
      </p:sp>
      <p:sp>
        <p:nvSpPr>
          <p:cNvPr id="16" name="Text 14"/>
          <p:cNvSpPr txBox="1"/>
          <p:nvPr/>
        </p:nvSpPr>
        <p:spPr>
          <a:xfrm>
            <a:off x="7269480" y="4480560"/>
            <a:ext cx="4389120" cy="320040"/>
          </a:xfrm>
          <a:prstGeom prst="rect">
            <a:avLst/>
          </a:prstGeom>
          <a:noFill/>
          <a:ln/>
        </p:spPr>
        <p:txBody>
          <a:bodyPr wrap="square" lIns="0" tIns="0" rIns="0" bIns="0" rtlCol="0" anchor="t"/>
          <a:lstStyle/>
          <a:p>
            <a:pPr indent="0" marL="0">
              <a:buNone/>
            </a:pPr>
            <a:r>
              <a:rPr lang="en-US" sz="1500" b="1" dirty="0">
                <a:solidFill>
                  <a:srgbClr val="1B2838"/>
                </a:solidFill>
                <a:latin typeface="Calibri" pitchFamily="34" charset="0"/>
                <a:ea typeface="Calibri" pitchFamily="34" charset="-122"/>
                <a:cs typeface="Calibri" pitchFamily="34" charset="-120"/>
              </a:rPr>
              <a:t>Year columns</a:t>
            </a:r>
            <a:endParaRPr lang="en-US" sz="1500" dirty="0"/>
          </a:p>
        </p:txBody>
      </p:sp>
      <p:sp>
        <p:nvSpPr>
          <p:cNvPr id="17" name="Text 15"/>
          <p:cNvSpPr txBox="1"/>
          <p:nvPr/>
        </p:nvSpPr>
        <p:spPr>
          <a:xfrm>
            <a:off x="7269480" y="4782312"/>
            <a:ext cx="4389120" cy="365760"/>
          </a:xfrm>
          <a:prstGeom prst="rect">
            <a:avLst/>
          </a:prstGeom>
          <a:noFill/>
          <a:ln/>
        </p:spPr>
        <p:txBody>
          <a:bodyPr wrap="square" lIns="0" tIns="0" rIns="0" bIns="0" rtlCol="0" anchor="t"/>
          <a:lstStyle/>
          <a:p>
            <a:pPr indent="0" marL="0">
              <a:buNone/>
            </a:pPr>
            <a:r>
              <a:rPr lang="en-US" sz="1350" dirty="0">
                <a:solidFill>
                  <a:srgbClr val="5B6B7A"/>
                </a:solidFill>
                <a:latin typeface="Calibri" pitchFamily="34" charset="0"/>
                <a:ea typeface="Calibri" pitchFamily="34" charset="-122"/>
                <a:cs typeface="Calibri" pitchFamily="34" charset="-120"/>
              </a:rPr>
              <a:t>used only to split train and test</a:t>
            </a:r>
            <a:endParaRPr lang="en-US" sz="1350" dirty="0"/>
          </a:p>
        </p:txBody>
      </p:sp>
      <p:sp>
        <p:nvSpPr>
          <p:cNvPr id="18" name="Text 16"/>
          <p:cNvSpPr txBox="1"/>
          <p:nvPr/>
        </p:nvSpPr>
        <p:spPr>
          <a:xfrm>
            <a:off x="7269480" y="5212080"/>
            <a:ext cx="4389120" cy="320040"/>
          </a:xfrm>
          <a:prstGeom prst="rect">
            <a:avLst/>
          </a:prstGeom>
          <a:noFill/>
          <a:ln/>
        </p:spPr>
        <p:txBody>
          <a:bodyPr wrap="square" lIns="0" tIns="0" rIns="0" bIns="0" rtlCol="0" anchor="t"/>
          <a:lstStyle/>
          <a:p>
            <a:pPr indent="0" marL="0">
              <a:buNone/>
            </a:pPr>
            <a:r>
              <a:rPr lang="en-US" sz="1500" b="1" dirty="0">
                <a:solidFill>
                  <a:srgbClr val="1B2838"/>
                </a:solidFill>
                <a:latin typeface="Calibri" pitchFamily="34" charset="0"/>
                <a:ea typeface="Calibri" pitchFamily="34" charset="-122"/>
                <a:cs typeface="Calibri" pitchFamily="34" charset="-120"/>
              </a:rPr>
              <a:t>Spending per bridge</a:t>
            </a:r>
            <a:endParaRPr lang="en-US" sz="1500" dirty="0"/>
          </a:p>
        </p:txBody>
      </p:sp>
      <p:sp>
        <p:nvSpPr>
          <p:cNvPr id="19" name="Text 17"/>
          <p:cNvSpPr txBox="1"/>
          <p:nvPr/>
        </p:nvSpPr>
        <p:spPr>
          <a:xfrm>
            <a:off x="7269480" y="5513832"/>
            <a:ext cx="4389120" cy="365760"/>
          </a:xfrm>
          <a:prstGeom prst="rect">
            <a:avLst/>
          </a:prstGeom>
          <a:noFill/>
          <a:ln/>
        </p:spPr>
        <p:txBody>
          <a:bodyPr wrap="square" lIns="0" tIns="0" rIns="0" bIns="0" rtlCol="0" anchor="t"/>
          <a:lstStyle/>
          <a:p>
            <a:pPr indent="0" marL="0">
              <a:buNone/>
            </a:pPr>
            <a:r>
              <a:rPr lang="en-US" sz="1350" dirty="0">
                <a:solidFill>
                  <a:srgbClr val="5B6B7A"/>
                </a:solidFill>
                <a:latin typeface="Calibri" pitchFamily="34" charset="0"/>
                <a:ea typeface="Calibri" pitchFamily="34" charset="-122"/>
                <a:cs typeface="Calibri" pitchFamily="34" charset="-120"/>
              </a:rPr>
              <a:t>tested, then dropped (see results)</a:t>
            </a:r>
            <a:endParaRPr lang="en-US" sz="13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320040"/>
          </a:xfrm>
          <a:prstGeom prst="rect">
            <a:avLst/>
          </a:prstGeom>
          <a:noFill/>
          <a:ln/>
        </p:spPr>
        <p:txBody>
          <a:bodyPr wrap="square" lIns="0" tIns="0" rIns="0" bIns="0" rtlCol="0" anchor="ctr"/>
          <a:lstStyle/>
          <a:p>
            <a:pPr indent="0" marL="0">
              <a:buNone/>
            </a:pPr>
            <a:r>
              <a:rPr lang="en-US" sz="1200" b="1" spc="200" kern="0" dirty="0">
                <a:solidFill>
                  <a:srgbClr val="E8702A"/>
                </a:solidFill>
                <a:latin typeface="Arial" pitchFamily="34" charset="0"/>
                <a:ea typeface="Arial" pitchFamily="34" charset="-122"/>
                <a:cs typeface="Arial" pitchFamily="34" charset="-120"/>
              </a:rPr>
              <a:t>EXPLORATORY ANALYSIS</a:t>
            </a:r>
            <a:endParaRPr lang="en-US" sz="1200" dirty="0"/>
          </a:p>
        </p:txBody>
      </p:sp>
      <p:sp>
        <p:nvSpPr>
          <p:cNvPr id="3" name="Text 1"/>
          <p:cNvSpPr txBox="1"/>
          <p:nvPr/>
        </p:nvSpPr>
        <p:spPr>
          <a:xfrm>
            <a:off x="548640" y="640080"/>
            <a:ext cx="11064240" cy="685800"/>
          </a:xfrm>
          <a:prstGeom prst="rect">
            <a:avLst/>
          </a:prstGeom>
          <a:noFill/>
          <a:ln/>
        </p:spPr>
        <p:txBody>
          <a:bodyPr wrap="square" lIns="0" tIns="0" rIns="0" bIns="0" rtlCol="0" anchor="ctr"/>
          <a:lstStyle/>
          <a:p>
            <a:pPr indent="0" marL="0">
              <a:buNone/>
            </a:pPr>
            <a:r>
              <a:rPr lang="en-US" sz="3000" b="1" dirty="0">
                <a:solidFill>
                  <a:srgbClr val="1B2838"/>
                </a:solidFill>
                <a:latin typeface="Arial" pitchFamily="34" charset="0"/>
                <a:ea typeface="Arial" pitchFamily="34" charset="-122"/>
                <a:cs typeface="Arial" pitchFamily="34" charset="-120"/>
              </a:rPr>
              <a:t>What the bridge inventory looks like (2025)</a:t>
            </a:r>
            <a:endParaRPr lang="en-US" sz="3000" dirty="0"/>
          </a:p>
        </p:txBody>
      </p:sp>
      <p:sp>
        <p:nvSpPr>
          <p:cNvPr id="4" name="Text 2"/>
          <p:cNvSpPr txBox="1"/>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rgbClr val="5B6B7A"/>
                </a:solidFill>
                <a:latin typeface="Calibri" pitchFamily="34" charset="0"/>
                <a:ea typeface="Calibri" pitchFamily="34" charset="-122"/>
                <a:cs typeface="Calibri" pitchFamily="34" charset="-120"/>
              </a:rPr>
              <a:t>BridgeWatch AI  ·  UMBC DATA 606</a:t>
            </a:r>
            <a:endParaRPr lang="en-US" sz="1000" dirty="0"/>
          </a:p>
        </p:txBody>
      </p:sp>
      <p:sp>
        <p:nvSpPr>
          <p:cNvPr id="5" name="Text 3"/>
          <p:cNvSpPr txBox="1"/>
          <p:nvPr/>
        </p:nvSpPr>
        <p:spPr>
          <a:xfrm>
            <a:off x="10725912" y="6400800"/>
            <a:ext cx="914400" cy="274320"/>
          </a:xfrm>
          <a:prstGeom prst="rect">
            <a:avLst/>
          </a:prstGeom>
          <a:noFill/>
          <a:ln/>
        </p:spPr>
        <p:txBody>
          <a:bodyPr wrap="square" lIns="0" tIns="0" rIns="0" bIns="0" rtlCol="0" anchor="ctr"/>
          <a:lstStyle/>
          <a:p>
            <a:pPr algn="r" indent="0" marL="0">
              <a:buNone/>
            </a:pPr>
            <a:r>
              <a:rPr lang="en-US" sz="1000" dirty="0">
                <a:solidFill>
                  <a:srgbClr val="5B6B7A"/>
                </a:solidFill>
                <a:latin typeface="Calibri" pitchFamily="34" charset="0"/>
                <a:ea typeface="Calibri" pitchFamily="34" charset="-122"/>
                <a:cs typeface="Calibri" pitchFamily="34" charset="-120"/>
              </a:rPr>
              <a:t>10</a:t>
            </a:r>
            <a:endParaRPr lang="en-US" sz="1000" dirty="0"/>
          </a:p>
        </p:txBody>
      </p:sp>
      <p:sp>
        <p:nvSpPr>
          <p:cNvPr id="6" name="Text 4"/>
          <p:cNvSpPr txBox="1"/>
          <p:nvPr/>
        </p:nvSpPr>
        <p:spPr>
          <a:xfrm>
            <a:off x="548640" y="1645920"/>
            <a:ext cx="3474720" cy="731520"/>
          </a:xfrm>
          <a:prstGeom prst="rect">
            <a:avLst/>
          </a:prstGeom>
          <a:noFill/>
          <a:ln/>
        </p:spPr>
        <p:txBody>
          <a:bodyPr wrap="square" lIns="0" tIns="0" rIns="0" bIns="0" rtlCol="0" anchor="t"/>
          <a:lstStyle/>
          <a:p>
            <a:pPr indent="0" marL="0">
              <a:buNone/>
            </a:pPr>
            <a:r>
              <a:rPr lang="en-US" sz="4000" b="1" dirty="0">
                <a:solidFill>
                  <a:srgbClr val="E8702A"/>
                </a:solidFill>
                <a:latin typeface="Arial" pitchFamily="34" charset="0"/>
                <a:ea typeface="Arial" pitchFamily="34" charset="-122"/>
                <a:cs typeface="Arial" pitchFamily="34" charset="-120"/>
              </a:rPr>
              <a:t>50 yrs</a:t>
            </a:r>
            <a:endParaRPr lang="en-US" sz="4000" dirty="0"/>
          </a:p>
        </p:txBody>
      </p:sp>
      <p:sp>
        <p:nvSpPr>
          <p:cNvPr id="7" name="Text 5"/>
          <p:cNvSpPr txBox="1"/>
          <p:nvPr/>
        </p:nvSpPr>
        <p:spPr>
          <a:xfrm>
            <a:off x="548640" y="2395728"/>
            <a:ext cx="3474720" cy="548640"/>
          </a:xfrm>
          <a:prstGeom prst="rect">
            <a:avLst/>
          </a:prstGeom>
          <a:noFill/>
          <a:ln/>
        </p:spPr>
        <p:txBody>
          <a:bodyPr wrap="square" lIns="0" tIns="0" rIns="0" bIns="0" rtlCol="0" anchor="t"/>
          <a:lstStyle/>
          <a:p>
            <a:pPr indent="0" marL="0">
              <a:buNone/>
            </a:pPr>
            <a:r>
              <a:rPr lang="en-US" sz="1300" dirty="0">
                <a:solidFill>
                  <a:srgbClr val="5B6B7A"/>
                </a:solidFill>
                <a:latin typeface="Calibri" pitchFamily="34" charset="0"/>
                <a:ea typeface="Calibri" pitchFamily="34" charset="-122"/>
                <a:cs typeface="Calibri" pitchFamily="34" charset="-120"/>
              </a:rPr>
              <a:t>median bridge age (oldest listed: 225)</a:t>
            </a:r>
            <a:endParaRPr lang="en-US" sz="1300" dirty="0"/>
          </a:p>
        </p:txBody>
      </p:sp>
      <p:sp>
        <p:nvSpPr>
          <p:cNvPr id="8" name="Text 6"/>
          <p:cNvSpPr txBox="1"/>
          <p:nvPr/>
        </p:nvSpPr>
        <p:spPr>
          <a:xfrm>
            <a:off x="548640" y="3017520"/>
            <a:ext cx="3474720" cy="731520"/>
          </a:xfrm>
          <a:prstGeom prst="rect">
            <a:avLst/>
          </a:prstGeom>
          <a:noFill/>
          <a:ln/>
        </p:spPr>
        <p:txBody>
          <a:bodyPr wrap="square" lIns="0" tIns="0" rIns="0" bIns="0" rtlCol="0" anchor="t"/>
          <a:lstStyle/>
          <a:p>
            <a:pPr indent="0" marL="0">
              <a:buNone/>
            </a:pPr>
            <a:r>
              <a:rPr lang="en-US" sz="4000" b="1" dirty="0">
                <a:solidFill>
                  <a:srgbClr val="1B2838"/>
                </a:solidFill>
                <a:latin typeface="Arial" pitchFamily="34" charset="0"/>
                <a:ea typeface="Arial" pitchFamily="34" charset="-122"/>
                <a:cs typeface="Arial" pitchFamily="34" charset="-120"/>
              </a:rPr>
              <a:t>3,400</a:t>
            </a:r>
            <a:endParaRPr lang="en-US" sz="4000" dirty="0"/>
          </a:p>
        </p:txBody>
      </p:sp>
      <p:sp>
        <p:nvSpPr>
          <p:cNvPr id="9" name="Text 7"/>
          <p:cNvSpPr txBox="1"/>
          <p:nvPr/>
        </p:nvSpPr>
        <p:spPr>
          <a:xfrm>
            <a:off x="548640" y="3767328"/>
            <a:ext cx="3474720" cy="548640"/>
          </a:xfrm>
          <a:prstGeom prst="rect">
            <a:avLst/>
          </a:prstGeom>
          <a:noFill/>
          <a:ln/>
        </p:spPr>
        <p:txBody>
          <a:bodyPr wrap="square" lIns="0" tIns="0" rIns="0" bIns="0" rtlCol="0" anchor="t"/>
          <a:lstStyle/>
          <a:p>
            <a:pPr indent="0" marL="0">
              <a:buNone/>
            </a:pPr>
            <a:r>
              <a:rPr lang="en-US" sz="1300" dirty="0">
                <a:solidFill>
                  <a:srgbClr val="5B6B7A"/>
                </a:solidFill>
                <a:latin typeface="Calibri" pitchFamily="34" charset="0"/>
                <a:ea typeface="Calibri" pitchFamily="34" charset="-122"/>
                <a:cs typeface="Calibri" pitchFamily="34" charset="-120"/>
              </a:rPr>
              <a:t>median vehicles per day (range 0 to 810,110)</a:t>
            </a:r>
            <a:endParaRPr lang="en-US" sz="1300" dirty="0"/>
          </a:p>
        </p:txBody>
      </p:sp>
      <p:sp>
        <p:nvSpPr>
          <p:cNvPr id="10" name="Text 8"/>
          <p:cNvSpPr txBox="1"/>
          <p:nvPr/>
        </p:nvSpPr>
        <p:spPr>
          <a:xfrm>
            <a:off x="548640" y="4389120"/>
            <a:ext cx="3474720" cy="731520"/>
          </a:xfrm>
          <a:prstGeom prst="rect">
            <a:avLst/>
          </a:prstGeom>
          <a:noFill/>
          <a:ln/>
        </p:spPr>
        <p:txBody>
          <a:bodyPr wrap="square" lIns="0" tIns="0" rIns="0" bIns="0" rtlCol="0" anchor="t"/>
          <a:lstStyle/>
          <a:p>
            <a:pPr indent="0" marL="0">
              <a:buNone/>
            </a:pPr>
            <a:r>
              <a:rPr lang="en-US" sz="4000" b="1" dirty="0">
                <a:solidFill>
                  <a:srgbClr val="1B2838"/>
                </a:solidFill>
                <a:latin typeface="Arial" pitchFamily="34" charset="0"/>
                <a:ea typeface="Arial" pitchFamily="34" charset="-122"/>
                <a:cs typeface="Arial" pitchFamily="34" charset="-120"/>
              </a:rPr>
              <a:t>4.3%</a:t>
            </a:r>
            <a:endParaRPr lang="en-US" sz="4000" dirty="0"/>
          </a:p>
        </p:txBody>
      </p:sp>
      <p:sp>
        <p:nvSpPr>
          <p:cNvPr id="11" name="Text 9"/>
          <p:cNvSpPr txBox="1"/>
          <p:nvPr/>
        </p:nvSpPr>
        <p:spPr>
          <a:xfrm>
            <a:off x="548640" y="5138928"/>
            <a:ext cx="3474720" cy="548640"/>
          </a:xfrm>
          <a:prstGeom prst="rect">
            <a:avLst/>
          </a:prstGeom>
          <a:noFill/>
          <a:ln/>
        </p:spPr>
        <p:txBody>
          <a:bodyPr wrap="square" lIns="0" tIns="0" rIns="0" bIns="0" rtlCol="0" anchor="t"/>
          <a:lstStyle/>
          <a:p>
            <a:pPr indent="0" marL="0">
              <a:buNone/>
            </a:pPr>
            <a:r>
              <a:rPr lang="en-US" sz="1300" dirty="0">
                <a:solidFill>
                  <a:srgbClr val="5B6B7A"/>
                </a:solidFill>
                <a:latin typeface="Calibri" pitchFamily="34" charset="0"/>
                <a:ea typeface="Calibri" pitchFamily="34" charset="-122"/>
                <a:cs typeface="Calibri" pitchFamily="34" charset="-120"/>
              </a:rPr>
              <a:t>of bridges rated Poor overall (46.7% Good, 49.0% Fair)</a:t>
            </a:r>
            <a:endParaRPr lang="en-US" sz="1300" dirty="0"/>
          </a:p>
        </p:txBody>
      </p:sp>
      <p:graphicFrame>
        <p:nvGraphicFramePr>
          <p:cNvPr id="12" name="Chart 0" descr=""/>
          <p:cNvGraphicFramePr/>
          <p:nvPr/>
        </p:nvGraphicFramePr>
        <p:xfrm>
          <a:off x="4389120" y="1554480"/>
          <a:ext cx="7223760" cy="4480560"/>
        </p:xfrm>
        <a:graphic xmlns:a="http://schemas.openxmlformats.org/drawingml/2006/main">
          <a:graphicData uri="http://schemas.openxmlformats.org/drawingml/2006/chart">
            <c:chart xmlns:c="http://schemas.openxmlformats.org/drawingml/2006/chart" r:id="rId1"/>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320040"/>
          </a:xfrm>
          <a:prstGeom prst="rect">
            <a:avLst/>
          </a:prstGeom>
          <a:noFill/>
          <a:ln/>
        </p:spPr>
        <p:txBody>
          <a:bodyPr wrap="square" lIns="0" tIns="0" rIns="0" bIns="0" rtlCol="0" anchor="ctr"/>
          <a:lstStyle/>
          <a:p>
            <a:pPr indent="0" marL="0">
              <a:buNone/>
            </a:pPr>
            <a:r>
              <a:rPr lang="en-US" sz="1200" b="1" spc="200" kern="0" dirty="0">
                <a:solidFill>
                  <a:srgbClr val="E8702A"/>
                </a:solidFill>
                <a:latin typeface="Arial" pitchFamily="34" charset="0"/>
                <a:ea typeface="Arial" pitchFamily="34" charset="-122"/>
                <a:cs typeface="Arial" pitchFamily="34" charset="-120"/>
              </a:rPr>
              <a:t>EXPLORATORY ANALYSIS</a:t>
            </a:r>
            <a:endParaRPr lang="en-US" sz="1200" dirty="0"/>
          </a:p>
        </p:txBody>
      </p:sp>
      <p:sp>
        <p:nvSpPr>
          <p:cNvPr id="3" name="Text 1"/>
          <p:cNvSpPr txBox="1"/>
          <p:nvPr/>
        </p:nvSpPr>
        <p:spPr>
          <a:xfrm>
            <a:off x="548640" y="640080"/>
            <a:ext cx="11064240" cy="685800"/>
          </a:xfrm>
          <a:prstGeom prst="rect">
            <a:avLst/>
          </a:prstGeom>
          <a:noFill/>
          <a:ln/>
        </p:spPr>
        <p:txBody>
          <a:bodyPr wrap="square" lIns="0" tIns="0" rIns="0" bIns="0" rtlCol="0" anchor="ctr"/>
          <a:lstStyle/>
          <a:p>
            <a:pPr indent="0" marL="0">
              <a:buNone/>
            </a:pPr>
            <a:r>
              <a:rPr lang="en-US" sz="3000" b="1" dirty="0">
                <a:solidFill>
                  <a:srgbClr val="1B2838"/>
                </a:solidFill>
                <a:latin typeface="Arial" pitchFamily="34" charset="0"/>
                <a:ea typeface="Arial" pitchFamily="34" charset="-122"/>
                <a:cs typeface="Arial" pitchFamily="34" charset="-120"/>
              </a:rPr>
              <a:t>How often do ratings drop?</a:t>
            </a:r>
            <a:endParaRPr lang="en-US" sz="3000" dirty="0"/>
          </a:p>
        </p:txBody>
      </p:sp>
      <p:sp>
        <p:nvSpPr>
          <p:cNvPr id="4" name="Text 2"/>
          <p:cNvSpPr txBox="1"/>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rgbClr val="5B6B7A"/>
                </a:solidFill>
                <a:latin typeface="Calibri" pitchFamily="34" charset="0"/>
                <a:ea typeface="Calibri" pitchFamily="34" charset="-122"/>
                <a:cs typeface="Calibri" pitchFamily="34" charset="-120"/>
              </a:rPr>
              <a:t>BridgeWatch AI  ·  UMBC DATA 606</a:t>
            </a:r>
            <a:endParaRPr lang="en-US" sz="1000" dirty="0"/>
          </a:p>
        </p:txBody>
      </p:sp>
      <p:sp>
        <p:nvSpPr>
          <p:cNvPr id="5" name="Text 3"/>
          <p:cNvSpPr txBox="1"/>
          <p:nvPr/>
        </p:nvSpPr>
        <p:spPr>
          <a:xfrm>
            <a:off x="10725912" y="6400800"/>
            <a:ext cx="914400" cy="274320"/>
          </a:xfrm>
          <a:prstGeom prst="rect">
            <a:avLst/>
          </a:prstGeom>
          <a:noFill/>
          <a:ln/>
        </p:spPr>
        <p:txBody>
          <a:bodyPr wrap="square" lIns="0" tIns="0" rIns="0" bIns="0" rtlCol="0" anchor="ctr"/>
          <a:lstStyle/>
          <a:p>
            <a:pPr algn="r" indent="0" marL="0">
              <a:buNone/>
            </a:pPr>
            <a:r>
              <a:rPr lang="en-US" sz="1000" dirty="0">
                <a:solidFill>
                  <a:srgbClr val="5B6B7A"/>
                </a:solidFill>
                <a:latin typeface="Calibri" pitchFamily="34" charset="0"/>
                <a:ea typeface="Calibri" pitchFamily="34" charset="-122"/>
                <a:cs typeface="Calibri" pitchFamily="34" charset="-120"/>
              </a:rPr>
              <a:t>11</a:t>
            </a:r>
            <a:endParaRPr lang="en-US" sz="1000" dirty="0"/>
          </a:p>
        </p:txBody>
      </p:sp>
      <p:graphicFrame>
        <p:nvGraphicFramePr>
          <p:cNvPr id="6" name="Chart 0" descr=""/>
          <p:cNvGraphicFramePr/>
          <p:nvPr/>
        </p:nvGraphicFramePr>
        <p:xfrm>
          <a:off x="548640" y="1554480"/>
          <a:ext cx="6583680" cy="4480560"/>
        </p:xfrm>
        <a:graphic xmlns:a="http://schemas.openxmlformats.org/drawingml/2006/main">
          <a:graphicData uri="http://schemas.openxmlformats.org/drawingml/2006/chart">
            <c:chart xmlns:c="http://schemas.openxmlformats.org/drawingml/2006/chart" r:id="rId1"/>
          </a:graphicData>
        </a:graphic>
      </p:graphicFrame>
      <p:graphicFrame>
        <p:nvGraphicFramePr>
          <p:cNvPr id="7" name="Chart 1" descr=""/>
          <p:cNvGraphicFramePr/>
          <p:nvPr/>
        </p:nvGraphicFramePr>
        <p:xfrm>
          <a:off x="7498080" y="1554480"/>
          <a:ext cx="4160520" cy="2560320"/>
        </p:xfrm>
        <a:graphic xmlns:a="http://schemas.openxmlformats.org/drawingml/2006/main">
          <a:graphicData uri="http://schemas.openxmlformats.org/drawingml/2006/chart">
            <c:chart xmlns:c="http://schemas.openxmlformats.org/drawingml/2006/chart" r:id="rId2"/>
          </a:graphicData>
        </a:graphic>
      </p:graphicFrame>
      <p:sp>
        <p:nvSpPr>
          <p:cNvPr id="8" name="Text 4"/>
          <p:cNvSpPr txBox="1"/>
          <p:nvPr/>
        </p:nvSpPr>
        <p:spPr>
          <a:xfrm>
            <a:off x="7498080" y="4343400"/>
            <a:ext cx="4160520" cy="1463040"/>
          </a:xfrm>
          <a:prstGeom prst="rect">
            <a:avLst/>
          </a:prstGeom>
          <a:noFill/>
          <a:ln/>
        </p:spPr>
        <p:txBody>
          <a:bodyPr wrap="square" lIns="0" tIns="0" rIns="0" bIns="0" rtlCol="0" anchor="t"/>
          <a:lstStyle/>
          <a:p>
            <a:pPr indent="0" marL="0">
              <a:buNone/>
            </a:pPr>
            <a:r>
              <a:rPr lang="en-US" sz="1500" dirty="0">
                <a:solidFill>
                  <a:srgbClr val="1B2838"/>
                </a:solidFill>
                <a:latin typeface="Calibri" pitchFamily="34" charset="0"/>
                <a:ea typeface="Calibri" pitchFamily="34" charset="-122"/>
                <a:cs typeface="Calibri" pitchFamily="34" charset="-120"/>
              </a:rPr>
              <a:t>Michigan and New York deteriorate at more than twice Maryland's rate. Year to year, the overall rate stays in a narrow 3.9% to 4.7% band.</a:t>
            </a:r>
            <a:endParaRPr lang="en-US" sz="15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320040"/>
          </a:xfrm>
          <a:prstGeom prst="rect">
            <a:avLst/>
          </a:prstGeom>
          <a:noFill/>
          <a:ln/>
        </p:spPr>
        <p:txBody>
          <a:bodyPr wrap="square" lIns="0" tIns="0" rIns="0" bIns="0" rtlCol="0" anchor="ctr"/>
          <a:lstStyle/>
          <a:p>
            <a:pPr indent="0" marL="0">
              <a:buNone/>
            </a:pPr>
            <a:r>
              <a:rPr lang="en-US" sz="1200" b="1" spc="200" kern="0" dirty="0">
                <a:solidFill>
                  <a:srgbClr val="E8702A"/>
                </a:solidFill>
                <a:latin typeface="Arial" pitchFamily="34" charset="0"/>
                <a:ea typeface="Arial" pitchFamily="34" charset="-122"/>
                <a:cs typeface="Arial" pitchFamily="34" charset="-120"/>
              </a:rPr>
              <a:t>KEY FINDING</a:t>
            </a:r>
            <a:endParaRPr lang="en-US" sz="1200" dirty="0"/>
          </a:p>
        </p:txBody>
      </p:sp>
      <p:sp>
        <p:nvSpPr>
          <p:cNvPr id="3" name="Text 1"/>
          <p:cNvSpPr txBox="1"/>
          <p:nvPr/>
        </p:nvSpPr>
        <p:spPr>
          <a:xfrm>
            <a:off x="548640" y="640080"/>
            <a:ext cx="11064240" cy="685800"/>
          </a:xfrm>
          <a:prstGeom prst="rect">
            <a:avLst/>
          </a:prstGeom>
          <a:noFill/>
          <a:ln/>
        </p:spPr>
        <p:txBody>
          <a:bodyPr wrap="square" lIns="0" tIns="0" rIns="0" bIns="0" rtlCol="0" anchor="ctr"/>
          <a:lstStyle/>
          <a:p>
            <a:pPr indent="0" marL="0">
              <a:buNone/>
            </a:pPr>
            <a:r>
              <a:rPr lang="en-US" sz="3000" b="1" dirty="0">
                <a:solidFill>
                  <a:srgbClr val="1B2838"/>
                </a:solidFill>
                <a:latin typeface="Arial" pitchFamily="34" charset="0"/>
                <a:ea typeface="Arial" pitchFamily="34" charset="-122"/>
                <a:cs typeface="Arial" pitchFamily="34" charset="-120"/>
              </a:rPr>
              <a:t>Top-rated bridges are the most likely to drop</a:t>
            </a:r>
            <a:endParaRPr lang="en-US" sz="3000" dirty="0"/>
          </a:p>
        </p:txBody>
      </p:sp>
      <p:sp>
        <p:nvSpPr>
          <p:cNvPr id="4" name="Text 2"/>
          <p:cNvSpPr txBox="1"/>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rgbClr val="5B6B7A"/>
                </a:solidFill>
                <a:latin typeface="Calibri" pitchFamily="34" charset="0"/>
                <a:ea typeface="Calibri" pitchFamily="34" charset="-122"/>
                <a:cs typeface="Calibri" pitchFamily="34" charset="-120"/>
              </a:rPr>
              <a:t>BridgeWatch AI  ·  UMBC DATA 606</a:t>
            </a:r>
            <a:endParaRPr lang="en-US" sz="1000" dirty="0"/>
          </a:p>
        </p:txBody>
      </p:sp>
      <p:sp>
        <p:nvSpPr>
          <p:cNvPr id="5" name="Text 3"/>
          <p:cNvSpPr txBox="1"/>
          <p:nvPr/>
        </p:nvSpPr>
        <p:spPr>
          <a:xfrm>
            <a:off x="10725912" y="6400800"/>
            <a:ext cx="914400" cy="274320"/>
          </a:xfrm>
          <a:prstGeom prst="rect">
            <a:avLst/>
          </a:prstGeom>
          <a:noFill/>
          <a:ln/>
        </p:spPr>
        <p:txBody>
          <a:bodyPr wrap="square" lIns="0" tIns="0" rIns="0" bIns="0" rtlCol="0" anchor="ctr"/>
          <a:lstStyle/>
          <a:p>
            <a:pPr algn="r" indent="0" marL="0">
              <a:buNone/>
            </a:pPr>
            <a:r>
              <a:rPr lang="en-US" sz="1000" dirty="0">
                <a:solidFill>
                  <a:srgbClr val="5B6B7A"/>
                </a:solidFill>
                <a:latin typeface="Calibri" pitchFamily="34" charset="0"/>
                <a:ea typeface="Calibri" pitchFamily="34" charset="-122"/>
                <a:cs typeface="Calibri" pitchFamily="34" charset="-120"/>
              </a:rPr>
              <a:t>12</a:t>
            </a:r>
            <a:endParaRPr lang="en-US" sz="1000" dirty="0"/>
          </a:p>
        </p:txBody>
      </p:sp>
      <p:graphicFrame>
        <p:nvGraphicFramePr>
          <p:cNvPr id="6" name="Chart 0" descr=""/>
          <p:cNvGraphicFramePr/>
          <p:nvPr/>
        </p:nvGraphicFramePr>
        <p:xfrm>
          <a:off x="548640" y="1554480"/>
          <a:ext cx="6766560" cy="4480560"/>
        </p:xfrm>
        <a:graphic xmlns:a="http://schemas.openxmlformats.org/drawingml/2006/main">
          <a:graphicData uri="http://schemas.openxmlformats.org/drawingml/2006/chart">
            <c:chart xmlns:c="http://schemas.openxmlformats.org/drawingml/2006/chart" r:id="rId1"/>
          </a:graphicData>
        </a:graphic>
      </p:graphicFrame>
      <p:sp>
        <p:nvSpPr>
          <p:cNvPr id="7" name="Shape 4"/>
          <p:cNvSpPr/>
          <p:nvPr/>
        </p:nvSpPr>
        <p:spPr>
          <a:xfrm>
            <a:off x="7680960" y="1600200"/>
            <a:ext cx="3977640" cy="4434840"/>
          </a:xfrm>
          <a:prstGeom prst="roundRect">
            <a:avLst>
              <a:gd name="adj" fmla="val 1839"/>
            </a:avLst>
          </a:prstGeom>
          <a:solidFill>
            <a:srgbClr val="EEF1F4"/>
          </a:solidFill>
          <a:ln w="12700">
            <a:solidFill>
              <a:srgbClr val="EEF1F4"/>
            </a:solidFill>
            <a:prstDash val="solid"/>
          </a:ln>
        </p:spPr>
      </p:sp>
      <p:sp>
        <p:nvSpPr>
          <p:cNvPr id="8" name="Text 5"/>
          <p:cNvSpPr txBox="1"/>
          <p:nvPr/>
        </p:nvSpPr>
        <p:spPr>
          <a:xfrm>
            <a:off x="7955280" y="1783080"/>
            <a:ext cx="3474720" cy="365760"/>
          </a:xfrm>
          <a:prstGeom prst="rect">
            <a:avLst/>
          </a:prstGeom>
          <a:noFill/>
          <a:ln/>
        </p:spPr>
        <p:txBody>
          <a:bodyPr wrap="square" lIns="0" tIns="0" rIns="0" bIns="0" rtlCol="0" anchor="t"/>
          <a:lstStyle/>
          <a:p>
            <a:pPr indent="0" marL="0">
              <a:buNone/>
            </a:pPr>
            <a:r>
              <a:rPr lang="en-US" sz="1800" b="1" dirty="0">
                <a:solidFill>
                  <a:srgbClr val="1B2838"/>
                </a:solidFill>
                <a:latin typeface="Arial" pitchFamily="34" charset="0"/>
                <a:ea typeface="Arial" pitchFamily="34" charset="-122"/>
                <a:cs typeface="Arial" pitchFamily="34" charset="-120"/>
              </a:rPr>
              <a:t>Why?</a:t>
            </a:r>
            <a:endParaRPr lang="en-US" sz="1800" dirty="0"/>
          </a:p>
        </p:txBody>
      </p:sp>
      <p:sp>
        <p:nvSpPr>
          <p:cNvPr id="9" name="Text 6"/>
          <p:cNvSpPr txBox="1"/>
          <p:nvPr/>
        </p:nvSpPr>
        <p:spPr>
          <a:xfrm>
            <a:off x="7955280" y="2194560"/>
            <a:ext cx="3474720" cy="1463040"/>
          </a:xfrm>
          <a:prstGeom prst="rect">
            <a:avLst/>
          </a:prstGeom>
          <a:noFill/>
          <a:ln/>
        </p:spPr>
        <p:txBody>
          <a:bodyPr wrap="square" lIns="0" tIns="0" rIns="0" bIns="0" rtlCol="0" anchor="t"/>
          <a:lstStyle/>
          <a:p>
            <a:pPr indent="0" marL="0">
              <a:buNone/>
            </a:pPr>
            <a:r>
              <a:rPr lang="en-US" sz="1400" dirty="0">
                <a:solidFill>
                  <a:srgbClr val="1B2838"/>
                </a:solidFill>
                <a:latin typeface="Calibri" pitchFamily="34" charset="0"/>
                <a:ea typeface="Calibri" pitchFamily="34" charset="-122"/>
                <a:cs typeface="Calibri" pitchFamily="34" charset="-120"/>
              </a:rPr>
              <a:t>A bridge rated 9 can only stay at 9 or go down, and new or freshly repaired bridges tend to settle from 9 to 8 as normal wear appears.</a:t>
            </a:r>
            <a:endParaRPr lang="en-US" sz="1400" dirty="0"/>
          </a:p>
        </p:txBody>
      </p:sp>
      <p:sp>
        <p:nvSpPr>
          <p:cNvPr id="10" name="Text 7"/>
          <p:cNvSpPr txBox="1"/>
          <p:nvPr/>
        </p:nvSpPr>
        <p:spPr>
          <a:xfrm>
            <a:off x="7955280" y="3703320"/>
            <a:ext cx="3474720" cy="365760"/>
          </a:xfrm>
          <a:prstGeom prst="rect">
            <a:avLst/>
          </a:prstGeom>
          <a:noFill/>
          <a:ln/>
        </p:spPr>
        <p:txBody>
          <a:bodyPr wrap="square" lIns="0" tIns="0" rIns="0" bIns="0" rtlCol="0" anchor="t"/>
          <a:lstStyle/>
          <a:p>
            <a:pPr indent="0" marL="0">
              <a:buNone/>
            </a:pPr>
            <a:r>
              <a:rPr lang="en-US" sz="1800" b="1" dirty="0">
                <a:solidFill>
                  <a:srgbClr val="1B2838"/>
                </a:solidFill>
                <a:latin typeface="Arial" pitchFamily="34" charset="0"/>
                <a:ea typeface="Arial" pitchFamily="34" charset="-122"/>
                <a:cs typeface="Arial" pitchFamily="34" charset="-120"/>
              </a:rPr>
              <a:t>What it means</a:t>
            </a:r>
            <a:endParaRPr lang="en-US" sz="1800" dirty="0"/>
          </a:p>
        </p:txBody>
      </p:sp>
      <p:sp>
        <p:nvSpPr>
          <p:cNvPr id="11" name="Text 8"/>
          <p:cNvSpPr txBox="1"/>
          <p:nvPr/>
        </p:nvSpPr>
        <p:spPr>
          <a:xfrm>
            <a:off x="7955280" y="4114800"/>
            <a:ext cx="3474720" cy="1828800"/>
          </a:xfrm>
          <a:prstGeom prst="rect">
            <a:avLst/>
          </a:prstGeom>
          <a:noFill/>
          <a:ln/>
        </p:spPr>
        <p:txBody>
          <a:bodyPr wrap="square" lIns="0" tIns="0" rIns="0" bIns="0" rtlCol="0" anchor="t"/>
          <a:lstStyle/>
          <a:p>
            <a:pPr indent="0" marL="0">
              <a:buNone/>
            </a:pPr>
            <a:r>
              <a:rPr lang="en-US" sz="1400" dirty="0">
                <a:solidFill>
                  <a:srgbClr val="1B2838"/>
                </a:solidFill>
                <a:latin typeface="Calibri" pitchFamily="34" charset="0"/>
                <a:ea typeface="Calibri" pitchFamily="34" charset="-122"/>
                <a:cs typeface="Calibri" pitchFamily="34" charset="-120"/>
              </a:rPr>
              <a:t>The label counts any one-point drop: 9 to 8 counts the same as 4 to 3. So the model predicts the chance of a rating drop, not the chance of a bridge becoming unsafe.</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320040"/>
          </a:xfrm>
          <a:prstGeom prst="rect">
            <a:avLst/>
          </a:prstGeom>
          <a:noFill/>
          <a:ln/>
        </p:spPr>
        <p:txBody>
          <a:bodyPr wrap="square" lIns="0" tIns="0" rIns="0" bIns="0" rtlCol="0" anchor="ctr"/>
          <a:lstStyle/>
          <a:p>
            <a:pPr indent="0" marL="0">
              <a:buNone/>
            </a:pPr>
            <a:r>
              <a:rPr lang="en-US" sz="1200" b="1" spc="200" kern="0" dirty="0">
                <a:solidFill>
                  <a:srgbClr val="E8702A"/>
                </a:solidFill>
                <a:latin typeface="Arial" pitchFamily="34" charset="0"/>
                <a:ea typeface="Arial" pitchFamily="34" charset="-122"/>
                <a:cs typeface="Arial" pitchFamily="34" charset="-120"/>
              </a:rPr>
              <a:t>EXPLORATORY ANALYSIS: WEATHER</a:t>
            </a:r>
            <a:endParaRPr lang="en-US" sz="1200" dirty="0"/>
          </a:p>
        </p:txBody>
      </p:sp>
      <p:sp>
        <p:nvSpPr>
          <p:cNvPr id="3" name="Text 1"/>
          <p:cNvSpPr txBox="1"/>
          <p:nvPr/>
        </p:nvSpPr>
        <p:spPr>
          <a:xfrm>
            <a:off x="548640" y="640080"/>
            <a:ext cx="11064240" cy="685800"/>
          </a:xfrm>
          <a:prstGeom prst="rect">
            <a:avLst/>
          </a:prstGeom>
          <a:noFill/>
          <a:ln/>
        </p:spPr>
        <p:txBody>
          <a:bodyPr wrap="square" lIns="0" tIns="0" rIns="0" bIns="0" rtlCol="0" anchor="ctr"/>
          <a:lstStyle/>
          <a:p>
            <a:pPr indent="0" marL="0">
              <a:buNone/>
            </a:pPr>
            <a:r>
              <a:rPr lang="en-US" sz="3000" b="1" dirty="0">
                <a:solidFill>
                  <a:srgbClr val="1B2838"/>
                </a:solidFill>
                <a:latin typeface="Arial" pitchFamily="34" charset="0"/>
                <a:ea typeface="Arial" pitchFamily="34" charset="-122"/>
                <a:cs typeface="Arial" pitchFamily="34" charset="-120"/>
              </a:rPr>
              <a:t>Climate differs sharply across the seven states</a:t>
            </a:r>
            <a:endParaRPr lang="en-US" sz="3000" dirty="0"/>
          </a:p>
        </p:txBody>
      </p:sp>
      <p:sp>
        <p:nvSpPr>
          <p:cNvPr id="4" name="Text 2"/>
          <p:cNvSpPr txBox="1"/>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rgbClr val="5B6B7A"/>
                </a:solidFill>
                <a:latin typeface="Calibri" pitchFamily="34" charset="0"/>
                <a:ea typeface="Calibri" pitchFamily="34" charset="-122"/>
                <a:cs typeface="Calibri" pitchFamily="34" charset="-120"/>
              </a:rPr>
              <a:t>BridgeWatch AI  ·  UMBC DATA 606</a:t>
            </a:r>
            <a:endParaRPr lang="en-US" sz="1000" dirty="0"/>
          </a:p>
        </p:txBody>
      </p:sp>
      <p:sp>
        <p:nvSpPr>
          <p:cNvPr id="5" name="Text 3"/>
          <p:cNvSpPr txBox="1"/>
          <p:nvPr/>
        </p:nvSpPr>
        <p:spPr>
          <a:xfrm>
            <a:off x="10725912" y="6400800"/>
            <a:ext cx="914400" cy="274320"/>
          </a:xfrm>
          <a:prstGeom prst="rect">
            <a:avLst/>
          </a:prstGeom>
          <a:noFill/>
          <a:ln/>
        </p:spPr>
        <p:txBody>
          <a:bodyPr wrap="square" lIns="0" tIns="0" rIns="0" bIns="0" rtlCol="0" anchor="ctr"/>
          <a:lstStyle/>
          <a:p>
            <a:pPr algn="r" indent="0" marL="0">
              <a:buNone/>
            </a:pPr>
            <a:r>
              <a:rPr lang="en-US" sz="1000" dirty="0">
                <a:solidFill>
                  <a:srgbClr val="5B6B7A"/>
                </a:solidFill>
                <a:latin typeface="Calibri" pitchFamily="34" charset="0"/>
                <a:ea typeface="Calibri" pitchFamily="34" charset="-122"/>
                <a:cs typeface="Calibri" pitchFamily="34" charset="-120"/>
              </a:rPr>
              <a:t>13</a:t>
            </a:r>
            <a:endParaRPr lang="en-US" sz="1000" dirty="0"/>
          </a:p>
        </p:txBody>
      </p:sp>
      <p:graphicFrame>
        <p:nvGraphicFramePr>
          <p:cNvPr id="6" name="Chart 0" descr=""/>
          <p:cNvGraphicFramePr/>
          <p:nvPr/>
        </p:nvGraphicFramePr>
        <p:xfrm>
          <a:off x="548640" y="1554480"/>
          <a:ext cx="6583680" cy="4480560"/>
        </p:xfrm>
        <a:graphic xmlns:a="http://schemas.openxmlformats.org/drawingml/2006/main">
          <a:graphicData uri="http://schemas.openxmlformats.org/drawingml/2006/chart">
            <c:chart xmlns:c="http://schemas.openxmlformats.org/drawingml/2006/chart" r:id="rId1"/>
          </a:graphicData>
        </a:graphic>
      </p:graphicFrame>
      <p:sp>
        <p:nvSpPr>
          <p:cNvPr id="7" name="Shape 4"/>
          <p:cNvSpPr/>
          <p:nvPr/>
        </p:nvSpPr>
        <p:spPr>
          <a:xfrm>
            <a:off x="7498080" y="1600200"/>
            <a:ext cx="502920" cy="502920"/>
          </a:xfrm>
          <a:prstGeom prst="ellipse">
            <a:avLst/>
          </a:prstGeom>
          <a:solidFill>
            <a:srgbClr val="E8702A"/>
          </a:solidFill>
          <a:ln w="12700">
            <a:solidFill>
              <a:srgbClr val="E8702A"/>
            </a:solidFill>
            <a:prstDash val="solid"/>
          </a:ln>
        </p:spPr>
      </p:sp>
      <p:pic>
        <p:nvPicPr>
          <p:cNvPr id="8" name="Image 0" descr="preencoded.png">    </p:cNvPr>
          <p:cNvPicPr>
            <a:picLocks noChangeAspect="1"/>
          </p:cNvPicPr>
          <p:nvPr/>
        </p:nvPicPr>
        <p:blipFill>
          <a:blip r:embed="rId2"/>
          <a:stretch>
            <a:fillRect/>
          </a:stretch>
        </p:blipFill>
        <p:spPr>
          <a:xfrm>
            <a:off x="7623810" y="1725930"/>
            <a:ext cx="251460" cy="251460"/>
          </a:xfrm>
          <a:prstGeom prst="rect">
            <a:avLst/>
          </a:prstGeom>
        </p:spPr>
      </p:pic>
      <p:sp>
        <p:nvSpPr>
          <p:cNvPr id="9" name="Text 5"/>
          <p:cNvSpPr txBox="1"/>
          <p:nvPr/>
        </p:nvSpPr>
        <p:spPr>
          <a:xfrm>
            <a:off x="8183880" y="1581912"/>
            <a:ext cx="3474720" cy="365760"/>
          </a:xfrm>
          <a:prstGeom prst="rect">
            <a:avLst/>
          </a:prstGeom>
          <a:noFill/>
          <a:ln/>
        </p:spPr>
        <p:txBody>
          <a:bodyPr wrap="square" lIns="0" tIns="0" rIns="0" bIns="0" rtlCol="0" anchor="t"/>
          <a:lstStyle/>
          <a:p>
            <a:pPr indent="0" marL="0">
              <a:buNone/>
            </a:pPr>
            <a:r>
              <a:rPr lang="en-US" sz="1600" b="1" dirty="0">
                <a:solidFill>
                  <a:srgbClr val="1B2838"/>
                </a:solidFill>
                <a:latin typeface="Arial" pitchFamily="34" charset="0"/>
                <a:ea typeface="Arial" pitchFamily="34" charset="-122"/>
                <a:cs typeface="Arial" pitchFamily="34" charset="-120"/>
              </a:rPr>
              <a:t>How it was built</a:t>
            </a:r>
            <a:endParaRPr lang="en-US" sz="1600" dirty="0"/>
          </a:p>
        </p:txBody>
      </p:sp>
      <p:sp>
        <p:nvSpPr>
          <p:cNvPr id="10" name="Text 6"/>
          <p:cNvSpPr txBox="1"/>
          <p:nvPr/>
        </p:nvSpPr>
        <p:spPr>
          <a:xfrm>
            <a:off x="8183880" y="1965960"/>
            <a:ext cx="3474720" cy="1051560"/>
          </a:xfrm>
          <a:prstGeom prst="rect">
            <a:avLst/>
          </a:prstGeom>
          <a:noFill/>
          <a:ln/>
        </p:spPr>
        <p:txBody>
          <a:bodyPr wrap="square" lIns="0" tIns="0" rIns="0" bIns="0" rtlCol="0" anchor="t"/>
          <a:lstStyle/>
          <a:p>
            <a:pPr indent="0" marL="0">
              <a:buNone/>
            </a:pPr>
            <a:r>
              <a:rPr lang="en-US" sz="1350" dirty="0">
                <a:solidFill>
                  <a:srgbClr val="5B6B7A"/>
                </a:solidFill>
                <a:latin typeface="Calibri" pitchFamily="34" charset="0"/>
                <a:ea typeface="Calibri" pitchFamily="34" charset="-122"/>
                <a:cs typeface="Calibri" pitchFamily="34" charset="-120"/>
              </a:rPr>
              <a:t>Each bridge was matched to its nearest ~5 km grid cell; daily values were summarized per year into 5 features.</a:t>
            </a:r>
            <a:endParaRPr lang="en-US" sz="1350" dirty="0"/>
          </a:p>
        </p:txBody>
      </p:sp>
      <p:sp>
        <p:nvSpPr>
          <p:cNvPr id="11" name="Shape 7"/>
          <p:cNvSpPr/>
          <p:nvPr/>
        </p:nvSpPr>
        <p:spPr>
          <a:xfrm>
            <a:off x="7498080" y="3081528"/>
            <a:ext cx="502920" cy="502920"/>
          </a:xfrm>
          <a:prstGeom prst="ellipse">
            <a:avLst/>
          </a:prstGeom>
          <a:solidFill>
            <a:srgbClr val="E8702A"/>
          </a:solidFill>
          <a:ln w="12700">
            <a:solidFill>
              <a:srgbClr val="E8702A"/>
            </a:solidFill>
            <a:prstDash val="solid"/>
          </a:ln>
        </p:spPr>
      </p:sp>
      <p:pic>
        <p:nvPicPr>
          <p:cNvPr id="12" name="Image 1" descr="preencoded.png">    </p:cNvPr>
          <p:cNvPicPr>
            <a:picLocks noChangeAspect="1"/>
          </p:cNvPicPr>
          <p:nvPr/>
        </p:nvPicPr>
        <p:blipFill>
          <a:blip r:embed="rId3"/>
          <a:stretch>
            <a:fillRect/>
          </a:stretch>
        </p:blipFill>
        <p:spPr>
          <a:xfrm>
            <a:off x="7623810" y="3207258"/>
            <a:ext cx="251460" cy="251460"/>
          </a:xfrm>
          <a:prstGeom prst="rect">
            <a:avLst/>
          </a:prstGeom>
        </p:spPr>
      </p:pic>
      <p:sp>
        <p:nvSpPr>
          <p:cNvPr id="13" name="Text 8"/>
          <p:cNvSpPr txBox="1"/>
          <p:nvPr/>
        </p:nvSpPr>
        <p:spPr>
          <a:xfrm>
            <a:off x="8183880" y="3063240"/>
            <a:ext cx="3474720" cy="365760"/>
          </a:xfrm>
          <a:prstGeom prst="rect">
            <a:avLst/>
          </a:prstGeom>
          <a:noFill/>
          <a:ln/>
        </p:spPr>
        <p:txBody>
          <a:bodyPr wrap="square" lIns="0" tIns="0" rIns="0" bIns="0" rtlCol="0" anchor="t"/>
          <a:lstStyle/>
          <a:p>
            <a:pPr indent="0" marL="0">
              <a:buNone/>
            </a:pPr>
            <a:r>
              <a:rPr lang="en-US" sz="1600" b="1" dirty="0">
                <a:solidFill>
                  <a:srgbClr val="1B2838"/>
                </a:solidFill>
                <a:latin typeface="Arial" pitchFamily="34" charset="0"/>
                <a:ea typeface="Arial" pitchFamily="34" charset="-122"/>
                <a:cs typeface="Arial" pitchFamily="34" charset="-120"/>
              </a:rPr>
              <a:t>How it joins</a:t>
            </a:r>
            <a:endParaRPr lang="en-US" sz="1600" dirty="0"/>
          </a:p>
        </p:txBody>
      </p:sp>
      <p:sp>
        <p:nvSpPr>
          <p:cNvPr id="14" name="Text 9"/>
          <p:cNvSpPr txBox="1"/>
          <p:nvPr/>
        </p:nvSpPr>
        <p:spPr>
          <a:xfrm>
            <a:off x="8183880" y="3447288"/>
            <a:ext cx="3474720" cy="1051560"/>
          </a:xfrm>
          <a:prstGeom prst="rect">
            <a:avLst/>
          </a:prstGeom>
          <a:noFill/>
          <a:ln/>
        </p:spPr>
        <p:txBody>
          <a:bodyPr wrap="square" lIns="0" tIns="0" rIns="0" bIns="0" rtlCol="0" anchor="t"/>
          <a:lstStyle/>
          <a:p>
            <a:pPr indent="0" marL="0">
              <a:buNone/>
            </a:pPr>
            <a:r>
              <a:rPr lang="en-US" sz="1350" dirty="0">
                <a:solidFill>
                  <a:srgbClr val="5B6B7A"/>
                </a:solidFill>
                <a:latin typeface="Calibri" pitchFamily="34" charset="0"/>
                <a:ea typeface="Calibri" pitchFamily="34" charset="-122"/>
                <a:cs typeface="Calibri" pitchFamily="34" charset="-120"/>
              </a:rPr>
              <a:t>On bridge ID and year. 98.5% of model rows get a weather match.</a:t>
            </a:r>
            <a:endParaRPr lang="en-US" sz="1350" dirty="0"/>
          </a:p>
        </p:txBody>
      </p:sp>
      <p:sp>
        <p:nvSpPr>
          <p:cNvPr id="15" name="Shape 10"/>
          <p:cNvSpPr/>
          <p:nvPr/>
        </p:nvSpPr>
        <p:spPr>
          <a:xfrm>
            <a:off x="7498080" y="4562856"/>
            <a:ext cx="502920" cy="502920"/>
          </a:xfrm>
          <a:prstGeom prst="ellipse">
            <a:avLst/>
          </a:prstGeom>
          <a:solidFill>
            <a:srgbClr val="E8702A"/>
          </a:solidFill>
          <a:ln w="12700">
            <a:solidFill>
              <a:srgbClr val="E8702A"/>
            </a:solidFill>
            <a:prstDash val="solid"/>
          </a:ln>
        </p:spPr>
      </p:sp>
      <p:pic>
        <p:nvPicPr>
          <p:cNvPr id="16" name="Image 2" descr="preencoded.png">    </p:cNvPr>
          <p:cNvPicPr>
            <a:picLocks noChangeAspect="1"/>
          </p:cNvPicPr>
          <p:nvPr/>
        </p:nvPicPr>
        <p:blipFill>
          <a:blip r:embed="rId4"/>
          <a:stretch>
            <a:fillRect/>
          </a:stretch>
        </p:blipFill>
        <p:spPr>
          <a:xfrm>
            <a:off x="7623810" y="4688586"/>
            <a:ext cx="251460" cy="251460"/>
          </a:xfrm>
          <a:prstGeom prst="rect">
            <a:avLst/>
          </a:prstGeom>
        </p:spPr>
      </p:pic>
      <p:sp>
        <p:nvSpPr>
          <p:cNvPr id="17" name="Text 11"/>
          <p:cNvSpPr txBox="1"/>
          <p:nvPr/>
        </p:nvSpPr>
        <p:spPr>
          <a:xfrm>
            <a:off x="8183880" y="4544568"/>
            <a:ext cx="3474720" cy="365760"/>
          </a:xfrm>
          <a:prstGeom prst="rect">
            <a:avLst/>
          </a:prstGeom>
          <a:noFill/>
          <a:ln/>
        </p:spPr>
        <p:txBody>
          <a:bodyPr wrap="square" lIns="0" tIns="0" rIns="0" bIns="0" rtlCol="0" anchor="t"/>
          <a:lstStyle/>
          <a:p>
            <a:pPr indent="0" marL="0">
              <a:buNone/>
            </a:pPr>
            <a:r>
              <a:rPr lang="en-US" sz="1600" b="1" dirty="0">
                <a:solidFill>
                  <a:srgbClr val="1B2838"/>
                </a:solidFill>
                <a:latin typeface="Arial" pitchFamily="34" charset="0"/>
                <a:ea typeface="Arial" pitchFamily="34" charset="-122"/>
                <a:cs typeface="Arial" pitchFamily="34" charset="-120"/>
              </a:rPr>
              <a:t>Why it matters</a:t>
            </a:r>
            <a:endParaRPr lang="en-US" sz="1600" dirty="0"/>
          </a:p>
        </p:txBody>
      </p:sp>
      <p:sp>
        <p:nvSpPr>
          <p:cNvPr id="18" name="Text 12"/>
          <p:cNvSpPr txBox="1"/>
          <p:nvPr/>
        </p:nvSpPr>
        <p:spPr>
          <a:xfrm>
            <a:off x="8183880" y="4928616"/>
            <a:ext cx="3474720" cy="1051560"/>
          </a:xfrm>
          <a:prstGeom prst="rect">
            <a:avLst/>
          </a:prstGeom>
          <a:noFill/>
          <a:ln/>
        </p:spPr>
        <p:txBody>
          <a:bodyPr wrap="square" lIns="0" tIns="0" rIns="0" bIns="0" rtlCol="0" anchor="t"/>
          <a:lstStyle/>
          <a:p>
            <a:pPr indent="0" marL="0">
              <a:buNone/>
            </a:pPr>
            <a:r>
              <a:rPr lang="en-US" sz="1350" dirty="0">
                <a:solidFill>
                  <a:srgbClr val="5B6B7A"/>
                </a:solidFill>
                <a:latin typeface="Calibri" pitchFamily="34" charset="0"/>
                <a:ea typeface="Calibri" pitchFamily="34" charset="-122"/>
                <a:cs typeface="Calibri" pitchFamily="34" charset="-120"/>
              </a:rPr>
              <a:t>A freeze and thaw day (above 0°C by day, below at night) lets water in cracks freeze and expand, a known cause of deck damage.</a:t>
            </a:r>
            <a:endParaRPr lang="en-US" sz="13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320040"/>
          </a:xfrm>
          <a:prstGeom prst="rect">
            <a:avLst/>
          </a:prstGeom>
          <a:noFill/>
          <a:ln/>
        </p:spPr>
        <p:txBody>
          <a:bodyPr wrap="square" lIns="0" tIns="0" rIns="0" bIns="0" rtlCol="0" anchor="ctr"/>
          <a:lstStyle/>
          <a:p>
            <a:pPr indent="0" marL="0">
              <a:buNone/>
            </a:pPr>
            <a:r>
              <a:rPr lang="en-US" sz="1200" b="1" spc="200" kern="0" dirty="0">
                <a:solidFill>
                  <a:srgbClr val="E8702A"/>
                </a:solidFill>
                <a:latin typeface="Arial" pitchFamily="34" charset="0"/>
                <a:ea typeface="Arial" pitchFamily="34" charset="-122"/>
                <a:cs typeface="Arial" pitchFamily="34" charset="-120"/>
              </a:rPr>
              <a:t>EXPLORATORY ANALYSIS: SPENDING</a:t>
            </a:r>
            <a:endParaRPr lang="en-US" sz="1200" dirty="0"/>
          </a:p>
        </p:txBody>
      </p:sp>
      <p:sp>
        <p:nvSpPr>
          <p:cNvPr id="3" name="Text 1"/>
          <p:cNvSpPr txBox="1"/>
          <p:nvPr/>
        </p:nvSpPr>
        <p:spPr>
          <a:xfrm>
            <a:off x="548640" y="640080"/>
            <a:ext cx="11064240" cy="685800"/>
          </a:xfrm>
          <a:prstGeom prst="rect">
            <a:avLst/>
          </a:prstGeom>
          <a:noFill/>
          <a:ln/>
        </p:spPr>
        <p:txBody>
          <a:bodyPr wrap="square" lIns="0" tIns="0" rIns="0" bIns="0" rtlCol="0" anchor="ctr"/>
          <a:lstStyle/>
          <a:p>
            <a:pPr indent="0" marL="0">
              <a:buNone/>
            </a:pPr>
            <a:r>
              <a:rPr lang="en-US" sz="3000" b="1" dirty="0">
                <a:solidFill>
                  <a:srgbClr val="1B2838"/>
                </a:solidFill>
                <a:latin typeface="Arial" pitchFamily="34" charset="0"/>
                <a:ea typeface="Arial" pitchFamily="34" charset="-122"/>
                <a:cs typeface="Arial" pitchFamily="34" charset="-120"/>
              </a:rPr>
              <a:t>More spending goes with more deterioration, across states</a:t>
            </a:r>
            <a:endParaRPr lang="en-US" sz="3000" dirty="0"/>
          </a:p>
        </p:txBody>
      </p:sp>
      <p:sp>
        <p:nvSpPr>
          <p:cNvPr id="4" name="Text 2"/>
          <p:cNvSpPr txBox="1"/>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rgbClr val="5B6B7A"/>
                </a:solidFill>
                <a:latin typeface="Calibri" pitchFamily="34" charset="0"/>
                <a:ea typeface="Calibri" pitchFamily="34" charset="-122"/>
                <a:cs typeface="Calibri" pitchFamily="34" charset="-120"/>
              </a:rPr>
              <a:t>BridgeWatch AI  ·  UMBC DATA 606</a:t>
            </a:r>
            <a:endParaRPr lang="en-US" sz="1000" dirty="0"/>
          </a:p>
        </p:txBody>
      </p:sp>
      <p:sp>
        <p:nvSpPr>
          <p:cNvPr id="5" name="Text 3"/>
          <p:cNvSpPr txBox="1"/>
          <p:nvPr/>
        </p:nvSpPr>
        <p:spPr>
          <a:xfrm>
            <a:off x="10725912" y="6400800"/>
            <a:ext cx="914400" cy="274320"/>
          </a:xfrm>
          <a:prstGeom prst="rect">
            <a:avLst/>
          </a:prstGeom>
          <a:noFill/>
          <a:ln/>
        </p:spPr>
        <p:txBody>
          <a:bodyPr wrap="square" lIns="0" tIns="0" rIns="0" bIns="0" rtlCol="0" anchor="ctr"/>
          <a:lstStyle/>
          <a:p>
            <a:pPr algn="r" indent="0" marL="0">
              <a:buNone/>
            </a:pPr>
            <a:r>
              <a:rPr lang="en-US" sz="1000" dirty="0">
                <a:solidFill>
                  <a:srgbClr val="5B6B7A"/>
                </a:solidFill>
                <a:latin typeface="Calibri" pitchFamily="34" charset="0"/>
                <a:ea typeface="Calibri" pitchFamily="34" charset="-122"/>
                <a:cs typeface="Calibri" pitchFamily="34" charset="-120"/>
              </a:rPr>
              <a:t>14</a:t>
            </a:r>
            <a:endParaRPr lang="en-US" sz="10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5760720" cy="914400"/>
        </p:xfrm>
        <a:graphic>
          <a:graphicData uri="http://schemas.openxmlformats.org/drawingml/2006/table">
            <a:tbl>
              <a:tblPr/>
              <a:tblGrid>
                <a:gridCol w="1097280"/>
                <a:gridCol w="2651760"/>
                <a:gridCol w="2011680"/>
              </a:tblGrid>
              <a:tr h="475488">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State</a:t>
                      </a:r>
                      <a:endParaRPr lang="en-US" sz="13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3E5569"/>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Repair $ per bridge (thousands)</a:t>
                      </a:r>
                      <a:endParaRPr lang="en-US" sz="13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3E5569"/>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Deterioration rate</a:t>
                      </a:r>
                      <a:endParaRPr lang="en-US" sz="13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3E5569"/>
                    </a:solidFill>
                  </a:tcPr>
                </a:tc>
              </a:tr>
              <a:tr h="475488">
                <a:tc>
                  <a:txBody>
                    <a:bodyPr/>
                    <a:lstStyle/>
                    <a:p>
                      <a:pPr algn="ctr" indent="0" marL="0">
                        <a:buNone/>
                      </a:pPr>
                      <a:r>
                        <a:rPr lang="en-US" sz="1400" dirty="0">
                          <a:solidFill>
                            <a:srgbClr val="1B2838"/>
                          </a:solidFill>
                          <a:latin typeface="Calibri" pitchFamily="34" charset="0"/>
                          <a:ea typeface="Calibri" pitchFamily="34" charset="-122"/>
                          <a:cs typeface="Calibri" pitchFamily="34" charset="-120"/>
                        </a:rPr>
                        <a:t>MI</a:t>
                      </a:r>
                      <a:endParaRPr lang="en-US" sz="1400" dirty="0">
                        <a:latin typeface="Calibri" charset="0"/>
                        <a:ea typeface="Calibri" charset="0"/>
                        <a:cs typeface="Calibri" charset="0"/>
                      </a:endParaRPr>
                    </a:p>
                  </a:txBody>
                  <a:tcPr marL="91440" marR="91440" marT="45720" marB="45720">
                    <a:lnL w="0" cap="flat" cmpd="sng" algn="ctr">
                      <a:noFill/>
                    </a:lnL>
                    <a:lnR w="0" cap="flat" cmpd="sng" algn="ctr">
                      <a:noFill/>
                    </a:lnR>
                    <a:lnT w="0" cap="flat" cmpd="sng" algn="ctr">
                      <a:noFill/>
                    </a:lnT>
                    <a:lnB w="0" cap="flat" cmpd="sng" algn="ctr">
                      <a:noFill/>
                    </a:lnB>
                    <a:solidFill>
                      <a:srgbClr val="EEF1F4"/>
                    </a:solidFill>
                  </a:tcPr>
                </a:tc>
                <a:tc>
                  <a:txBody>
                    <a:bodyPr/>
                    <a:lstStyle/>
                    <a:p>
                      <a:pPr algn="ctr" indent="0" marL="0">
                        <a:buNone/>
                      </a:pPr>
                      <a:r>
                        <a:rPr lang="en-US" sz="1400" dirty="0">
                          <a:solidFill>
                            <a:srgbClr val="1B2838"/>
                          </a:solidFill>
                          <a:latin typeface="Calibri" pitchFamily="34" charset="0"/>
                          <a:ea typeface="Calibri" pitchFamily="34" charset="-122"/>
                          <a:cs typeface="Calibri" pitchFamily="34" charset="-120"/>
                        </a:rPr>
                        <a:t>56.1</a:t>
                      </a:r>
                      <a:endParaRPr lang="en-US" sz="1400" dirty="0">
                        <a:latin typeface="Calibri" charset="0"/>
                        <a:ea typeface="Calibri" charset="0"/>
                        <a:cs typeface="Calibri" charset="0"/>
                      </a:endParaRPr>
                    </a:p>
                  </a:txBody>
                  <a:tcPr marL="91440" marR="91440" marT="45720" marB="45720">
                    <a:lnL w="0" cap="flat" cmpd="sng" algn="ctr">
                      <a:noFill/>
                    </a:lnL>
                    <a:lnR w="0" cap="flat" cmpd="sng" algn="ctr">
                      <a:noFill/>
                    </a:lnR>
                    <a:lnT w="0" cap="flat" cmpd="sng" algn="ctr">
                      <a:noFill/>
                    </a:lnT>
                    <a:lnB w="0" cap="flat" cmpd="sng" algn="ctr">
                      <a:noFill/>
                    </a:lnB>
                    <a:solidFill>
                      <a:srgbClr val="EEF1F4"/>
                    </a:solidFill>
                  </a:tcPr>
                </a:tc>
                <a:tc>
                  <a:txBody>
                    <a:bodyPr/>
                    <a:lstStyle/>
                    <a:p>
                      <a:pPr algn="ctr" indent="0" marL="0">
                        <a:buNone/>
                      </a:pPr>
                      <a:r>
                        <a:rPr lang="en-US" sz="1400" dirty="0">
                          <a:solidFill>
                            <a:srgbClr val="1B2838"/>
                          </a:solidFill>
                          <a:latin typeface="Calibri" pitchFamily="34" charset="0"/>
                          <a:ea typeface="Calibri" pitchFamily="34" charset="-122"/>
                          <a:cs typeface="Calibri" pitchFamily="34" charset="-120"/>
                        </a:rPr>
                        <a:t>7.07%</a:t>
                      </a:r>
                      <a:endParaRPr lang="en-US" sz="1400" dirty="0">
                        <a:latin typeface="Calibri" charset="0"/>
                        <a:ea typeface="Calibri" charset="0"/>
                        <a:cs typeface="Calibri" charset="0"/>
                      </a:endParaRPr>
                    </a:p>
                  </a:txBody>
                  <a:tcPr marL="91440" marR="91440" marT="45720" marB="45720">
                    <a:lnL w="0" cap="flat" cmpd="sng" algn="ctr">
                      <a:noFill/>
                    </a:lnL>
                    <a:lnR w="0" cap="flat" cmpd="sng" algn="ctr">
                      <a:noFill/>
                    </a:lnR>
                    <a:lnT w="0" cap="flat" cmpd="sng" algn="ctr">
                      <a:noFill/>
                    </a:lnT>
                    <a:lnB w="0" cap="flat" cmpd="sng" algn="ctr">
                      <a:noFill/>
                    </a:lnB>
                    <a:solidFill>
                      <a:srgbClr val="EEF1F4"/>
                    </a:solidFill>
                  </a:tcPr>
                </a:tc>
              </a:tr>
              <a:tr h="475488">
                <a:tc>
                  <a:txBody>
                    <a:bodyPr/>
                    <a:lstStyle/>
                    <a:p>
                      <a:pPr algn="ctr" indent="0" marL="0">
                        <a:buNone/>
                      </a:pPr>
                      <a:r>
                        <a:rPr lang="en-US" sz="1400" dirty="0">
                          <a:solidFill>
                            <a:srgbClr val="1B2838"/>
                          </a:solidFill>
                          <a:latin typeface="Calibri" pitchFamily="34" charset="0"/>
                          <a:ea typeface="Calibri" pitchFamily="34" charset="-122"/>
                          <a:cs typeface="Calibri" pitchFamily="34" charset="-120"/>
                        </a:rPr>
                        <a:t>NY</a:t>
                      </a:r>
                      <a:endParaRPr lang="en-US" sz="1400" dirty="0">
                        <a:latin typeface="Calibri" charset="0"/>
                        <a:ea typeface="Calibri" charset="0"/>
                        <a:cs typeface="Calibri" charset="0"/>
                      </a:endParaRPr>
                    </a:p>
                  </a:txBody>
                  <a:tcPr marL="91440" marR="91440" marT="45720" marB="45720">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400" dirty="0">
                          <a:solidFill>
                            <a:srgbClr val="1B2838"/>
                          </a:solidFill>
                          <a:latin typeface="Calibri" pitchFamily="34" charset="0"/>
                          <a:ea typeface="Calibri" pitchFamily="34" charset="-122"/>
                          <a:cs typeface="Calibri" pitchFamily="34" charset="-120"/>
                        </a:rPr>
                        <a:t>50.5</a:t>
                      </a:r>
                      <a:endParaRPr lang="en-US" sz="1400" dirty="0">
                        <a:latin typeface="Calibri" charset="0"/>
                        <a:ea typeface="Calibri" charset="0"/>
                        <a:cs typeface="Calibri" charset="0"/>
                      </a:endParaRPr>
                    </a:p>
                  </a:txBody>
                  <a:tcPr marL="91440" marR="91440" marT="45720" marB="45720">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400" dirty="0">
                          <a:solidFill>
                            <a:srgbClr val="1B2838"/>
                          </a:solidFill>
                          <a:latin typeface="Calibri" pitchFamily="34" charset="0"/>
                          <a:ea typeface="Calibri" pitchFamily="34" charset="-122"/>
                          <a:cs typeface="Calibri" pitchFamily="34" charset="-120"/>
                        </a:rPr>
                        <a:t>6.71%</a:t>
                      </a:r>
                      <a:endParaRPr lang="en-US" sz="1400" dirty="0">
                        <a:latin typeface="Calibri" charset="0"/>
                        <a:ea typeface="Calibri" charset="0"/>
                        <a:cs typeface="Calibri" charset="0"/>
                      </a:endParaRPr>
                    </a:p>
                  </a:txBody>
                  <a:tcPr marL="91440" marR="91440" marT="45720" marB="45720">
                    <a:lnL w="0" cap="flat" cmpd="sng" algn="ctr">
                      <a:noFill/>
                    </a:lnL>
                    <a:lnR w="0" cap="flat" cmpd="sng" algn="ctr">
                      <a:noFill/>
                    </a:lnR>
                    <a:lnT w="0" cap="flat" cmpd="sng" algn="ctr">
                      <a:noFill/>
                    </a:lnT>
                    <a:lnB w="0" cap="flat" cmpd="sng" algn="ctr">
                      <a:noFill/>
                    </a:lnB>
                    <a:solidFill>
                      <a:srgbClr val="FFFFFF"/>
                    </a:solidFill>
                  </a:tcPr>
                </a:tc>
              </a:tr>
              <a:tr h="475488">
                <a:tc>
                  <a:txBody>
                    <a:bodyPr/>
                    <a:lstStyle/>
                    <a:p>
                      <a:pPr algn="ctr" indent="0" marL="0">
                        <a:buNone/>
                      </a:pPr>
                      <a:r>
                        <a:rPr lang="en-US" sz="1400" dirty="0">
                          <a:solidFill>
                            <a:srgbClr val="1B2838"/>
                          </a:solidFill>
                          <a:latin typeface="Calibri" pitchFamily="34" charset="0"/>
                          <a:ea typeface="Calibri" pitchFamily="34" charset="-122"/>
                          <a:cs typeface="Calibri" pitchFamily="34" charset="-120"/>
                        </a:rPr>
                        <a:t>WA</a:t>
                      </a:r>
                      <a:endParaRPr lang="en-US" sz="1400" dirty="0">
                        <a:latin typeface="Calibri" charset="0"/>
                        <a:ea typeface="Calibri" charset="0"/>
                        <a:cs typeface="Calibri" charset="0"/>
                      </a:endParaRPr>
                    </a:p>
                  </a:txBody>
                  <a:tcPr marL="91440" marR="91440" marT="45720" marB="45720">
                    <a:lnL w="0" cap="flat" cmpd="sng" algn="ctr">
                      <a:noFill/>
                    </a:lnL>
                    <a:lnR w="0" cap="flat" cmpd="sng" algn="ctr">
                      <a:noFill/>
                    </a:lnR>
                    <a:lnT w="0" cap="flat" cmpd="sng" algn="ctr">
                      <a:noFill/>
                    </a:lnT>
                    <a:lnB w="0" cap="flat" cmpd="sng" algn="ctr">
                      <a:noFill/>
                    </a:lnB>
                    <a:solidFill>
                      <a:srgbClr val="EEF1F4"/>
                    </a:solidFill>
                  </a:tcPr>
                </a:tc>
                <a:tc>
                  <a:txBody>
                    <a:bodyPr/>
                    <a:lstStyle/>
                    <a:p>
                      <a:pPr algn="ctr" indent="0" marL="0">
                        <a:buNone/>
                      </a:pPr>
                      <a:r>
                        <a:rPr lang="en-US" sz="1400" dirty="0">
                          <a:solidFill>
                            <a:srgbClr val="1B2838"/>
                          </a:solidFill>
                          <a:latin typeface="Calibri" pitchFamily="34" charset="0"/>
                          <a:ea typeface="Calibri" pitchFamily="34" charset="-122"/>
                          <a:cs typeface="Calibri" pitchFamily="34" charset="-120"/>
                        </a:rPr>
                        <a:t>45.9</a:t>
                      </a:r>
                      <a:endParaRPr lang="en-US" sz="1400" dirty="0">
                        <a:latin typeface="Calibri" charset="0"/>
                        <a:ea typeface="Calibri" charset="0"/>
                        <a:cs typeface="Calibri" charset="0"/>
                      </a:endParaRPr>
                    </a:p>
                  </a:txBody>
                  <a:tcPr marL="91440" marR="91440" marT="45720" marB="45720">
                    <a:lnL w="0" cap="flat" cmpd="sng" algn="ctr">
                      <a:noFill/>
                    </a:lnL>
                    <a:lnR w="0" cap="flat" cmpd="sng" algn="ctr">
                      <a:noFill/>
                    </a:lnR>
                    <a:lnT w="0" cap="flat" cmpd="sng" algn="ctr">
                      <a:noFill/>
                    </a:lnT>
                    <a:lnB w="0" cap="flat" cmpd="sng" algn="ctr">
                      <a:noFill/>
                    </a:lnB>
                    <a:solidFill>
                      <a:srgbClr val="EEF1F4"/>
                    </a:solidFill>
                  </a:tcPr>
                </a:tc>
                <a:tc>
                  <a:txBody>
                    <a:bodyPr/>
                    <a:lstStyle/>
                    <a:p>
                      <a:pPr algn="ctr" indent="0" marL="0">
                        <a:buNone/>
                      </a:pPr>
                      <a:r>
                        <a:rPr lang="en-US" sz="1400" dirty="0">
                          <a:solidFill>
                            <a:srgbClr val="1B2838"/>
                          </a:solidFill>
                          <a:latin typeface="Calibri" pitchFamily="34" charset="0"/>
                          <a:ea typeface="Calibri" pitchFamily="34" charset="-122"/>
                          <a:cs typeface="Calibri" pitchFamily="34" charset="-120"/>
                        </a:rPr>
                        <a:t>2.94%</a:t>
                      </a:r>
                      <a:endParaRPr lang="en-US" sz="1400" dirty="0">
                        <a:latin typeface="Calibri" charset="0"/>
                        <a:ea typeface="Calibri" charset="0"/>
                        <a:cs typeface="Calibri" charset="0"/>
                      </a:endParaRPr>
                    </a:p>
                  </a:txBody>
                  <a:tcPr marL="91440" marR="91440" marT="45720" marB="45720">
                    <a:lnL w="0" cap="flat" cmpd="sng" algn="ctr">
                      <a:noFill/>
                    </a:lnL>
                    <a:lnR w="0" cap="flat" cmpd="sng" algn="ctr">
                      <a:noFill/>
                    </a:lnR>
                    <a:lnT w="0" cap="flat" cmpd="sng" algn="ctr">
                      <a:noFill/>
                    </a:lnT>
                    <a:lnB w="0" cap="flat" cmpd="sng" algn="ctr">
                      <a:noFill/>
                    </a:lnB>
                    <a:solidFill>
                      <a:srgbClr val="EEF1F4"/>
                    </a:solidFill>
                  </a:tcPr>
                </a:tc>
              </a:tr>
              <a:tr h="475488">
                <a:tc>
                  <a:txBody>
                    <a:bodyPr/>
                    <a:lstStyle/>
                    <a:p>
                      <a:pPr algn="ctr" indent="0" marL="0">
                        <a:buNone/>
                      </a:pPr>
                      <a:r>
                        <a:rPr lang="en-US" sz="1400" dirty="0">
                          <a:solidFill>
                            <a:srgbClr val="1B2838"/>
                          </a:solidFill>
                          <a:latin typeface="Calibri" pitchFamily="34" charset="0"/>
                          <a:ea typeface="Calibri" pitchFamily="34" charset="-122"/>
                          <a:cs typeface="Calibri" pitchFamily="34" charset="-120"/>
                        </a:rPr>
                        <a:t>FL</a:t>
                      </a:r>
                      <a:endParaRPr lang="en-US" sz="1400" dirty="0">
                        <a:latin typeface="Calibri" charset="0"/>
                        <a:ea typeface="Calibri" charset="0"/>
                        <a:cs typeface="Calibri" charset="0"/>
                      </a:endParaRPr>
                    </a:p>
                  </a:txBody>
                  <a:tcPr marL="91440" marR="91440" marT="45720" marB="45720">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400" dirty="0">
                          <a:solidFill>
                            <a:srgbClr val="1B2838"/>
                          </a:solidFill>
                          <a:latin typeface="Calibri" pitchFamily="34" charset="0"/>
                          <a:ea typeface="Calibri" pitchFamily="34" charset="-122"/>
                          <a:cs typeface="Calibri" pitchFamily="34" charset="-120"/>
                        </a:rPr>
                        <a:t>36.2</a:t>
                      </a:r>
                      <a:endParaRPr lang="en-US" sz="1400" dirty="0">
                        <a:latin typeface="Calibri" charset="0"/>
                        <a:ea typeface="Calibri" charset="0"/>
                        <a:cs typeface="Calibri" charset="0"/>
                      </a:endParaRPr>
                    </a:p>
                  </a:txBody>
                  <a:tcPr marL="91440" marR="91440" marT="45720" marB="45720">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400" dirty="0">
                          <a:solidFill>
                            <a:srgbClr val="1B2838"/>
                          </a:solidFill>
                          <a:latin typeface="Calibri" pitchFamily="34" charset="0"/>
                          <a:ea typeface="Calibri" pitchFamily="34" charset="-122"/>
                          <a:cs typeface="Calibri" pitchFamily="34" charset="-120"/>
                        </a:rPr>
                        <a:t>4.35%</a:t>
                      </a:r>
                      <a:endParaRPr lang="en-US" sz="1400" dirty="0">
                        <a:latin typeface="Calibri" charset="0"/>
                        <a:ea typeface="Calibri" charset="0"/>
                        <a:cs typeface="Calibri" charset="0"/>
                      </a:endParaRPr>
                    </a:p>
                  </a:txBody>
                  <a:tcPr marL="91440" marR="91440" marT="45720" marB="45720">
                    <a:lnL w="0" cap="flat" cmpd="sng" algn="ctr">
                      <a:noFill/>
                    </a:lnL>
                    <a:lnR w="0" cap="flat" cmpd="sng" algn="ctr">
                      <a:noFill/>
                    </a:lnR>
                    <a:lnT w="0" cap="flat" cmpd="sng" algn="ctr">
                      <a:noFill/>
                    </a:lnT>
                    <a:lnB w="0" cap="flat" cmpd="sng" algn="ctr">
                      <a:noFill/>
                    </a:lnB>
                    <a:solidFill>
                      <a:srgbClr val="FFFFFF"/>
                    </a:solidFill>
                  </a:tcPr>
                </a:tc>
              </a:tr>
              <a:tr h="475488">
                <a:tc>
                  <a:txBody>
                    <a:bodyPr/>
                    <a:lstStyle/>
                    <a:p>
                      <a:pPr algn="ctr" indent="0" marL="0">
                        <a:buNone/>
                      </a:pPr>
                      <a:r>
                        <a:rPr lang="en-US" sz="1400" dirty="0">
                          <a:solidFill>
                            <a:srgbClr val="1B2838"/>
                          </a:solidFill>
                          <a:latin typeface="Calibri" pitchFamily="34" charset="0"/>
                          <a:ea typeface="Calibri" pitchFamily="34" charset="-122"/>
                          <a:cs typeface="Calibri" pitchFamily="34" charset="-120"/>
                        </a:rPr>
                        <a:t>MD</a:t>
                      </a:r>
                      <a:endParaRPr lang="en-US" sz="1400" dirty="0">
                        <a:latin typeface="Calibri" charset="0"/>
                        <a:ea typeface="Calibri" charset="0"/>
                        <a:cs typeface="Calibri" charset="0"/>
                      </a:endParaRPr>
                    </a:p>
                  </a:txBody>
                  <a:tcPr marL="91440" marR="91440" marT="45720" marB="45720">
                    <a:lnL w="0" cap="flat" cmpd="sng" algn="ctr">
                      <a:noFill/>
                    </a:lnL>
                    <a:lnR w="0" cap="flat" cmpd="sng" algn="ctr">
                      <a:noFill/>
                    </a:lnR>
                    <a:lnT w="0" cap="flat" cmpd="sng" algn="ctr">
                      <a:noFill/>
                    </a:lnT>
                    <a:lnB w="0" cap="flat" cmpd="sng" algn="ctr">
                      <a:noFill/>
                    </a:lnB>
                    <a:solidFill>
                      <a:srgbClr val="EEF1F4"/>
                    </a:solidFill>
                  </a:tcPr>
                </a:tc>
                <a:tc>
                  <a:txBody>
                    <a:bodyPr/>
                    <a:lstStyle/>
                    <a:p>
                      <a:pPr algn="ctr" indent="0" marL="0">
                        <a:buNone/>
                      </a:pPr>
                      <a:r>
                        <a:rPr lang="en-US" sz="1400" dirty="0">
                          <a:solidFill>
                            <a:srgbClr val="1B2838"/>
                          </a:solidFill>
                          <a:latin typeface="Calibri" pitchFamily="34" charset="0"/>
                          <a:ea typeface="Calibri" pitchFamily="34" charset="-122"/>
                          <a:cs typeface="Calibri" pitchFamily="34" charset="-120"/>
                        </a:rPr>
                        <a:t>29.5</a:t>
                      </a:r>
                      <a:endParaRPr lang="en-US" sz="1400" dirty="0">
                        <a:latin typeface="Calibri" charset="0"/>
                        <a:ea typeface="Calibri" charset="0"/>
                        <a:cs typeface="Calibri" charset="0"/>
                      </a:endParaRPr>
                    </a:p>
                  </a:txBody>
                  <a:tcPr marL="91440" marR="91440" marT="45720" marB="45720">
                    <a:lnL w="0" cap="flat" cmpd="sng" algn="ctr">
                      <a:noFill/>
                    </a:lnL>
                    <a:lnR w="0" cap="flat" cmpd="sng" algn="ctr">
                      <a:noFill/>
                    </a:lnR>
                    <a:lnT w="0" cap="flat" cmpd="sng" algn="ctr">
                      <a:noFill/>
                    </a:lnT>
                    <a:lnB w="0" cap="flat" cmpd="sng" algn="ctr">
                      <a:noFill/>
                    </a:lnB>
                    <a:solidFill>
                      <a:srgbClr val="EEF1F4"/>
                    </a:solidFill>
                  </a:tcPr>
                </a:tc>
                <a:tc>
                  <a:txBody>
                    <a:bodyPr/>
                    <a:lstStyle/>
                    <a:p>
                      <a:pPr algn="ctr" indent="0" marL="0">
                        <a:buNone/>
                      </a:pPr>
                      <a:r>
                        <a:rPr lang="en-US" sz="1400" dirty="0">
                          <a:solidFill>
                            <a:srgbClr val="1B2838"/>
                          </a:solidFill>
                          <a:latin typeface="Calibri" pitchFamily="34" charset="0"/>
                          <a:ea typeface="Calibri" pitchFamily="34" charset="-122"/>
                          <a:cs typeface="Calibri" pitchFamily="34" charset="-120"/>
                        </a:rPr>
                        <a:t>2.75%</a:t>
                      </a:r>
                      <a:endParaRPr lang="en-US" sz="1400" dirty="0">
                        <a:latin typeface="Calibri" charset="0"/>
                        <a:ea typeface="Calibri" charset="0"/>
                        <a:cs typeface="Calibri" charset="0"/>
                      </a:endParaRPr>
                    </a:p>
                  </a:txBody>
                  <a:tcPr marL="91440" marR="91440" marT="45720" marB="45720">
                    <a:lnL w="0" cap="flat" cmpd="sng" algn="ctr">
                      <a:noFill/>
                    </a:lnL>
                    <a:lnR w="0" cap="flat" cmpd="sng" algn="ctr">
                      <a:noFill/>
                    </a:lnR>
                    <a:lnT w="0" cap="flat" cmpd="sng" algn="ctr">
                      <a:noFill/>
                    </a:lnT>
                    <a:lnB w="0" cap="flat" cmpd="sng" algn="ctr">
                      <a:noFill/>
                    </a:lnB>
                    <a:solidFill>
                      <a:srgbClr val="EEF1F4"/>
                    </a:solidFill>
                  </a:tcPr>
                </a:tc>
              </a:tr>
              <a:tr h="475488">
                <a:tc>
                  <a:txBody>
                    <a:bodyPr/>
                    <a:lstStyle/>
                    <a:p>
                      <a:pPr algn="ctr" indent="0" marL="0">
                        <a:buNone/>
                      </a:pPr>
                      <a:r>
                        <a:rPr lang="en-US" sz="1400" dirty="0">
                          <a:solidFill>
                            <a:srgbClr val="1B2838"/>
                          </a:solidFill>
                          <a:latin typeface="Calibri" pitchFamily="34" charset="0"/>
                          <a:ea typeface="Calibri" pitchFamily="34" charset="-122"/>
                          <a:cs typeface="Calibri" pitchFamily="34" charset="-120"/>
                        </a:rPr>
                        <a:t>TX</a:t>
                      </a:r>
                      <a:endParaRPr lang="en-US" sz="1400" dirty="0">
                        <a:latin typeface="Calibri" charset="0"/>
                        <a:ea typeface="Calibri" charset="0"/>
                        <a:cs typeface="Calibri" charset="0"/>
                      </a:endParaRPr>
                    </a:p>
                  </a:txBody>
                  <a:tcPr marL="91440" marR="91440" marT="45720" marB="45720">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400" dirty="0">
                          <a:solidFill>
                            <a:srgbClr val="1B2838"/>
                          </a:solidFill>
                          <a:latin typeface="Calibri" pitchFamily="34" charset="0"/>
                          <a:ea typeface="Calibri" pitchFamily="34" charset="-122"/>
                          <a:cs typeface="Calibri" pitchFamily="34" charset="-120"/>
                        </a:rPr>
                        <a:t>18.3</a:t>
                      </a:r>
                      <a:endParaRPr lang="en-US" sz="1400" dirty="0">
                        <a:latin typeface="Calibri" charset="0"/>
                        <a:ea typeface="Calibri" charset="0"/>
                        <a:cs typeface="Calibri" charset="0"/>
                      </a:endParaRPr>
                    </a:p>
                  </a:txBody>
                  <a:tcPr marL="91440" marR="91440" marT="45720" marB="45720">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400" dirty="0">
                          <a:solidFill>
                            <a:srgbClr val="1B2838"/>
                          </a:solidFill>
                          <a:latin typeface="Calibri" pitchFamily="34" charset="0"/>
                          <a:ea typeface="Calibri" pitchFamily="34" charset="-122"/>
                          <a:cs typeface="Calibri" pitchFamily="34" charset="-120"/>
                        </a:rPr>
                        <a:t>3.44%</a:t>
                      </a:r>
                      <a:endParaRPr lang="en-US" sz="1400" dirty="0">
                        <a:latin typeface="Calibri" charset="0"/>
                        <a:ea typeface="Calibri" charset="0"/>
                        <a:cs typeface="Calibri" charset="0"/>
                      </a:endParaRPr>
                    </a:p>
                  </a:txBody>
                  <a:tcPr marL="91440" marR="91440" marT="45720" marB="45720">
                    <a:lnL w="0" cap="flat" cmpd="sng" algn="ctr">
                      <a:noFill/>
                    </a:lnL>
                    <a:lnR w="0" cap="flat" cmpd="sng" algn="ctr">
                      <a:noFill/>
                    </a:lnR>
                    <a:lnT w="0" cap="flat" cmpd="sng" algn="ctr">
                      <a:noFill/>
                    </a:lnT>
                    <a:lnB w="0" cap="flat" cmpd="sng" algn="ctr">
                      <a:noFill/>
                    </a:lnB>
                    <a:solidFill>
                      <a:srgbClr val="FFFFFF"/>
                    </a:solidFill>
                  </a:tcPr>
                </a:tc>
              </a:tr>
              <a:tr h="475488">
                <a:tc>
                  <a:txBody>
                    <a:bodyPr/>
                    <a:lstStyle/>
                    <a:p>
                      <a:pPr algn="ctr" indent="0" marL="0">
                        <a:buNone/>
                      </a:pPr>
                      <a:r>
                        <a:rPr lang="en-US" sz="1400" dirty="0">
                          <a:solidFill>
                            <a:srgbClr val="1B2838"/>
                          </a:solidFill>
                          <a:latin typeface="Calibri" pitchFamily="34" charset="0"/>
                          <a:ea typeface="Calibri" pitchFamily="34" charset="-122"/>
                          <a:cs typeface="Calibri" pitchFamily="34" charset="-120"/>
                        </a:rPr>
                        <a:t>CA</a:t>
                      </a:r>
                      <a:endParaRPr lang="en-US" sz="1400" dirty="0">
                        <a:latin typeface="Calibri" charset="0"/>
                        <a:ea typeface="Calibri" charset="0"/>
                        <a:cs typeface="Calibri" charset="0"/>
                      </a:endParaRPr>
                    </a:p>
                  </a:txBody>
                  <a:tcPr marL="91440" marR="91440" marT="45720" marB="45720">
                    <a:lnL w="0" cap="flat" cmpd="sng" algn="ctr">
                      <a:noFill/>
                    </a:lnL>
                    <a:lnR w="0" cap="flat" cmpd="sng" algn="ctr">
                      <a:noFill/>
                    </a:lnR>
                    <a:lnT w="0" cap="flat" cmpd="sng" algn="ctr">
                      <a:noFill/>
                    </a:lnT>
                    <a:lnB w="0" cap="flat" cmpd="sng" algn="ctr">
                      <a:noFill/>
                    </a:lnB>
                    <a:solidFill>
                      <a:srgbClr val="EEF1F4"/>
                    </a:solidFill>
                  </a:tcPr>
                </a:tc>
                <a:tc>
                  <a:txBody>
                    <a:bodyPr/>
                    <a:lstStyle/>
                    <a:p>
                      <a:pPr algn="ctr" indent="0" marL="0">
                        <a:buNone/>
                      </a:pPr>
                      <a:r>
                        <a:rPr lang="en-US" sz="1400" dirty="0">
                          <a:solidFill>
                            <a:srgbClr val="1B2838"/>
                          </a:solidFill>
                          <a:latin typeface="Calibri" pitchFamily="34" charset="0"/>
                          <a:ea typeface="Calibri" pitchFamily="34" charset="-122"/>
                          <a:cs typeface="Calibri" pitchFamily="34" charset="-120"/>
                        </a:rPr>
                        <a:t>11.3</a:t>
                      </a:r>
                      <a:endParaRPr lang="en-US" sz="1400" dirty="0">
                        <a:latin typeface="Calibri" charset="0"/>
                        <a:ea typeface="Calibri" charset="0"/>
                        <a:cs typeface="Calibri" charset="0"/>
                      </a:endParaRPr>
                    </a:p>
                  </a:txBody>
                  <a:tcPr marL="91440" marR="91440" marT="45720" marB="45720">
                    <a:lnL w="0" cap="flat" cmpd="sng" algn="ctr">
                      <a:noFill/>
                    </a:lnL>
                    <a:lnR w="0" cap="flat" cmpd="sng" algn="ctr">
                      <a:noFill/>
                    </a:lnR>
                    <a:lnT w="0" cap="flat" cmpd="sng" algn="ctr">
                      <a:noFill/>
                    </a:lnT>
                    <a:lnB w="0" cap="flat" cmpd="sng" algn="ctr">
                      <a:noFill/>
                    </a:lnB>
                    <a:solidFill>
                      <a:srgbClr val="EEF1F4"/>
                    </a:solidFill>
                  </a:tcPr>
                </a:tc>
                <a:tc>
                  <a:txBody>
                    <a:bodyPr/>
                    <a:lstStyle/>
                    <a:p>
                      <a:pPr algn="ctr" indent="0" marL="0">
                        <a:buNone/>
                      </a:pPr>
                      <a:r>
                        <a:rPr lang="en-US" sz="1400" dirty="0">
                          <a:solidFill>
                            <a:srgbClr val="1B2838"/>
                          </a:solidFill>
                          <a:latin typeface="Calibri" pitchFamily="34" charset="0"/>
                          <a:ea typeface="Calibri" pitchFamily="34" charset="-122"/>
                          <a:cs typeface="Calibri" pitchFamily="34" charset="-120"/>
                        </a:rPr>
                        <a:t>4.24%</a:t>
                      </a:r>
                      <a:endParaRPr lang="en-US" sz="1400" dirty="0">
                        <a:latin typeface="Calibri" charset="0"/>
                        <a:ea typeface="Calibri" charset="0"/>
                        <a:cs typeface="Calibri" charset="0"/>
                      </a:endParaRPr>
                    </a:p>
                  </a:txBody>
                  <a:tcPr marL="91440" marR="91440" marT="45720" marB="45720">
                    <a:lnL w="0" cap="flat" cmpd="sng" algn="ctr">
                      <a:noFill/>
                    </a:lnL>
                    <a:lnR w="0" cap="flat" cmpd="sng" algn="ctr">
                      <a:noFill/>
                    </a:lnR>
                    <a:lnT w="0" cap="flat" cmpd="sng" algn="ctr">
                      <a:noFill/>
                    </a:lnT>
                    <a:lnB w="0" cap="flat" cmpd="sng" algn="ctr">
                      <a:noFill/>
                    </a:lnB>
                    <a:solidFill>
                      <a:srgbClr val="EEF1F4"/>
                    </a:solidFill>
                  </a:tcPr>
                </a:tc>
              </a:tr>
            </a:tbl>
          </a:graphicData>
        </a:graphic>
      </p:graphicFrame>
      <p:sp>
        <p:nvSpPr>
          <p:cNvPr id="7" name="Text 4"/>
          <p:cNvSpPr txBox="1"/>
          <p:nvPr/>
        </p:nvSpPr>
        <p:spPr>
          <a:xfrm>
            <a:off x="548640" y="5532120"/>
            <a:ext cx="5760720" cy="548640"/>
          </a:xfrm>
          <a:prstGeom prst="rect">
            <a:avLst/>
          </a:prstGeom>
          <a:noFill/>
          <a:ln/>
        </p:spPr>
        <p:txBody>
          <a:bodyPr wrap="square" lIns="0" tIns="0" rIns="0" bIns="0" rtlCol="0" anchor="t"/>
          <a:lstStyle/>
          <a:p>
            <a:pPr indent="0" marL="0">
              <a:buNone/>
            </a:pPr>
            <a:r>
              <a:rPr lang="en-US" sz="1200" dirty="0">
                <a:solidFill>
                  <a:srgbClr val="5B6B7A"/>
                </a:solidFill>
                <a:latin typeface="Calibri" pitchFamily="34" charset="0"/>
                <a:ea typeface="Calibri" pitchFamily="34" charset="-122"/>
                <a:cs typeface="Calibri" pitchFamily="34" charset="-120"/>
              </a:rPr>
              <a:t>State averages, 2020 to 2024. Spending divided by each state's bridge count, since raw totals mostly reflect state size.</a:t>
            </a:r>
            <a:endParaRPr lang="en-US" sz="1200" dirty="0"/>
          </a:p>
        </p:txBody>
      </p:sp>
      <p:sp>
        <p:nvSpPr>
          <p:cNvPr id="8" name="Text 5"/>
          <p:cNvSpPr txBox="1"/>
          <p:nvPr/>
        </p:nvSpPr>
        <p:spPr>
          <a:xfrm>
            <a:off x="6858000" y="1645920"/>
            <a:ext cx="4754880" cy="731520"/>
          </a:xfrm>
          <a:prstGeom prst="rect">
            <a:avLst/>
          </a:prstGeom>
          <a:noFill/>
          <a:ln/>
        </p:spPr>
        <p:txBody>
          <a:bodyPr wrap="square" lIns="0" tIns="0" rIns="0" bIns="0" rtlCol="0" anchor="t"/>
          <a:lstStyle/>
          <a:p>
            <a:pPr indent="0" marL="0">
              <a:buNone/>
            </a:pPr>
            <a:r>
              <a:rPr lang="en-US" sz="4000" b="1" dirty="0">
                <a:solidFill>
                  <a:srgbClr val="E8702A"/>
                </a:solidFill>
                <a:latin typeface="Arial" pitchFamily="34" charset="0"/>
                <a:ea typeface="Arial" pitchFamily="34" charset="-122"/>
                <a:cs typeface="Arial" pitchFamily="34" charset="-120"/>
              </a:rPr>
              <a:t>+0.60</a:t>
            </a:r>
            <a:endParaRPr lang="en-US" sz="4000" dirty="0"/>
          </a:p>
        </p:txBody>
      </p:sp>
      <p:sp>
        <p:nvSpPr>
          <p:cNvPr id="9" name="Text 6"/>
          <p:cNvSpPr txBox="1"/>
          <p:nvPr/>
        </p:nvSpPr>
        <p:spPr>
          <a:xfrm>
            <a:off x="6858000" y="2395728"/>
            <a:ext cx="4754880" cy="548640"/>
          </a:xfrm>
          <a:prstGeom prst="rect">
            <a:avLst/>
          </a:prstGeom>
          <a:noFill/>
          <a:ln/>
        </p:spPr>
        <p:txBody>
          <a:bodyPr wrap="square" lIns="0" tIns="0" rIns="0" bIns="0" rtlCol="0" anchor="t"/>
          <a:lstStyle/>
          <a:p>
            <a:pPr indent="0" marL="0">
              <a:buNone/>
            </a:pPr>
            <a:r>
              <a:rPr lang="en-US" sz="1300" dirty="0">
                <a:solidFill>
                  <a:srgbClr val="5B6B7A"/>
                </a:solidFill>
                <a:latin typeface="Calibri" pitchFamily="34" charset="0"/>
                <a:ea typeface="Calibri" pitchFamily="34" charset="-122"/>
                <a:cs typeface="Calibri" pitchFamily="34" charset="-120"/>
              </a:rPr>
              <a:t>correlation across states: high spenders have more deterioration</a:t>
            </a:r>
            <a:endParaRPr lang="en-US" sz="1300" dirty="0"/>
          </a:p>
        </p:txBody>
      </p:sp>
      <p:sp>
        <p:nvSpPr>
          <p:cNvPr id="10" name="Text 7"/>
          <p:cNvSpPr txBox="1"/>
          <p:nvPr/>
        </p:nvSpPr>
        <p:spPr>
          <a:xfrm>
            <a:off x="6858000" y="3063240"/>
            <a:ext cx="4754880" cy="731520"/>
          </a:xfrm>
          <a:prstGeom prst="rect">
            <a:avLst/>
          </a:prstGeom>
          <a:noFill/>
          <a:ln/>
        </p:spPr>
        <p:txBody>
          <a:bodyPr wrap="square" lIns="0" tIns="0" rIns="0" bIns="0" rtlCol="0" anchor="t"/>
          <a:lstStyle/>
          <a:p>
            <a:pPr indent="0" marL="0">
              <a:buNone/>
            </a:pPr>
            <a:r>
              <a:rPr lang="en-US" sz="4000" b="1" dirty="0">
                <a:solidFill>
                  <a:srgbClr val="1B2838"/>
                </a:solidFill>
                <a:latin typeface="Arial" pitchFamily="34" charset="0"/>
                <a:ea typeface="Arial" pitchFamily="34" charset="-122"/>
                <a:cs typeface="Arial" pitchFamily="34" charset="-120"/>
              </a:rPr>
              <a:t>−0.13</a:t>
            </a:r>
            <a:endParaRPr lang="en-US" sz="4000" dirty="0"/>
          </a:p>
        </p:txBody>
      </p:sp>
      <p:sp>
        <p:nvSpPr>
          <p:cNvPr id="11" name="Text 8"/>
          <p:cNvSpPr txBox="1"/>
          <p:nvPr/>
        </p:nvSpPr>
        <p:spPr>
          <a:xfrm>
            <a:off x="6858000" y="3813048"/>
            <a:ext cx="4754880" cy="548640"/>
          </a:xfrm>
          <a:prstGeom prst="rect">
            <a:avLst/>
          </a:prstGeom>
          <a:noFill/>
          <a:ln/>
        </p:spPr>
        <p:txBody>
          <a:bodyPr wrap="square" lIns="0" tIns="0" rIns="0" bIns="0" rtlCol="0" anchor="t"/>
          <a:lstStyle/>
          <a:p>
            <a:pPr indent="0" marL="0">
              <a:buNone/>
            </a:pPr>
            <a:r>
              <a:rPr lang="en-US" sz="1300" dirty="0">
                <a:solidFill>
                  <a:srgbClr val="5B6B7A"/>
                </a:solidFill>
                <a:latin typeface="Calibri" pitchFamily="34" charset="0"/>
                <a:ea typeface="Calibri" pitchFamily="34" charset="-122"/>
                <a:cs typeface="Calibri" pitchFamily="34" charset="-120"/>
              </a:rPr>
              <a:t>correlation within a state over time: a weak link, in the other direction</a:t>
            </a:r>
            <a:endParaRPr lang="en-US" sz="1300" dirty="0"/>
          </a:p>
        </p:txBody>
      </p:sp>
      <p:sp>
        <p:nvSpPr>
          <p:cNvPr id="12" name="Shape 9"/>
          <p:cNvSpPr/>
          <p:nvPr/>
        </p:nvSpPr>
        <p:spPr>
          <a:xfrm>
            <a:off x="6858000" y="4526280"/>
            <a:ext cx="4800600" cy="1508760"/>
          </a:xfrm>
          <a:prstGeom prst="roundRect">
            <a:avLst>
              <a:gd name="adj" fmla="val 4848"/>
            </a:avLst>
          </a:prstGeom>
          <a:solidFill>
            <a:srgbClr val="FDF0E7"/>
          </a:solidFill>
          <a:ln w="12700">
            <a:solidFill>
              <a:srgbClr val="FDF0E7"/>
            </a:solidFill>
            <a:prstDash val="solid"/>
          </a:ln>
        </p:spPr>
      </p:sp>
      <p:sp>
        <p:nvSpPr>
          <p:cNvPr id="13" name="Text 10"/>
          <p:cNvSpPr txBox="1"/>
          <p:nvPr/>
        </p:nvSpPr>
        <p:spPr>
          <a:xfrm>
            <a:off x="7086600" y="4663440"/>
            <a:ext cx="4389120" cy="1280160"/>
          </a:xfrm>
          <a:prstGeom prst="rect">
            <a:avLst/>
          </a:prstGeom>
          <a:noFill/>
          <a:ln/>
        </p:spPr>
        <p:txBody>
          <a:bodyPr wrap="square" lIns="0" tIns="0" rIns="0" bIns="0" rtlCol="0" anchor="t"/>
          <a:lstStyle/>
          <a:p>
            <a:pPr indent="0" marL="0">
              <a:buNone/>
            </a:pPr>
            <a:r>
              <a:rPr lang="en-US" sz="1400" dirty="0">
                <a:solidFill>
                  <a:srgbClr val="1B2838"/>
                </a:solidFill>
                <a:latin typeface="Calibri" pitchFamily="34" charset="0"/>
                <a:ea typeface="Calibri" pitchFamily="34" charset="-122"/>
                <a:cs typeface="Calibri" pitchFamily="34" charset="-120"/>
              </a:rPr>
              <a:t>Most likely explanation: states spend where bridges are already in poor shape. Spending follows condition; it does not cause decline.</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320040"/>
          </a:xfrm>
          <a:prstGeom prst="rect">
            <a:avLst/>
          </a:prstGeom>
          <a:noFill/>
          <a:ln/>
        </p:spPr>
        <p:txBody>
          <a:bodyPr wrap="square" lIns="0" tIns="0" rIns="0" bIns="0" rtlCol="0" anchor="ctr"/>
          <a:lstStyle/>
          <a:p>
            <a:pPr indent="0" marL="0">
              <a:buNone/>
            </a:pPr>
            <a:r>
              <a:rPr lang="en-US" sz="1200" b="1" spc="200" kern="0" dirty="0">
                <a:solidFill>
                  <a:srgbClr val="E8702A"/>
                </a:solidFill>
                <a:latin typeface="Arial" pitchFamily="34" charset="0"/>
                <a:ea typeface="Arial" pitchFamily="34" charset="-122"/>
                <a:cs typeface="Arial" pitchFamily="34" charset="-120"/>
              </a:rPr>
              <a:t>MODEL SELECTION</a:t>
            </a:r>
            <a:endParaRPr lang="en-US" sz="1200" dirty="0"/>
          </a:p>
        </p:txBody>
      </p:sp>
      <p:sp>
        <p:nvSpPr>
          <p:cNvPr id="3" name="Text 1"/>
          <p:cNvSpPr txBox="1"/>
          <p:nvPr/>
        </p:nvSpPr>
        <p:spPr>
          <a:xfrm>
            <a:off x="548640" y="640080"/>
            <a:ext cx="11064240" cy="685800"/>
          </a:xfrm>
          <a:prstGeom prst="rect">
            <a:avLst/>
          </a:prstGeom>
          <a:noFill/>
          <a:ln/>
        </p:spPr>
        <p:txBody>
          <a:bodyPr wrap="square" lIns="0" tIns="0" rIns="0" bIns="0" rtlCol="0" anchor="ctr"/>
          <a:lstStyle/>
          <a:p>
            <a:pPr indent="0" marL="0">
              <a:buNone/>
            </a:pPr>
            <a:r>
              <a:rPr lang="en-US" sz="3000" b="1" dirty="0">
                <a:solidFill>
                  <a:srgbClr val="1B2838"/>
                </a:solidFill>
                <a:latin typeface="Arial" pitchFamily="34" charset="0"/>
                <a:ea typeface="Arial" pitchFamily="34" charset="-122"/>
                <a:cs typeface="Arial" pitchFamily="34" charset="-120"/>
              </a:rPr>
              <a:t>Why Logistic Regression?</a:t>
            </a:r>
            <a:endParaRPr lang="en-US" sz="3000" dirty="0"/>
          </a:p>
        </p:txBody>
      </p:sp>
      <p:sp>
        <p:nvSpPr>
          <p:cNvPr id="4" name="Text 2"/>
          <p:cNvSpPr txBox="1"/>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rgbClr val="5B6B7A"/>
                </a:solidFill>
                <a:latin typeface="Calibri" pitchFamily="34" charset="0"/>
                <a:ea typeface="Calibri" pitchFamily="34" charset="-122"/>
                <a:cs typeface="Calibri" pitchFamily="34" charset="-120"/>
              </a:rPr>
              <a:t>BridgeWatch AI  ·  UMBC DATA 606</a:t>
            </a:r>
            <a:endParaRPr lang="en-US" sz="1000" dirty="0"/>
          </a:p>
        </p:txBody>
      </p:sp>
      <p:sp>
        <p:nvSpPr>
          <p:cNvPr id="5" name="Text 3"/>
          <p:cNvSpPr txBox="1"/>
          <p:nvPr/>
        </p:nvSpPr>
        <p:spPr>
          <a:xfrm>
            <a:off x="10725912" y="6400800"/>
            <a:ext cx="914400" cy="274320"/>
          </a:xfrm>
          <a:prstGeom prst="rect">
            <a:avLst/>
          </a:prstGeom>
          <a:noFill/>
          <a:ln/>
        </p:spPr>
        <p:txBody>
          <a:bodyPr wrap="square" lIns="0" tIns="0" rIns="0" bIns="0" rtlCol="0" anchor="ctr"/>
          <a:lstStyle/>
          <a:p>
            <a:pPr algn="r" indent="0" marL="0">
              <a:buNone/>
            </a:pPr>
            <a:r>
              <a:rPr lang="en-US" sz="1000" dirty="0">
                <a:solidFill>
                  <a:srgbClr val="5B6B7A"/>
                </a:solidFill>
                <a:latin typeface="Calibri" pitchFamily="34" charset="0"/>
                <a:ea typeface="Calibri" pitchFamily="34" charset="-122"/>
                <a:cs typeface="Calibri" pitchFamily="34" charset="-120"/>
              </a:rPr>
              <a:t>15</a:t>
            </a:r>
            <a:endParaRPr lang="en-US" sz="1000" dirty="0"/>
          </a:p>
        </p:txBody>
      </p:sp>
      <p:sp>
        <p:nvSpPr>
          <p:cNvPr id="6" name="Shape 4"/>
          <p:cNvSpPr/>
          <p:nvPr/>
        </p:nvSpPr>
        <p:spPr>
          <a:xfrm>
            <a:off x="548640" y="1691640"/>
            <a:ext cx="2651760" cy="3429000"/>
          </a:xfrm>
          <a:prstGeom prst="roundRect">
            <a:avLst>
              <a:gd name="adj" fmla="val 2759"/>
            </a:avLst>
          </a:prstGeom>
          <a:solidFill>
            <a:srgbClr val="EEF1F4"/>
          </a:solidFill>
          <a:ln w="12700">
            <a:solidFill>
              <a:srgbClr val="EEF1F4"/>
            </a:solidFill>
            <a:prstDash val="solid"/>
          </a:ln>
        </p:spPr>
      </p:sp>
      <p:sp>
        <p:nvSpPr>
          <p:cNvPr id="7" name="Shape 5"/>
          <p:cNvSpPr/>
          <p:nvPr/>
        </p:nvSpPr>
        <p:spPr>
          <a:xfrm>
            <a:off x="822960" y="1920240"/>
            <a:ext cx="640080" cy="640080"/>
          </a:xfrm>
          <a:prstGeom prst="ellipse">
            <a:avLst/>
          </a:prstGeom>
          <a:solidFill>
            <a:srgbClr val="E8702A"/>
          </a:solidFill>
          <a:ln w="12700">
            <a:solidFill>
              <a:srgbClr val="E8702A"/>
            </a:solidFill>
            <a:prstDash val="solid"/>
          </a:ln>
        </p:spPr>
      </p:sp>
      <p:pic>
        <p:nvPicPr>
          <p:cNvPr id="8" name="Image 0" descr="preencoded.png">    </p:cNvPr>
          <p:cNvPicPr>
            <a:picLocks noChangeAspect="1"/>
          </p:cNvPicPr>
          <p:nvPr/>
        </p:nvPicPr>
        <p:blipFill>
          <a:blip r:embed="rId1"/>
          <a:stretch>
            <a:fillRect/>
          </a:stretch>
        </p:blipFill>
        <p:spPr>
          <a:xfrm>
            <a:off x="982980" y="2080260"/>
            <a:ext cx="320040" cy="320040"/>
          </a:xfrm>
          <a:prstGeom prst="rect">
            <a:avLst/>
          </a:prstGeom>
        </p:spPr>
      </p:pic>
      <p:sp>
        <p:nvSpPr>
          <p:cNvPr id="9" name="Text 6"/>
          <p:cNvSpPr txBox="1"/>
          <p:nvPr/>
        </p:nvSpPr>
        <p:spPr>
          <a:xfrm>
            <a:off x="822960" y="2743200"/>
            <a:ext cx="2148840" cy="731520"/>
          </a:xfrm>
          <a:prstGeom prst="rect">
            <a:avLst/>
          </a:prstGeom>
          <a:noFill/>
          <a:ln/>
        </p:spPr>
        <p:txBody>
          <a:bodyPr wrap="square" lIns="0" tIns="0" rIns="0" bIns="0" rtlCol="0" anchor="t"/>
          <a:lstStyle/>
          <a:p>
            <a:pPr indent="0" marL="0">
              <a:buNone/>
            </a:pPr>
            <a:r>
              <a:rPr lang="en-US" sz="1800" b="1" dirty="0">
                <a:solidFill>
                  <a:srgbClr val="1B2838"/>
                </a:solidFill>
                <a:latin typeface="Arial" pitchFamily="34" charset="0"/>
                <a:ea typeface="Arial" pitchFamily="34" charset="-122"/>
                <a:cs typeface="Arial" pitchFamily="34" charset="-120"/>
              </a:rPr>
              <a:t>Interpretable</a:t>
            </a:r>
            <a:endParaRPr lang="en-US" sz="1800" dirty="0"/>
          </a:p>
        </p:txBody>
      </p:sp>
      <p:sp>
        <p:nvSpPr>
          <p:cNvPr id="10" name="Text 7"/>
          <p:cNvSpPr txBox="1"/>
          <p:nvPr/>
        </p:nvSpPr>
        <p:spPr>
          <a:xfrm>
            <a:off x="822960" y="3474720"/>
            <a:ext cx="2148840" cy="1554480"/>
          </a:xfrm>
          <a:prstGeom prst="rect">
            <a:avLst/>
          </a:prstGeom>
          <a:noFill/>
          <a:ln/>
        </p:spPr>
        <p:txBody>
          <a:bodyPr wrap="square" lIns="0" tIns="0" rIns="0" bIns="0" rtlCol="0" anchor="t"/>
          <a:lstStyle/>
          <a:p>
            <a:pPr indent="0" marL="0">
              <a:buNone/>
            </a:pPr>
            <a:r>
              <a:rPr lang="en-US" sz="1400" dirty="0">
                <a:solidFill>
                  <a:srgbClr val="5B6B7A"/>
                </a:solidFill>
                <a:latin typeface="Calibri" pitchFamily="34" charset="0"/>
                <a:ea typeface="Calibri" pitchFamily="34" charset="-122"/>
                <a:cs typeface="Calibri" pitchFamily="34" charset="-120"/>
              </a:rPr>
              <a:t>Each coefficient says how much a feature pushes risk up or down, so the app can explain every bridge's score.</a:t>
            </a:r>
            <a:endParaRPr lang="en-US" sz="1400" dirty="0"/>
          </a:p>
        </p:txBody>
      </p:sp>
      <p:sp>
        <p:nvSpPr>
          <p:cNvPr id="11" name="Shape 8"/>
          <p:cNvSpPr/>
          <p:nvPr/>
        </p:nvSpPr>
        <p:spPr>
          <a:xfrm>
            <a:off x="3383280" y="1691640"/>
            <a:ext cx="2651760" cy="3429000"/>
          </a:xfrm>
          <a:prstGeom prst="roundRect">
            <a:avLst>
              <a:gd name="adj" fmla="val 2759"/>
            </a:avLst>
          </a:prstGeom>
          <a:solidFill>
            <a:srgbClr val="EEF1F4"/>
          </a:solidFill>
          <a:ln w="12700">
            <a:solidFill>
              <a:srgbClr val="EEF1F4"/>
            </a:solidFill>
            <a:prstDash val="solid"/>
          </a:ln>
        </p:spPr>
      </p:sp>
      <p:sp>
        <p:nvSpPr>
          <p:cNvPr id="12" name="Shape 9"/>
          <p:cNvSpPr/>
          <p:nvPr/>
        </p:nvSpPr>
        <p:spPr>
          <a:xfrm>
            <a:off x="3657600" y="1920240"/>
            <a:ext cx="640080" cy="640080"/>
          </a:xfrm>
          <a:prstGeom prst="ellipse">
            <a:avLst/>
          </a:prstGeom>
          <a:solidFill>
            <a:srgbClr val="E8702A"/>
          </a:solidFill>
          <a:ln w="12700">
            <a:solidFill>
              <a:srgbClr val="E8702A"/>
            </a:solidFill>
            <a:prstDash val="solid"/>
          </a:ln>
        </p:spPr>
      </p:sp>
      <p:pic>
        <p:nvPicPr>
          <p:cNvPr id="13" name="Image 1" descr="preencoded.png">    </p:cNvPr>
          <p:cNvPicPr>
            <a:picLocks noChangeAspect="1"/>
          </p:cNvPicPr>
          <p:nvPr/>
        </p:nvPicPr>
        <p:blipFill>
          <a:blip r:embed="rId2"/>
          <a:stretch>
            <a:fillRect/>
          </a:stretch>
        </p:blipFill>
        <p:spPr>
          <a:xfrm>
            <a:off x="3817620" y="2080260"/>
            <a:ext cx="320040" cy="320040"/>
          </a:xfrm>
          <a:prstGeom prst="rect">
            <a:avLst/>
          </a:prstGeom>
        </p:spPr>
      </p:pic>
      <p:sp>
        <p:nvSpPr>
          <p:cNvPr id="14" name="Text 10"/>
          <p:cNvSpPr txBox="1"/>
          <p:nvPr/>
        </p:nvSpPr>
        <p:spPr>
          <a:xfrm>
            <a:off x="3657600" y="2743200"/>
            <a:ext cx="2148840" cy="731520"/>
          </a:xfrm>
          <a:prstGeom prst="rect">
            <a:avLst/>
          </a:prstGeom>
          <a:noFill/>
          <a:ln/>
        </p:spPr>
        <p:txBody>
          <a:bodyPr wrap="square" lIns="0" tIns="0" rIns="0" bIns="0" rtlCol="0" anchor="t"/>
          <a:lstStyle/>
          <a:p>
            <a:pPr indent="0" marL="0">
              <a:buNone/>
            </a:pPr>
            <a:r>
              <a:rPr lang="en-US" sz="1800" b="1" dirty="0">
                <a:solidFill>
                  <a:srgbClr val="1B2838"/>
                </a:solidFill>
                <a:latin typeface="Arial" pitchFamily="34" charset="0"/>
                <a:ea typeface="Arial" pitchFamily="34" charset="-122"/>
                <a:cs typeface="Arial" pitchFamily="34" charset="-120"/>
              </a:rPr>
              <a:t>Handles imbalance</a:t>
            </a:r>
            <a:endParaRPr lang="en-US" sz="1800" dirty="0"/>
          </a:p>
        </p:txBody>
      </p:sp>
      <p:sp>
        <p:nvSpPr>
          <p:cNvPr id="15" name="Text 11"/>
          <p:cNvSpPr txBox="1"/>
          <p:nvPr/>
        </p:nvSpPr>
        <p:spPr>
          <a:xfrm>
            <a:off x="3657600" y="3474720"/>
            <a:ext cx="2148840" cy="1554480"/>
          </a:xfrm>
          <a:prstGeom prst="rect">
            <a:avLst/>
          </a:prstGeom>
          <a:noFill/>
          <a:ln/>
        </p:spPr>
        <p:txBody>
          <a:bodyPr wrap="square" lIns="0" tIns="0" rIns="0" bIns="0" rtlCol="0" anchor="t"/>
          <a:lstStyle/>
          <a:p>
            <a:pPr indent="0" marL="0">
              <a:buNone/>
            </a:pPr>
            <a:r>
              <a:rPr lang="en-US" sz="1400" dirty="0">
                <a:solidFill>
                  <a:srgbClr val="5B6B7A"/>
                </a:solidFill>
                <a:latin typeface="Calibri" pitchFamily="34" charset="0"/>
                <a:ea typeface="Calibri" pitchFamily="34" charset="-122"/>
                <a:cs typeface="Calibri" pitchFamily="34" charset="-120"/>
              </a:rPr>
              <a:t>class_weight = "balanced" weights the rare deteriorated cases more heavily, without resampling.</a:t>
            </a:r>
            <a:endParaRPr lang="en-US" sz="1400" dirty="0"/>
          </a:p>
        </p:txBody>
      </p:sp>
      <p:sp>
        <p:nvSpPr>
          <p:cNvPr id="16" name="Shape 12"/>
          <p:cNvSpPr/>
          <p:nvPr/>
        </p:nvSpPr>
        <p:spPr>
          <a:xfrm>
            <a:off x="6217920" y="1691640"/>
            <a:ext cx="2651760" cy="3429000"/>
          </a:xfrm>
          <a:prstGeom prst="roundRect">
            <a:avLst>
              <a:gd name="adj" fmla="val 2759"/>
            </a:avLst>
          </a:prstGeom>
          <a:solidFill>
            <a:srgbClr val="EEF1F4"/>
          </a:solidFill>
          <a:ln w="12700">
            <a:solidFill>
              <a:srgbClr val="EEF1F4"/>
            </a:solidFill>
            <a:prstDash val="solid"/>
          </a:ln>
        </p:spPr>
      </p:sp>
      <p:sp>
        <p:nvSpPr>
          <p:cNvPr id="17" name="Shape 13"/>
          <p:cNvSpPr/>
          <p:nvPr/>
        </p:nvSpPr>
        <p:spPr>
          <a:xfrm>
            <a:off x="6492240" y="1920240"/>
            <a:ext cx="640080" cy="640080"/>
          </a:xfrm>
          <a:prstGeom prst="ellipse">
            <a:avLst/>
          </a:prstGeom>
          <a:solidFill>
            <a:srgbClr val="E8702A"/>
          </a:solidFill>
          <a:ln w="12700">
            <a:solidFill>
              <a:srgbClr val="E8702A"/>
            </a:solidFill>
            <a:prstDash val="solid"/>
          </a:ln>
        </p:spPr>
      </p:sp>
      <p:pic>
        <p:nvPicPr>
          <p:cNvPr id="18" name="Image 2" descr="preencoded.png">    </p:cNvPr>
          <p:cNvPicPr>
            <a:picLocks noChangeAspect="1"/>
          </p:cNvPicPr>
          <p:nvPr/>
        </p:nvPicPr>
        <p:blipFill>
          <a:blip r:embed="rId3"/>
          <a:stretch>
            <a:fillRect/>
          </a:stretch>
        </p:blipFill>
        <p:spPr>
          <a:xfrm>
            <a:off x="6652260" y="2080260"/>
            <a:ext cx="320040" cy="320040"/>
          </a:xfrm>
          <a:prstGeom prst="rect">
            <a:avLst/>
          </a:prstGeom>
        </p:spPr>
      </p:pic>
      <p:sp>
        <p:nvSpPr>
          <p:cNvPr id="19" name="Text 14"/>
          <p:cNvSpPr txBox="1"/>
          <p:nvPr/>
        </p:nvSpPr>
        <p:spPr>
          <a:xfrm>
            <a:off x="6492240" y="2743200"/>
            <a:ext cx="2148840" cy="731520"/>
          </a:xfrm>
          <a:prstGeom prst="rect">
            <a:avLst/>
          </a:prstGeom>
          <a:noFill/>
          <a:ln/>
        </p:spPr>
        <p:txBody>
          <a:bodyPr wrap="square" lIns="0" tIns="0" rIns="0" bIns="0" rtlCol="0" anchor="t"/>
          <a:lstStyle/>
          <a:p>
            <a:pPr indent="0" marL="0">
              <a:buNone/>
            </a:pPr>
            <a:r>
              <a:rPr lang="en-US" sz="1800" b="1" dirty="0">
                <a:solidFill>
                  <a:srgbClr val="1B2838"/>
                </a:solidFill>
                <a:latin typeface="Arial" pitchFamily="34" charset="0"/>
                <a:ea typeface="Arial" pitchFamily="34" charset="-122"/>
                <a:cs typeface="Arial" pitchFamily="34" charset="-120"/>
              </a:rPr>
              <a:t>Fast at this scale</a:t>
            </a:r>
            <a:endParaRPr lang="en-US" sz="1800" dirty="0"/>
          </a:p>
        </p:txBody>
      </p:sp>
      <p:sp>
        <p:nvSpPr>
          <p:cNvPr id="20" name="Text 15"/>
          <p:cNvSpPr txBox="1"/>
          <p:nvPr/>
        </p:nvSpPr>
        <p:spPr>
          <a:xfrm>
            <a:off x="6492240" y="3474720"/>
            <a:ext cx="2148840" cy="1554480"/>
          </a:xfrm>
          <a:prstGeom prst="rect">
            <a:avLst/>
          </a:prstGeom>
          <a:noFill/>
          <a:ln/>
        </p:spPr>
        <p:txBody>
          <a:bodyPr wrap="square" lIns="0" tIns="0" rIns="0" bIns="0" rtlCol="0" anchor="t"/>
          <a:lstStyle/>
          <a:p>
            <a:pPr indent="0" marL="0">
              <a:buNone/>
            </a:pPr>
            <a:r>
              <a:rPr lang="en-US" sz="1400" dirty="0">
                <a:solidFill>
                  <a:srgbClr val="5B6B7A"/>
                </a:solidFill>
                <a:latin typeface="Calibri" pitchFamily="34" charset="0"/>
                <a:ea typeface="Calibri" pitchFamily="34" charset="-122"/>
                <a:cs typeface="Calibri" pitchFamily="34" charset="-120"/>
              </a:rPr>
              <a:t>Trains quickly on over half a million rows, so different versions can be compared easily.</a:t>
            </a:r>
            <a:endParaRPr lang="en-US" sz="1400" dirty="0"/>
          </a:p>
        </p:txBody>
      </p:sp>
      <p:sp>
        <p:nvSpPr>
          <p:cNvPr id="21" name="Shape 16"/>
          <p:cNvSpPr/>
          <p:nvPr/>
        </p:nvSpPr>
        <p:spPr>
          <a:xfrm>
            <a:off x="9052560" y="1691640"/>
            <a:ext cx="2651760" cy="3429000"/>
          </a:xfrm>
          <a:prstGeom prst="roundRect">
            <a:avLst>
              <a:gd name="adj" fmla="val 2759"/>
            </a:avLst>
          </a:prstGeom>
          <a:solidFill>
            <a:srgbClr val="EEF1F4"/>
          </a:solidFill>
          <a:ln w="12700">
            <a:solidFill>
              <a:srgbClr val="EEF1F4"/>
            </a:solidFill>
            <a:prstDash val="solid"/>
          </a:ln>
        </p:spPr>
      </p:sp>
      <p:sp>
        <p:nvSpPr>
          <p:cNvPr id="22" name="Shape 17"/>
          <p:cNvSpPr/>
          <p:nvPr/>
        </p:nvSpPr>
        <p:spPr>
          <a:xfrm>
            <a:off x="9326880" y="1920240"/>
            <a:ext cx="640080" cy="640080"/>
          </a:xfrm>
          <a:prstGeom prst="ellipse">
            <a:avLst/>
          </a:prstGeom>
          <a:solidFill>
            <a:srgbClr val="E8702A"/>
          </a:solidFill>
          <a:ln w="12700">
            <a:solidFill>
              <a:srgbClr val="E8702A"/>
            </a:solidFill>
            <a:prstDash val="solid"/>
          </a:ln>
        </p:spPr>
      </p:sp>
      <p:pic>
        <p:nvPicPr>
          <p:cNvPr id="23" name="Image 3" descr="preencoded.png">    </p:cNvPr>
          <p:cNvPicPr>
            <a:picLocks noChangeAspect="1"/>
          </p:cNvPicPr>
          <p:nvPr/>
        </p:nvPicPr>
        <p:blipFill>
          <a:blip r:embed="rId4"/>
          <a:stretch>
            <a:fillRect/>
          </a:stretch>
        </p:blipFill>
        <p:spPr>
          <a:xfrm>
            <a:off x="9486900" y="2080260"/>
            <a:ext cx="320040" cy="320040"/>
          </a:xfrm>
          <a:prstGeom prst="rect">
            <a:avLst/>
          </a:prstGeom>
        </p:spPr>
      </p:pic>
      <p:sp>
        <p:nvSpPr>
          <p:cNvPr id="24" name="Text 18"/>
          <p:cNvSpPr txBox="1"/>
          <p:nvPr/>
        </p:nvSpPr>
        <p:spPr>
          <a:xfrm>
            <a:off x="9326880" y="2743200"/>
            <a:ext cx="2148840" cy="731520"/>
          </a:xfrm>
          <a:prstGeom prst="rect">
            <a:avLst/>
          </a:prstGeom>
          <a:noFill/>
          <a:ln/>
        </p:spPr>
        <p:txBody>
          <a:bodyPr wrap="square" lIns="0" tIns="0" rIns="0" bIns="0" rtlCol="0" anchor="t"/>
          <a:lstStyle/>
          <a:p>
            <a:pPr indent="0" marL="0">
              <a:buNone/>
            </a:pPr>
            <a:r>
              <a:rPr lang="en-US" sz="1800" b="1" dirty="0">
                <a:solidFill>
                  <a:srgbClr val="1B2838"/>
                </a:solidFill>
                <a:latin typeface="Arial" pitchFamily="34" charset="0"/>
                <a:ea typeface="Arial" pitchFamily="34" charset="-122"/>
                <a:cs typeface="Arial" pitchFamily="34" charset="-120"/>
              </a:rPr>
              <a:t>A strong baseline</a:t>
            </a:r>
            <a:endParaRPr lang="en-US" sz="1800" dirty="0"/>
          </a:p>
        </p:txBody>
      </p:sp>
      <p:sp>
        <p:nvSpPr>
          <p:cNvPr id="25" name="Text 19"/>
          <p:cNvSpPr txBox="1"/>
          <p:nvPr/>
        </p:nvSpPr>
        <p:spPr>
          <a:xfrm>
            <a:off x="9326880" y="3474720"/>
            <a:ext cx="2148840" cy="1554480"/>
          </a:xfrm>
          <a:prstGeom prst="rect">
            <a:avLst/>
          </a:prstGeom>
          <a:noFill/>
          <a:ln/>
        </p:spPr>
        <p:txBody>
          <a:bodyPr wrap="square" lIns="0" tIns="0" rIns="0" bIns="0" rtlCol="0" anchor="t"/>
          <a:lstStyle/>
          <a:p>
            <a:pPr indent="0" marL="0">
              <a:buNone/>
            </a:pPr>
            <a:r>
              <a:rPr lang="en-US" sz="1400" dirty="0">
                <a:solidFill>
                  <a:srgbClr val="5B6B7A"/>
                </a:solidFill>
                <a:latin typeface="Calibri" pitchFamily="34" charset="0"/>
                <a:ea typeface="Calibri" pitchFamily="34" charset="-122"/>
                <a:cs typeface="Calibri" pitchFamily="34" charset="-120"/>
              </a:rPr>
              <a:t>A standard first model. Anything more complex has to beat it to justify the added complexity.</a:t>
            </a:r>
            <a:endParaRPr lang="en-US" sz="1400" dirty="0"/>
          </a:p>
        </p:txBody>
      </p:sp>
      <p:sp>
        <p:nvSpPr>
          <p:cNvPr id="26" name="Shape 20"/>
          <p:cNvSpPr/>
          <p:nvPr/>
        </p:nvSpPr>
        <p:spPr>
          <a:xfrm>
            <a:off x="548640" y="5349240"/>
            <a:ext cx="11109960" cy="731520"/>
          </a:xfrm>
          <a:prstGeom prst="roundRect">
            <a:avLst>
              <a:gd name="adj" fmla="val 10000"/>
            </a:avLst>
          </a:prstGeom>
          <a:solidFill>
            <a:srgbClr val="FDF0E7"/>
          </a:solidFill>
          <a:ln w="12700">
            <a:solidFill>
              <a:srgbClr val="FDF0E7"/>
            </a:solidFill>
            <a:prstDash val="solid"/>
          </a:ln>
        </p:spPr>
      </p:sp>
      <p:sp>
        <p:nvSpPr>
          <p:cNvPr id="27" name="Text 21"/>
          <p:cNvSpPr txBox="1"/>
          <p:nvPr/>
        </p:nvSpPr>
        <p:spPr>
          <a:xfrm>
            <a:off x="777240" y="5440680"/>
            <a:ext cx="10698480" cy="548640"/>
          </a:xfrm>
          <a:prstGeom prst="rect">
            <a:avLst/>
          </a:prstGeom>
          <a:noFill/>
          <a:ln/>
        </p:spPr>
        <p:txBody>
          <a:bodyPr wrap="square" lIns="0" tIns="0" rIns="0" bIns="0" rtlCol="0" anchor="ctr"/>
          <a:lstStyle/>
          <a:p>
            <a:pPr indent="0" marL="0">
              <a:buNone/>
            </a:pPr>
            <a:r>
              <a:rPr lang="en-US" sz="1400" dirty="0">
                <a:solidFill>
                  <a:srgbClr val="1B2838"/>
                </a:solidFill>
                <a:latin typeface="Calibri" pitchFamily="34" charset="0"/>
                <a:ea typeface="Calibri" pitchFamily="34" charset="-122"/>
                <a:cs typeface="Calibri" pitchFamily="34" charset="-120"/>
              </a:rPr>
              <a:t>More flexible models (random forests, gradient boosting) can capture more complex patterns but are harder to explain. They are the planned comparison, not the starting point.</a:t>
            </a:r>
            <a:endParaRPr lang="en-US"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320040"/>
          </a:xfrm>
          <a:prstGeom prst="rect">
            <a:avLst/>
          </a:prstGeom>
          <a:noFill/>
          <a:ln/>
        </p:spPr>
        <p:txBody>
          <a:bodyPr wrap="square" lIns="0" tIns="0" rIns="0" bIns="0" rtlCol="0" anchor="ctr"/>
          <a:lstStyle/>
          <a:p>
            <a:pPr indent="0" marL="0">
              <a:buNone/>
            </a:pPr>
            <a:r>
              <a:rPr lang="en-US" sz="1200" b="1" spc="200" kern="0" dirty="0">
                <a:solidFill>
                  <a:srgbClr val="E8702A"/>
                </a:solidFill>
                <a:latin typeface="Arial" pitchFamily="34" charset="0"/>
                <a:ea typeface="Arial" pitchFamily="34" charset="-122"/>
                <a:cs typeface="Arial" pitchFamily="34" charset="-120"/>
              </a:rPr>
              <a:t>TRAINING</a:t>
            </a:r>
            <a:endParaRPr lang="en-US" sz="1200" dirty="0"/>
          </a:p>
        </p:txBody>
      </p:sp>
      <p:sp>
        <p:nvSpPr>
          <p:cNvPr id="3" name="Text 1"/>
          <p:cNvSpPr txBox="1"/>
          <p:nvPr/>
        </p:nvSpPr>
        <p:spPr>
          <a:xfrm>
            <a:off x="548640" y="640080"/>
            <a:ext cx="11064240" cy="685800"/>
          </a:xfrm>
          <a:prstGeom prst="rect">
            <a:avLst/>
          </a:prstGeom>
          <a:noFill/>
          <a:ln/>
        </p:spPr>
        <p:txBody>
          <a:bodyPr wrap="square" lIns="0" tIns="0" rIns="0" bIns="0" rtlCol="0" anchor="ctr"/>
          <a:lstStyle/>
          <a:p>
            <a:pPr indent="0" marL="0">
              <a:buNone/>
            </a:pPr>
            <a:r>
              <a:rPr lang="en-US" sz="3000" b="1" dirty="0">
                <a:solidFill>
                  <a:srgbClr val="1B2838"/>
                </a:solidFill>
                <a:latin typeface="Arial" pitchFamily="34" charset="0"/>
                <a:ea typeface="Arial" pitchFamily="34" charset="-122"/>
                <a:cs typeface="Arial" pitchFamily="34" charset="-120"/>
              </a:rPr>
              <a:t>How the model was trained</a:t>
            </a:r>
            <a:endParaRPr lang="en-US" sz="3000" dirty="0"/>
          </a:p>
        </p:txBody>
      </p:sp>
      <p:sp>
        <p:nvSpPr>
          <p:cNvPr id="4" name="Text 2"/>
          <p:cNvSpPr txBox="1"/>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rgbClr val="5B6B7A"/>
                </a:solidFill>
                <a:latin typeface="Calibri" pitchFamily="34" charset="0"/>
                <a:ea typeface="Calibri" pitchFamily="34" charset="-122"/>
                <a:cs typeface="Calibri" pitchFamily="34" charset="-120"/>
              </a:rPr>
              <a:t>BridgeWatch AI  ·  UMBC DATA 606</a:t>
            </a:r>
            <a:endParaRPr lang="en-US" sz="1000" dirty="0"/>
          </a:p>
        </p:txBody>
      </p:sp>
      <p:sp>
        <p:nvSpPr>
          <p:cNvPr id="5" name="Text 3"/>
          <p:cNvSpPr txBox="1"/>
          <p:nvPr/>
        </p:nvSpPr>
        <p:spPr>
          <a:xfrm>
            <a:off x="10725912" y="6400800"/>
            <a:ext cx="914400" cy="274320"/>
          </a:xfrm>
          <a:prstGeom prst="rect">
            <a:avLst/>
          </a:prstGeom>
          <a:noFill/>
          <a:ln/>
        </p:spPr>
        <p:txBody>
          <a:bodyPr wrap="square" lIns="0" tIns="0" rIns="0" bIns="0" rtlCol="0" anchor="ctr"/>
          <a:lstStyle/>
          <a:p>
            <a:pPr algn="r" indent="0" marL="0">
              <a:buNone/>
            </a:pPr>
            <a:r>
              <a:rPr lang="en-US" sz="1000" dirty="0">
                <a:solidFill>
                  <a:srgbClr val="5B6B7A"/>
                </a:solidFill>
                <a:latin typeface="Calibri" pitchFamily="34" charset="0"/>
                <a:ea typeface="Calibri" pitchFamily="34" charset="-122"/>
                <a:cs typeface="Calibri" pitchFamily="34" charset="-120"/>
              </a:rPr>
              <a:t>16</a:t>
            </a:r>
            <a:endParaRPr lang="en-US" sz="1000" dirty="0"/>
          </a:p>
        </p:txBody>
      </p:sp>
      <p:sp>
        <p:nvSpPr>
          <p:cNvPr id="6" name="Shape 4"/>
          <p:cNvSpPr/>
          <p:nvPr/>
        </p:nvSpPr>
        <p:spPr>
          <a:xfrm>
            <a:off x="548640" y="1645920"/>
            <a:ext cx="2468880" cy="1371600"/>
          </a:xfrm>
          <a:prstGeom prst="roundRect">
            <a:avLst>
              <a:gd name="adj" fmla="val 5333"/>
            </a:avLst>
          </a:prstGeom>
          <a:solidFill>
            <a:srgbClr val="3E5569"/>
          </a:solidFill>
          <a:ln w="12700">
            <a:solidFill>
              <a:srgbClr val="3E5569"/>
            </a:solidFill>
            <a:prstDash val="solid"/>
          </a:ln>
        </p:spPr>
      </p:sp>
      <p:sp>
        <p:nvSpPr>
          <p:cNvPr id="7" name="Text 5"/>
          <p:cNvSpPr txBox="1"/>
          <p:nvPr/>
        </p:nvSpPr>
        <p:spPr>
          <a:xfrm>
            <a:off x="685800" y="1783080"/>
            <a:ext cx="2194560" cy="411480"/>
          </a:xfrm>
          <a:prstGeom prst="rect">
            <a:avLst/>
          </a:prstGeom>
          <a:noFill/>
          <a:ln/>
        </p:spPr>
        <p:txBody>
          <a:bodyPr wrap="square" lIns="0" tIns="0" rIns="0" bIns="0" rtlCol="0" anchor="t"/>
          <a:lstStyle/>
          <a:p>
            <a:pPr algn="ctr" indent="0" marL="0">
              <a:buNone/>
            </a:pPr>
            <a:r>
              <a:rPr lang="en-US" sz="1600" b="1" dirty="0">
                <a:solidFill>
                  <a:srgbClr val="FFFFFF"/>
                </a:solidFill>
                <a:latin typeface="Arial" pitchFamily="34" charset="0"/>
                <a:ea typeface="Arial" pitchFamily="34" charset="-122"/>
                <a:cs typeface="Arial" pitchFamily="34" charset="-120"/>
              </a:rPr>
              <a:t>26 features</a:t>
            </a:r>
            <a:endParaRPr lang="en-US" sz="1600" dirty="0"/>
          </a:p>
        </p:txBody>
      </p:sp>
      <p:sp>
        <p:nvSpPr>
          <p:cNvPr id="8" name="Text 6"/>
          <p:cNvSpPr txBox="1"/>
          <p:nvPr/>
        </p:nvSpPr>
        <p:spPr>
          <a:xfrm>
            <a:off x="685800" y="2240280"/>
            <a:ext cx="2194560" cy="731520"/>
          </a:xfrm>
          <a:prstGeom prst="rect">
            <a:avLst/>
          </a:prstGeom>
          <a:noFill/>
          <a:ln/>
        </p:spPr>
        <p:txBody>
          <a:bodyPr wrap="square" lIns="0" tIns="0" rIns="0" bIns="0" rtlCol="0" anchor="t"/>
          <a:lstStyle/>
          <a:p>
            <a:pPr algn="ctr" indent="0" marL="0">
              <a:buNone/>
            </a:pPr>
            <a:r>
              <a:rPr lang="en-US" sz="1300" dirty="0">
                <a:solidFill>
                  <a:srgbClr val="FFFFFF"/>
                </a:solidFill>
                <a:latin typeface="Calibri" pitchFamily="34" charset="0"/>
                <a:ea typeface="Calibri" pitchFamily="34" charset="-122"/>
                <a:cs typeface="Calibri" pitchFamily="34" charset="-120"/>
              </a:rPr>
              <a:t>bridge + weather</a:t>
            </a:r>
            <a:endParaRPr lang="en-US" sz="1300" dirty="0"/>
          </a:p>
        </p:txBody>
      </p:sp>
      <p:sp>
        <p:nvSpPr>
          <p:cNvPr id="9" name="Shape 7"/>
          <p:cNvSpPr/>
          <p:nvPr/>
        </p:nvSpPr>
        <p:spPr>
          <a:xfrm>
            <a:off x="3063240" y="2331720"/>
            <a:ext cx="274320" cy="0"/>
          </a:xfrm>
          <a:prstGeom prst="line">
            <a:avLst/>
          </a:prstGeom>
          <a:noFill/>
          <a:ln w="19050">
            <a:solidFill>
              <a:srgbClr val="5B6B7A"/>
            </a:solidFill>
            <a:prstDash val="solid"/>
            <a:tailEnd type="triangle"/>
          </a:ln>
        </p:spPr>
      </p:sp>
      <p:sp>
        <p:nvSpPr>
          <p:cNvPr id="10" name="Shape 8"/>
          <p:cNvSpPr/>
          <p:nvPr/>
        </p:nvSpPr>
        <p:spPr>
          <a:xfrm>
            <a:off x="3383280" y="1645920"/>
            <a:ext cx="2468880" cy="1371600"/>
          </a:xfrm>
          <a:prstGeom prst="roundRect">
            <a:avLst>
              <a:gd name="adj" fmla="val 5333"/>
            </a:avLst>
          </a:prstGeom>
          <a:solidFill>
            <a:srgbClr val="3E5569"/>
          </a:solidFill>
          <a:ln w="12700">
            <a:solidFill>
              <a:srgbClr val="3E5569"/>
            </a:solidFill>
            <a:prstDash val="solid"/>
          </a:ln>
        </p:spPr>
      </p:sp>
      <p:sp>
        <p:nvSpPr>
          <p:cNvPr id="11" name="Text 9"/>
          <p:cNvSpPr txBox="1"/>
          <p:nvPr/>
        </p:nvSpPr>
        <p:spPr>
          <a:xfrm>
            <a:off x="3520440" y="1783080"/>
            <a:ext cx="2194560" cy="411480"/>
          </a:xfrm>
          <a:prstGeom prst="rect">
            <a:avLst/>
          </a:prstGeom>
          <a:noFill/>
          <a:ln/>
        </p:spPr>
        <p:txBody>
          <a:bodyPr wrap="square" lIns="0" tIns="0" rIns="0" bIns="0" rtlCol="0" anchor="t"/>
          <a:lstStyle/>
          <a:p>
            <a:pPr algn="ctr" indent="0" marL="0">
              <a:buNone/>
            </a:pPr>
            <a:r>
              <a:rPr lang="en-US" sz="1600" b="1" dirty="0">
                <a:solidFill>
                  <a:srgbClr val="FFFFFF"/>
                </a:solidFill>
                <a:latin typeface="Arial" pitchFamily="34" charset="0"/>
                <a:ea typeface="Arial" pitchFamily="34" charset="-122"/>
                <a:cs typeface="Arial" pitchFamily="34" charset="-120"/>
              </a:rPr>
              <a:t>Fill gaps</a:t>
            </a:r>
            <a:endParaRPr lang="en-US" sz="1600" dirty="0"/>
          </a:p>
        </p:txBody>
      </p:sp>
      <p:sp>
        <p:nvSpPr>
          <p:cNvPr id="12" name="Text 10"/>
          <p:cNvSpPr txBox="1"/>
          <p:nvPr/>
        </p:nvSpPr>
        <p:spPr>
          <a:xfrm>
            <a:off x="3520440" y="2240280"/>
            <a:ext cx="2194560" cy="731520"/>
          </a:xfrm>
          <a:prstGeom prst="rect">
            <a:avLst/>
          </a:prstGeom>
          <a:noFill/>
          <a:ln/>
        </p:spPr>
        <p:txBody>
          <a:bodyPr wrap="square" lIns="0" tIns="0" rIns="0" bIns="0" rtlCol="0" anchor="t"/>
          <a:lstStyle/>
          <a:p>
            <a:pPr algn="ctr" indent="0" marL="0">
              <a:buNone/>
            </a:pPr>
            <a:r>
              <a:rPr lang="en-US" sz="1300" dirty="0">
                <a:solidFill>
                  <a:srgbClr val="FFFFFF"/>
                </a:solidFill>
                <a:latin typeface="Calibri" pitchFamily="34" charset="0"/>
                <a:ea typeface="Calibri" pitchFamily="34" charset="-122"/>
                <a:cs typeface="Calibri" pitchFamily="34" charset="-120"/>
              </a:rPr>
              <a:t>median / most common</a:t>
            </a:r>
            <a:endParaRPr lang="en-US" sz="1300" dirty="0"/>
          </a:p>
        </p:txBody>
      </p:sp>
      <p:sp>
        <p:nvSpPr>
          <p:cNvPr id="13" name="Shape 11"/>
          <p:cNvSpPr/>
          <p:nvPr/>
        </p:nvSpPr>
        <p:spPr>
          <a:xfrm>
            <a:off x="5897880" y="2331720"/>
            <a:ext cx="274320" cy="0"/>
          </a:xfrm>
          <a:prstGeom prst="line">
            <a:avLst/>
          </a:prstGeom>
          <a:noFill/>
          <a:ln w="19050">
            <a:solidFill>
              <a:srgbClr val="5B6B7A"/>
            </a:solidFill>
            <a:prstDash val="solid"/>
            <a:tailEnd type="triangle"/>
          </a:ln>
        </p:spPr>
      </p:sp>
      <p:sp>
        <p:nvSpPr>
          <p:cNvPr id="14" name="Shape 12"/>
          <p:cNvSpPr/>
          <p:nvPr/>
        </p:nvSpPr>
        <p:spPr>
          <a:xfrm>
            <a:off x="6217920" y="1645920"/>
            <a:ext cx="2468880" cy="1371600"/>
          </a:xfrm>
          <a:prstGeom prst="roundRect">
            <a:avLst>
              <a:gd name="adj" fmla="val 5333"/>
            </a:avLst>
          </a:prstGeom>
          <a:solidFill>
            <a:srgbClr val="3E5569"/>
          </a:solidFill>
          <a:ln w="12700">
            <a:solidFill>
              <a:srgbClr val="3E5569"/>
            </a:solidFill>
            <a:prstDash val="solid"/>
          </a:ln>
        </p:spPr>
      </p:sp>
      <p:sp>
        <p:nvSpPr>
          <p:cNvPr id="15" name="Text 13"/>
          <p:cNvSpPr txBox="1"/>
          <p:nvPr/>
        </p:nvSpPr>
        <p:spPr>
          <a:xfrm>
            <a:off x="6355080" y="1783080"/>
            <a:ext cx="2194560" cy="411480"/>
          </a:xfrm>
          <a:prstGeom prst="rect">
            <a:avLst/>
          </a:prstGeom>
          <a:noFill/>
          <a:ln/>
        </p:spPr>
        <p:txBody>
          <a:bodyPr wrap="square" lIns="0" tIns="0" rIns="0" bIns="0" rtlCol="0" anchor="t"/>
          <a:lstStyle/>
          <a:p>
            <a:pPr algn="ctr" indent="0" marL="0">
              <a:buNone/>
            </a:pPr>
            <a:r>
              <a:rPr lang="en-US" sz="1600" b="1" dirty="0">
                <a:solidFill>
                  <a:srgbClr val="FFFFFF"/>
                </a:solidFill>
                <a:latin typeface="Arial" pitchFamily="34" charset="0"/>
                <a:ea typeface="Arial" pitchFamily="34" charset="-122"/>
                <a:cs typeface="Arial" pitchFamily="34" charset="-120"/>
              </a:rPr>
              <a:t>Scale + encode</a:t>
            </a:r>
            <a:endParaRPr lang="en-US" sz="1600" dirty="0"/>
          </a:p>
        </p:txBody>
      </p:sp>
      <p:sp>
        <p:nvSpPr>
          <p:cNvPr id="16" name="Text 14"/>
          <p:cNvSpPr txBox="1"/>
          <p:nvPr/>
        </p:nvSpPr>
        <p:spPr>
          <a:xfrm>
            <a:off x="6355080" y="2240280"/>
            <a:ext cx="2194560" cy="731520"/>
          </a:xfrm>
          <a:prstGeom prst="rect">
            <a:avLst/>
          </a:prstGeom>
          <a:noFill/>
          <a:ln/>
        </p:spPr>
        <p:txBody>
          <a:bodyPr wrap="square" lIns="0" tIns="0" rIns="0" bIns="0" rtlCol="0" anchor="t"/>
          <a:lstStyle/>
          <a:p>
            <a:pPr algn="ctr" indent="0" marL="0">
              <a:buNone/>
            </a:pPr>
            <a:r>
              <a:rPr lang="en-US" sz="1300" dirty="0">
                <a:solidFill>
                  <a:srgbClr val="FFFFFF"/>
                </a:solidFill>
                <a:latin typeface="Calibri" pitchFamily="34" charset="0"/>
                <a:ea typeface="Calibri" pitchFamily="34" charset="-122"/>
                <a:cs typeface="Calibri" pitchFamily="34" charset="-120"/>
              </a:rPr>
              <a:t>numbers scaled, categories one-hot: 154 columns</a:t>
            </a:r>
            <a:endParaRPr lang="en-US" sz="1300" dirty="0"/>
          </a:p>
        </p:txBody>
      </p:sp>
      <p:sp>
        <p:nvSpPr>
          <p:cNvPr id="17" name="Shape 15"/>
          <p:cNvSpPr/>
          <p:nvPr/>
        </p:nvSpPr>
        <p:spPr>
          <a:xfrm>
            <a:off x="8732520" y="2331720"/>
            <a:ext cx="274320" cy="0"/>
          </a:xfrm>
          <a:prstGeom prst="line">
            <a:avLst/>
          </a:prstGeom>
          <a:noFill/>
          <a:ln w="19050">
            <a:solidFill>
              <a:srgbClr val="5B6B7A"/>
            </a:solidFill>
            <a:prstDash val="solid"/>
            <a:tailEnd type="triangle"/>
          </a:ln>
        </p:spPr>
      </p:sp>
      <p:sp>
        <p:nvSpPr>
          <p:cNvPr id="18" name="Shape 16"/>
          <p:cNvSpPr/>
          <p:nvPr/>
        </p:nvSpPr>
        <p:spPr>
          <a:xfrm>
            <a:off x="9052560" y="1645920"/>
            <a:ext cx="2468880" cy="1371600"/>
          </a:xfrm>
          <a:prstGeom prst="roundRect">
            <a:avLst>
              <a:gd name="adj" fmla="val 5333"/>
            </a:avLst>
          </a:prstGeom>
          <a:solidFill>
            <a:srgbClr val="E8702A"/>
          </a:solidFill>
          <a:ln w="12700">
            <a:solidFill>
              <a:srgbClr val="E8702A"/>
            </a:solidFill>
            <a:prstDash val="solid"/>
          </a:ln>
        </p:spPr>
      </p:sp>
      <p:sp>
        <p:nvSpPr>
          <p:cNvPr id="19" name="Text 17"/>
          <p:cNvSpPr txBox="1"/>
          <p:nvPr/>
        </p:nvSpPr>
        <p:spPr>
          <a:xfrm>
            <a:off x="9189720" y="1783080"/>
            <a:ext cx="2194560" cy="411480"/>
          </a:xfrm>
          <a:prstGeom prst="rect">
            <a:avLst/>
          </a:prstGeom>
          <a:noFill/>
          <a:ln/>
        </p:spPr>
        <p:txBody>
          <a:bodyPr wrap="square" lIns="0" tIns="0" rIns="0" bIns="0" rtlCol="0" anchor="t"/>
          <a:lstStyle/>
          <a:p>
            <a:pPr algn="ctr" indent="0" marL="0">
              <a:buNone/>
            </a:pPr>
            <a:r>
              <a:rPr lang="en-US" sz="1600" b="1" dirty="0">
                <a:solidFill>
                  <a:srgbClr val="FFFFFF"/>
                </a:solidFill>
                <a:latin typeface="Arial" pitchFamily="34" charset="0"/>
                <a:ea typeface="Arial" pitchFamily="34" charset="-122"/>
                <a:cs typeface="Arial" pitchFamily="34" charset="-120"/>
              </a:rPr>
              <a:t>Logistic Regression</a:t>
            </a:r>
            <a:endParaRPr lang="en-US" sz="1600" dirty="0"/>
          </a:p>
        </p:txBody>
      </p:sp>
      <p:sp>
        <p:nvSpPr>
          <p:cNvPr id="20" name="Text 18"/>
          <p:cNvSpPr txBox="1"/>
          <p:nvPr/>
        </p:nvSpPr>
        <p:spPr>
          <a:xfrm>
            <a:off x="9189720" y="2240280"/>
            <a:ext cx="2194560" cy="731520"/>
          </a:xfrm>
          <a:prstGeom prst="rect">
            <a:avLst/>
          </a:prstGeom>
          <a:noFill/>
          <a:ln/>
        </p:spPr>
        <p:txBody>
          <a:bodyPr wrap="square" lIns="0" tIns="0" rIns="0" bIns="0" rtlCol="0" anchor="t"/>
          <a:lstStyle/>
          <a:p>
            <a:pPr algn="ctr" indent="0" marL="0">
              <a:buNone/>
            </a:pPr>
            <a:r>
              <a:rPr lang="en-US" sz="1300" dirty="0">
                <a:solidFill>
                  <a:srgbClr val="FFFFFF"/>
                </a:solidFill>
                <a:latin typeface="Calibri" pitchFamily="34" charset="0"/>
                <a:ea typeface="Calibri" pitchFamily="34" charset="-122"/>
                <a:cs typeface="Calibri" pitchFamily="34" charset="-120"/>
              </a:rPr>
              <a:t>balanced class weights</a:t>
            </a:r>
            <a:endParaRPr lang="en-US" sz="1300" dirty="0"/>
          </a:p>
        </p:txBody>
      </p:sp>
      <p:sp>
        <p:nvSpPr>
          <p:cNvPr id="21" name="Text 19"/>
          <p:cNvSpPr txBox="1"/>
          <p:nvPr/>
        </p:nvSpPr>
        <p:spPr>
          <a:xfrm>
            <a:off x="548640" y="3154680"/>
            <a:ext cx="11064240" cy="365760"/>
          </a:xfrm>
          <a:prstGeom prst="rect">
            <a:avLst/>
          </a:prstGeom>
          <a:noFill/>
          <a:ln/>
        </p:spPr>
        <p:txBody>
          <a:bodyPr wrap="square" lIns="0" tIns="0" rIns="0" bIns="0" rtlCol="0" anchor="t"/>
          <a:lstStyle/>
          <a:p>
            <a:pPr indent="0" marL="0">
              <a:buNone/>
            </a:pPr>
            <a:r>
              <a:rPr lang="en-US" sz="1400" dirty="0">
                <a:solidFill>
                  <a:srgbClr val="5B6B7A"/>
                </a:solidFill>
                <a:latin typeface="Calibri" pitchFamily="34" charset="0"/>
                <a:ea typeface="Calibri" pitchFamily="34" charset="-122"/>
                <a:cs typeface="Calibri" pitchFamily="34" charset="-120"/>
              </a:rPr>
              <a:t>One scikit-learn pipeline, fit on training data only, so nothing about the test year leaks into preprocessing.</a:t>
            </a:r>
            <a:endParaRPr lang="en-US" sz="1400" dirty="0"/>
          </a:p>
        </p:txBody>
      </p:sp>
      <p:sp>
        <p:nvSpPr>
          <p:cNvPr id="22" name="Text 20"/>
          <p:cNvSpPr txBox="1"/>
          <p:nvPr/>
        </p:nvSpPr>
        <p:spPr>
          <a:xfrm>
            <a:off x="548640" y="3749040"/>
            <a:ext cx="10972800" cy="365760"/>
          </a:xfrm>
          <a:prstGeom prst="rect">
            <a:avLst/>
          </a:prstGeom>
          <a:noFill/>
          <a:ln/>
        </p:spPr>
        <p:txBody>
          <a:bodyPr wrap="square" lIns="0" tIns="0" rIns="0" bIns="0" rtlCol="0" anchor="t"/>
          <a:lstStyle/>
          <a:p>
            <a:pPr indent="0" marL="0">
              <a:buNone/>
            </a:pPr>
            <a:r>
              <a:rPr lang="en-US" sz="1800" b="1" dirty="0">
                <a:solidFill>
                  <a:srgbClr val="1B2838"/>
                </a:solidFill>
                <a:latin typeface="Arial" pitchFamily="34" charset="0"/>
                <a:ea typeface="Arial" pitchFamily="34" charset="-122"/>
                <a:cs typeface="Arial" pitchFamily="34" charset="-120"/>
              </a:rPr>
              <a:t>Time-based train / test split</a:t>
            </a:r>
            <a:endParaRPr lang="en-US" sz="1800" dirty="0"/>
          </a:p>
        </p:txBody>
      </p:sp>
      <p:sp>
        <p:nvSpPr>
          <p:cNvPr id="23" name="Shape 21"/>
          <p:cNvSpPr/>
          <p:nvPr/>
        </p:nvSpPr>
        <p:spPr>
          <a:xfrm>
            <a:off x="548640" y="4251960"/>
            <a:ext cx="8778240" cy="731520"/>
          </a:xfrm>
          <a:prstGeom prst="rect">
            <a:avLst/>
          </a:prstGeom>
          <a:solidFill>
            <a:srgbClr val="3E5569"/>
          </a:solidFill>
          <a:ln w="12700">
            <a:solidFill>
              <a:srgbClr val="3E5569"/>
            </a:solidFill>
            <a:prstDash val="solid"/>
          </a:ln>
        </p:spPr>
      </p:sp>
      <p:sp>
        <p:nvSpPr>
          <p:cNvPr id="24" name="Shape 22"/>
          <p:cNvSpPr/>
          <p:nvPr/>
        </p:nvSpPr>
        <p:spPr>
          <a:xfrm>
            <a:off x="9372600" y="4251960"/>
            <a:ext cx="2286000" cy="731520"/>
          </a:xfrm>
          <a:prstGeom prst="rect">
            <a:avLst/>
          </a:prstGeom>
          <a:solidFill>
            <a:srgbClr val="E8702A"/>
          </a:solidFill>
          <a:ln w="12700">
            <a:solidFill>
              <a:srgbClr val="E8702A"/>
            </a:solidFill>
            <a:prstDash val="solid"/>
          </a:ln>
        </p:spPr>
      </p:sp>
      <p:sp>
        <p:nvSpPr>
          <p:cNvPr id="25" name="Text 23"/>
          <p:cNvSpPr txBox="1"/>
          <p:nvPr/>
        </p:nvSpPr>
        <p:spPr>
          <a:xfrm>
            <a:off x="731520" y="4251960"/>
            <a:ext cx="8412480" cy="73152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Train: transitions ending 2021 to 2024  ·  543,921 rows</a:t>
            </a:r>
            <a:endParaRPr lang="en-US" sz="1500" dirty="0"/>
          </a:p>
        </p:txBody>
      </p:sp>
      <p:sp>
        <p:nvSpPr>
          <p:cNvPr id="26" name="Text 24"/>
          <p:cNvSpPr txBox="1"/>
          <p:nvPr/>
        </p:nvSpPr>
        <p:spPr>
          <a:xfrm>
            <a:off x="9464040" y="4251960"/>
            <a:ext cx="2148840" cy="7315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Test: 2025  ·  137,920</a:t>
            </a:r>
            <a:endParaRPr lang="en-US" sz="1400" dirty="0"/>
          </a:p>
        </p:txBody>
      </p:sp>
      <p:sp>
        <p:nvSpPr>
          <p:cNvPr id="27" name="Text 25"/>
          <p:cNvSpPr txBox="1"/>
          <p:nvPr/>
        </p:nvSpPr>
        <p:spPr>
          <a:xfrm>
            <a:off x="548640" y="5166360"/>
            <a:ext cx="11064240" cy="822960"/>
          </a:xfrm>
          <a:prstGeom prst="rect">
            <a:avLst/>
          </a:prstGeom>
          <a:noFill/>
          <a:ln/>
        </p:spPr>
        <p:txBody>
          <a:bodyPr wrap="square" lIns="0" tIns="0" rIns="0" bIns="0" rtlCol="0" anchor="t"/>
          <a:lstStyle/>
          <a:p>
            <a:pPr indent="0" marL="0">
              <a:buNone/>
            </a:pPr>
            <a:r>
              <a:rPr lang="en-US" sz="1400" dirty="0">
                <a:solidFill>
                  <a:srgbClr val="1B2838"/>
                </a:solidFill>
                <a:latin typeface="Calibri" pitchFamily="34" charset="0"/>
                <a:ea typeface="Calibri" pitchFamily="34" charset="-122"/>
                <a:cs typeface="Calibri" pitchFamily="34" charset="-120"/>
              </a:rPr>
              <a:t>Mirrors real use: learn from past years, then forecast a year the model has never seen. The same bridge can appear in both sets, but its 2025 outcome is never used in training.</a:t>
            </a:r>
            <a:endParaRPr lang="en-US" sz="1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320040"/>
          </a:xfrm>
          <a:prstGeom prst="rect">
            <a:avLst/>
          </a:prstGeom>
          <a:noFill/>
          <a:ln/>
        </p:spPr>
        <p:txBody>
          <a:bodyPr wrap="square" lIns="0" tIns="0" rIns="0" bIns="0" rtlCol="0" anchor="ctr"/>
          <a:lstStyle/>
          <a:p>
            <a:pPr indent="0" marL="0">
              <a:buNone/>
            </a:pPr>
            <a:r>
              <a:rPr lang="en-US" sz="1200" b="1" spc="200" kern="0" dirty="0">
                <a:solidFill>
                  <a:srgbClr val="E8702A"/>
                </a:solidFill>
                <a:latin typeface="Arial" pitchFamily="34" charset="0"/>
                <a:ea typeface="Arial" pitchFamily="34" charset="-122"/>
                <a:cs typeface="Arial" pitchFamily="34" charset="-120"/>
              </a:rPr>
              <a:t>RESULTS</a:t>
            </a:r>
            <a:endParaRPr lang="en-US" sz="1200" dirty="0"/>
          </a:p>
        </p:txBody>
      </p:sp>
      <p:sp>
        <p:nvSpPr>
          <p:cNvPr id="3" name="Text 1"/>
          <p:cNvSpPr txBox="1"/>
          <p:nvPr/>
        </p:nvSpPr>
        <p:spPr>
          <a:xfrm>
            <a:off x="548640" y="640080"/>
            <a:ext cx="11064240" cy="685800"/>
          </a:xfrm>
          <a:prstGeom prst="rect">
            <a:avLst/>
          </a:prstGeom>
          <a:noFill/>
          <a:ln/>
        </p:spPr>
        <p:txBody>
          <a:bodyPr wrap="square" lIns="0" tIns="0" rIns="0" bIns="0" rtlCol="0" anchor="ctr"/>
          <a:lstStyle/>
          <a:p>
            <a:pPr indent="0" marL="0">
              <a:buNone/>
            </a:pPr>
            <a:r>
              <a:rPr lang="en-US" sz="3000" b="1" dirty="0">
                <a:solidFill>
                  <a:srgbClr val="1B2838"/>
                </a:solidFill>
                <a:latin typeface="Arial" pitchFamily="34" charset="0"/>
                <a:ea typeface="Arial" pitchFamily="34" charset="-122"/>
                <a:cs typeface="Arial" pitchFamily="34" charset="-120"/>
              </a:rPr>
              <a:t>How well does it work on 2025?</a:t>
            </a:r>
            <a:endParaRPr lang="en-US" sz="3000" dirty="0"/>
          </a:p>
        </p:txBody>
      </p:sp>
      <p:sp>
        <p:nvSpPr>
          <p:cNvPr id="4" name="Text 2"/>
          <p:cNvSpPr txBox="1"/>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rgbClr val="5B6B7A"/>
                </a:solidFill>
                <a:latin typeface="Calibri" pitchFamily="34" charset="0"/>
                <a:ea typeface="Calibri" pitchFamily="34" charset="-122"/>
                <a:cs typeface="Calibri" pitchFamily="34" charset="-120"/>
              </a:rPr>
              <a:t>BridgeWatch AI  ·  UMBC DATA 606</a:t>
            </a:r>
            <a:endParaRPr lang="en-US" sz="1000" dirty="0"/>
          </a:p>
        </p:txBody>
      </p:sp>
      <p:sp>
        <p:nvSpPr>
          <p:cNvPr id="5" name="Text 3"/>
          <p:cNvSpPr txBox="1"/>
          <p:nvPr/>
        </p:nvSpPr>
        <p:spPr>
          <a:xfrm>
            <a:off x="10725912" y="6400800"/>
            <a:ext cx="914400" cy="274320"/>
          </a:xfrm>
          <a:prstGeom prst="rect">
            <a:avLst/>
          </a:prstGeom>
          <a:noFill/>
          <a:ln/>
        </p:spPr>
        <p:txBody>
          <a:bodyPr wrap="square" lIns="0" tIns="0" rIns="0" bIns="0" rtlCol="0" anchor="ctr"/>
          <a:lstStyle/>
          <a:p>
            <a:pPr algn="r" indent="0" marL="0">
              <a:buNone/>
            </a:pPr>
            <a:r>
              <a:rPr lang="en-US" sz="1000" dirty="0">
                <a:solidFill>
                  <a:srgbClr val="5B6B7A"/>
                </a:solidFill>
                <a:latin typeface="Calibri" pitchFamily="34" charset="0"/>
                <a:ea typeface="Calibri" pitchFamily="34" charset="-122"/>
                <a:cs typeface="Calibri" pitchFamily="34" charset="-120"/>
              </a:rPr>
              <a:t>17</a:t>
            </a:r>
            <a:endParaRPr lang="en-US" sz="1000" dirty="0"/>
          </a:p>
        </p:txBody>
      </p:sp>
      <p:sp>
        <p:nvSpPr>
          <p:cNvPr id="6" name="Text 4"/>
          <p:cNvSpPr txBox="1"/>
          <p:nvPr/>
        </p:nvSpPr>
        <p:spPr>
          <a:xfrm>
            <a:off x="548640" y="1645920"/>
            <a:ext cx="3291840" cy="731520"/>
          </a:xfrm>
          <a:prstGeom prst="rect">
            <a:avLst/>
          </a:prstGeom>
          <a:noFill/>
          <a:ln/>
        </p:spPr>
        <p:txBody>
          <a:bodyPr wrap="square" lIns="0" tIns="0" rIns="0" bIns="0" rtlCol="0" anchor="t"/>
          <a:lstStyle/>
          <a:p>
            <a:pPr indent="0" marL="0">
              <a:buNone/>
            </a:pPr>
            <a:r>
              <a:rPr lang="en-US" sz="4000" b="1" dirty="0">
                <a:solidFill>
                  <a:srgbClr val="E8702A"/>
                </a:solidFill>
                <a:latin typeface="Arial" pitchFamily="34" charset="0"/>
                <a:ea typeface="Arial" pitchFamily="34" charset="-122"/>
                <a:cs typeface="Arial" pitchFamily="34" charset="-120"/>
              </a:rPr>
              <a:t>0.722</a:t>
            </a:r>
            <a:endParaRPr lang="en-US" sz="4000" dirty="0"/>
          </a:p>
        </p:txBody>
      </p:sp>
      <p:sp>
        <p:nvSpPr>
          <p:cNvPr id="7" name="Text 5"/>
          <p:cNvSpPr txBox="1"/>
          <p:nvPr/>
        </p:nvSpPr>
        <p:spPr>
          <a:xfrm>
            <a:off x="548640" y="2395728"/>
            <a:ext cx="3291840" cy="548640"/>
          </a:xfrm>
          <a:prstGeom prst="rect">
            <a:avLst/>
          </a:prstGeom>
          <a:noFill/>
          <a:ln/>
        </p:spPr>
        <p:txBody>
          <a:bodyPr wrap="square" lIns="0" tIns="0" rIns="0" bIns="0" rtlCol="0" anchor="t"/>
          <a:lstStyle/>
          <a:p>
            <a:pPr indent="0" marL="0">
              <a:buNone/>
            </a:pPr>
            <a:r>
              <a:rPr lang="en-US" sz="1300" dirty="0">
                <a:solidFill>
                  <a:srgbClr val="5B6B7A"/>
                </a:solidFill>
                <a:latin typeface="Calibri" pitchFamily="34" charset="0"/>
                <a:ea typeface="Calibri" pitchFamily="34" charset="-122"/>
                <a:cs typeface="Calibri" pitchFamily="34" charset="-120"/>
              </a:rPr>
              <a:t>ROC AUC (0.5 = random guessing)</a:t>
            </a:r>
            <a:endParaRPr lang="en-US" sz="1300" dirty="0"/>
          </a:p>
        </p:txBody>
      </p:sp>
      <p:sp>
        <p:nvSpPr>
          <p:cNvPr id="8" name="Text 6"/>
          <p:cNvSpPr txBox="1"/>
          <p:nvPr/>
        </p:nvSpPr>
        <p:spPr>
          <a:xfrm>
            <a:off x="548640" y="3017520"/>
            <a:ext cx="3291840" cy="731520"/>
          </a:xfrm>
          <a:prstGeom prst="rect">
            <a:avLst/>
          </a:prstGeom>
          <a:noFill/>
          <a:ln/>
        </p:spPr>
        <p:txBody>
          <a:bodyPr wrap="square" lIns="0" tIns="0" rIns="0" bIns="0" rtlCol="0" anchor="t"/>
          <a:lstStyle/>
          <a:p>
            <a:pPr indent="0" marL="0">
              <a:buNone/>
            </a:pPr>
            <a:r>
              <a:rPr lang="en-US" sz="4000" b="1" dirty="0">
                <a:solidFill>
                  <a:srgbClr val="1B2838"/>
                </a:solidFill>
                <a:latin typeface="Arial" pitchFamily="34" charset="0"/>
                <a:ea typeface="Arial" pitchFamily="34" charset="-122"/>
                <a:cs typeface="Arial" pitchFamily="34" charset="-120"/>
              </a:rPr>
              <a:t>0.118</a:t>
            </a:r>
            <a:endParaRPr lang="en-US" sz="4000" dirty="0"/>
          </a:p>
        </p:txBody>
      </p:sp>
      <p:sp>
        <p:nvSpPr>
          <p:cNvPr id="9" name="Text 7"/>
          <p:cNvSpPr txBox="1"/>
          <p:nvPr/>
        </p:nvSpPr>
        <p:spPr>
          <a:xfrm>
            <a:off x="548640" y="3767328"/>
            <a:ext cx="3291840" cy="548640"/>
          </a:xfrm>
          <a:prstGeom prst="rect">
            <a:avLst/>
          </a:prstGeom>
          <a:noFill/>
          <a:ln/>
        </p:spPr>
        <p:txBody>
          <a:bodyPr wrap="square" lIns="0" tIns="0" rIns="0" bIns="0" rtlCol="0" anchor="t"/>
          <a:lstStyle/>
          <a:p>
            <a:pPr indent="0" marL="0">
              <a:buNone/>
            </a:pPr>
            <a:r>
              <a:rPr lang="en-US" sz="1300" dirty="0">
                <a:solidFill>
                  <a:srgbClr val="5B6B7A"/>
                </a:solidFill>
                <a:latin typeface="Calibri" pitchFamily="34" charset="0"/>
                <a:ea typeface="Calibri" pitchFamily="34" charset="-122"/>
                <a:cs typeface="Calibri" pitchFamily="34" charset="-120"/>
              </a:rPr>
              <a:t>average precision, 2.6× the 0.045 a random ranking would score</a:t>
            </a:r>
            <a:endParaRPr lang="en-US" sz="1300" dirty="0"/>
          </a:p>
        </p:txBody>
      </p:sp>
      <p:sp>
        <p:nvSpPr>
          <p:cNvPr id="10" name="Shape 8"/>
          <p:cNvSpPr/>
          <p:nvPr/>
        </p:nvSpPr>
        <p:spPr>
          <a:xfrm>
            <a:off x="548640" y="4526280"/>
            <a:ext cx="3291840" cy="1508760"/>
          </a:xfrm>
          <a:prstGeom prst="roundRect">
            <a:avLst>
              <a:gd name="adj" fmla="val 4848"/>
            </a:avLst>
          </a:prstGeom>
          <a:solidFill>
            <a:srgbClr val="FDF0E7"/>
          </a:solidFill>
          <a:ln w="12700">
            <a:solidFill>
              <a:srgbClr val="FDF0E7"/>
            </a:solidFill>
            <a:prstDash val="solid"/>
          </a:ln>
        </p:spPr>
      </p:sp>
      <p:sp>
        <p:nvSpPr>
          <p:cNvPr id="11" name="Text 9"/>
          <p:cNvSpPr txBox="1"/>
          <p:nvPr/>
        </p:nvSpPr>
        <p:spPr>
          <a:xfrm>
            <a:off x="777240" y="4663440"/>
            <a:ext cx="2880360" cy="1280160"/>
          </a:xfrm>
          <a:prstGeom prst="rect">
            <a:avLst/>
          </a:prstGeom>
          <a:noFill/>
          <a:ln/>
        </p:spPr>
        <p:txBody>
          <a:bodyPr wrap="square" lIns="0" tIns="0" rIns="0" bIns="0" rtlCol="0" anchor="t"/>
          <a:lstStyle/>
          <a:p>
            <a:pPr indent="0" marL="0">
              <a:buNone/>
            </a:pPr>
            <a:r>
              <a:rPr lang="en-US" sz="1350" dirty="0">
                <a:solidFill>
                  <a:srgbClr val="1B2838"/>
                </a:solidFill>
                <a:latin typeface="Calibri" pitchFamily="34" charset="0"/>
                <a:ea typeface="Calibri" pitchFamily="34" charset="-122"/>
                <a:cs typeface="Calibri" pitchFamily="34" charset="-120"/>
              </a:rPr>
              <a:t>Accuracy is misleading here: always predicting "no drop" is 95% accurate and catches nothing.</a:t>
            </a:r>
            <a:endParaRPr lang="en-US" sz="1350" dirty="0"/>
          </a:p>
        </p:txBody>
      </p:sp>
      <p:graphicFrame>
        <p:nvGraphicFramePr>
          <p:cNvPr id="12" name="Chart 0" descr=""/>
          <p:cNvGraphicFramePr/>
          <p:nvPr/>
        </p:nvGraphicFramePr>
        <p:xfrm>
          <a:off x="4297680" y="1554480"/>
          <a:ext cx="7360920" cy="4480560"/>
        </p:xfrm>
        <a:graphic xmlns:a="http://schemas.openxmlformats.org/drawingml/2006/main">
          <a:graphicData uri="http://schemas.openxmlformats.org/drawingml/2006/chart">
            <c:chart xmlns:c="http://schemas.openxmlformats.org/drawingml/2006/chart" r:id="rId1"/>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320040"/>
          </a:xfrm>
          <a:prstGeom prst="rect">
            <a:avLst/>
          </a:prstGeom>
          <a:noFill/>
          <a:ln/>
        </p:spPr>
        <p:txBody>
          <a:bodyPr wrap="square" lIns="0" tIns="0" rIns="0" bIns="0" rtlCol="0" anchor="ctr"/>
          <a:lstStyle/>
          <a:p>
            <a:pPr indent="0" marL="0">
              <a:buNone/>
            </a:pPr>
            <a:r>
              <a:rPr lang="en-US" sz="1200" b="1" spc="200" kern="0" dirty="0">
                <a:solidFill>
                  <a:srgbClr val="E8702A"/>
                </a:solidFill>
                <a:latin typeface="Arial" pitchFamily="34" charset="0"/>
                <a:ea typeface="Arial" pitchFamily="34" charset="-122"/>
                <a:cs typeface="Arial" pitchFamily="34" charset="-120"/>
              </a:rPr>
              <a:t>TESTING THE NEW DATA</a:t>
            </a:r>
            <a:endParaRPr lang="en-US" sz="1200" dirty="0"/>
          </a:p>
        </p:txBody>
      </p:sp>
      <p:sp>
        <p:nvSpPr>
          <p:cNvPr id="3" name="Text 1"/>
          <p:cNvSpPr txBox="1"/>
          <p:nvPr/>
        </p:nvSpPr>
        <p:spPr>
          <a:xfrm>
            <a:off x="548640" y="640080"/>
            <a:ext cx="11064240" cy="685800"/>
          </a:xfrm>
          <a:prstGeom prst="rect">
            <a:avLst/>
          </a:prstGeom>
          <a:noFill/>
          <a:ln/>
        </p:spPr>
        <p:txBody>
          <a:bodyPr wrap="square" lIns="0" tIns="0" rIns="0" bIns="0" rtlCol="0" anchor="ctr"/>
          <a:lstStyle/>
          <a:p>
            <a:pPr indent="0" marL="0">
              <a:buNone/>
            </a:pPr>
            <a:r>
              <a:rPr lang="en-US" sz="3000" b="1" dirty="0">
                <a:solidFill>
                  <a:srgbClr val="1B2838"/>
                </a:solidFill>
                <a:latin typeface="Arial" pitchFamily="34" charset="0"/>
                <a:ea typeface="Arial" pitchFamily="34" charset="-122"/>
                <a:cs typeface="Arial" pitchFamily="34" charset="-120"/>
              </a:rPr>
              <a:t>Each data source had to earn its place</a:t>
            </a:r>
            <a:endParaRPr lang="en-US" sz="3000" dirty="0"/>
          </a:p>
        </p:txBody>
      </p:sp>
      <p:sp>
        <p:nvSpPr>
          <p:cNvPr id="4" name="Text 2"/>
          <p:cNvSpPr txBox="1"/>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rgbClr val="5B6B7A"/>
                </a:solidFill>
                <a:latin typeface="Calibri" pitchFamily="34" charset="0"/>
                <a:ea typeface="Calibri" pitchFamily="34" charset="-122"/>
                <a:cs typeface="Calibri" pitchFamily="34" charset="-120"/>
              </a:rPr>
              <a:t>BridgeWatch AI  ·  UMBC DATA 606</a:t>
            </a:r>
            <a:endParaRPr lang="en-US" sz="1000" dirty="0"/>
          </a:p>
        </p:txBody>
      </p:sp>
      <p:sp>
        <p:nvSpPr>
          <p:cNvPr id="5" name="Text 3"/>
          <p:cNvSpPr txBox="1"/>
          <p:nvPr/>
        </p:nvSpPr>
        <p:spPr>
          <a:xfrm>
            <a:off x="10725912" y="6400800"/>
            <a:ext cx="914400" cy="274320"/>
          </a:xfrm>
          <a:prstGeom prst="rect">
            <a:avLst/>
          </a:prstGeom>
          <a:noFill/>
          <a:ln/>
        </p:spPr>
        <p:txBody>
          <a:bodyPr wrap="square" lIns="0" tIns="0" rIns="0" bIns="0" rtlCol="0" anchor="ctr"/>
          <a:lstStyle/>
          <a:p>
            <a:pPr algn="r" indent="0" marL="0">
              <a:buNone/>
            </a:pPr>
            <a:r>
              <a:rPr lang="en-US" sz="1000" dirty="0">
                <a:solidFill>
                  <a:srgbClr val="5B6B7A"/>
                </a:solidFill>
                <a:latin typeface="Calibri" pitchFamily="34" charset="0"/>
                <a:ea typeface="Calibri" pitchFamily="34" charset="-122"/>
                <a:cs typeface="Calibri" pitchFamily="34" charset="-120"/>
              </a:rPr>
              <a:t>18</a:t>
            </a:r>
            <a:endParaRPr lang="en-US" sz="1000" dirty="0"/>
          </a:p>
        </p:txBody>
      </p:sp>
      <p:sp>
        <p:nvSpPr>
          <p:cNvPr id="6" name="Shape 4"/>
          <p:cNvSpPr/>
          <p:nvPr/>
        </p:nvSpPr>
        <p:spPr>
          <a:xfrm>
            <a:off x="548640" y="1645920"/>
            <a:ext cx="3520440" cy="2468880"/>
          </a:xfrm>
          <a:prstGeom prst="roundRect">
            <a:avLst>
              <a:gd name="adj" fmla="val 2963"/>
            </a:avLst>
          </a:prstGeom>
          <a:solidFill>
            <a:srgbClr val="EEF1F4"/>
          </a:solidFill>
          <a:ln w="12700">
            <a:solidFill>
              <a:srgbClr val="EEF1F4"/>
            </a:solidFill>
            <a:prstDash val="solid"/>
          </a:ln>
        </p:spPr>
      </p:sp>
      <p:sp>
        <p:nvSpPr>
          <p:cNvPr id="7" name="Text 5"/>
          <p:cNvSpPr txBox="1"/>
          <p:nvPr/>
        </p:nvSpPr>
        <p:spPr>
          <a:xfrm>
            <a:off x="822960" y="1810512"/>
            <a:ext cx="3017520" cy="411480"/>
          </a:xfrm>
          <a:prstGeom prst="rect">
            <a:avLst/>
          </a:prstGeom>
          <a:noFill/>
          <a:ln/>
        </p:spPr>
        <p:txBody>
          <a:bodyPr wrap="square" lIns="0" tIns="0" rIns="0" bIns="0" rtlCol="0" anchor="t"/>
          <a:lstStyle/>
          <a:p>
            <a:pPr indent="0" marL="0">
              <a:buNone/>
            </a:pPr>
            <a:r>
              <a:rPr lang="en-US" sz="1900" b="1" dirty="0">
                <a:solidFill>
                  <a:srgbClr val="1B2838"/>
                </a:solidFill>
                <a:latin typeface="Arial" pitchFamily="34" charset="0"/>
                <a:ea typeface="Arial" pitchFamily="34" charset="-122"/>
                <a:cs typeface="Arial" pitchFamily="34" charset="-120"/>
              </a:rPr>
              <a:t>Bridge only</a:t>
            </a:r>
            <a:endParaRPr lang="en-US" sz="1900" dirty="0"/>
          </a:p>
        </p:txBody>
      </p:sp>
      <p:sp>
        <p:nvSpPr>
          <p:cNvPr id="8" name="Text 6"/>
          <p:cNvSpPr txBox="1"/>
          <p:nvPr/>
        </p:nvSpPr>
        <p:spPr>
          <a:xfrm>
            <a:off x="822960" y="2286000"/>
            <a:ext cx="3017520" cy="731520"/>
          </a:xfrm>
          <a:prstGeom prst="rect">
            <a:avLst/>
          </a:prstGeom>
          <a:noFill/>
          <a:ln/>
        </p:spPr>
        <p:txBody>
          <a:bodyPr wrap="square" lIns="0" tIns="0" rIns="0" bIns="0" rtlCol="0" anchor="t"/>
          <a:lstStyle/>
          <a:p>
            <a:pPr indent="0" marL="0">
              <a:buNone/>
            </a:pPr>
            <a:r>
              <a:rPr lang="en-US" sz="3800" b="1" dirty="0">
                <a:solidFill>
                  <a:srgbClr val="3E5569"/>
                </a:solidFill>
                <a:latin typeface="Arial" pitchFamily="34" charset="0"/>
                <a:ea typeface="Arial" pitchFamily="34" charset="-122"/>
                <a:cs typeface="Arial" pitchFamily="34" charset="-120"/>
              </a:rPr>
              <a:t>0.7215</a:t>
            </a:r>
            <a:endParaRPr lang="en-US" sz="3800" dirty="0"/>
          </a:p>
        </p:txBody>
      </p:sp>
      <p:sp>
        <p:nvSpPr>
          <p:cNvPr id="9" name="Text 7"/>
          <p:cNvSpPr txBox="1"/>
          <p:nvPr/>
        </p:nvSpPr>
        <p:spPr>
          <a:xfrm>
            <a:off x="822960" y="3017520"/>
            <a:ext cx="3017520" cy="274320"/>
          </a:xfrm>
          <a:prstGeom prst="rect">
            <a:avLst/>
          </a:prstGeom>
          <a:noFill/>
          <a:ln/>
        </p:spPr>
        <p:txBody>
          <a:bodyPr wrap="square" lIns="0" tIns="0" rIns="0" bIns="0" rtlCol="0" anchor="t"/>
          <a:lstStyle/>
          <a:p>
            <a:pPr indent="0" marL="0">
              <a:buNone/>
            </a:pPr>
            <a:r>
              <a:rPr lang="en-US" sz="1200" dirty="0">
                <a:solidFill>
                  <a:srgbClr val="5B6B7A"/>
                </a:solidFill>
                <a:latin typeface="Calibri" pitchFamily="34" charset="0"/>
                <a:ea typeface="Calibri" pitchFamily="34" charset="-122"/>
                <a:cs typeface="Calibri" pitchFamily="34" charset="-120"/>
              </a:rPr>
              <a:t>test ROC AUC</a:t>
            </a:r>
            <a:endParaRPr lang="en-US" sz="1200" dirty="0"/>
          </a:p>
        </p:txBody>
      </p:sp>
      <p:sp>
        <p:nvSpPr>
          <p:cNvPr id="10" name="Text 8"/>
          <p:cNvSpPr txBox="1"/>
          <p:nvPr/>
        </p:nvSpPr>
        <p:spPr>
          <a:xfrm>
            <a:off x="822960" y="3383280"/>
            <a:ext cx="3017520" cy="548640"/>
          </a:xfrm>
          <a:prstGeom prst="rect">
            <a:avLst/>
          </a:prstGeom>
          <a:noFill/>
          <a:ln/>
        </p:spPr>
        <p:txBody>
          <a:bodyPr wrap="square" lIns="0" tIns="0" rIns="0" bIns="0" rtlCol="0" anchor="t"/>
          <a:lstStyle/>
          <a:p>
            <a:pPr indent="0" marL="0">
              <a:buNone/>
            </a:pPr>
            <a:r>
              <a:rPr lang="en-US" sz="1500" b="1" dirty="0">
                <a:solidFill>
                  <a:srgbClr val="3E5569"/>
                </a:solidFill>
                <a:latin typeface="Calibri" pitchFamily="34" charset="0"/>
                <a:ea typeface="Calibri" pitchFamily="34" charset="-122"/>
                <a:cs typeface="Calibri" pitchFamily="34" charset="-120"/>
              </a:rPr>
              <a:t>Baseline</a:t>
            </a:r>
            <a:endParaRPr lang="en-US" sz="1500" dirty="0"/>
          </a:p>
        </p:txBody>
      </p:sp>
      <p:sp>
        <p:nvSpPr>
          <p:cNvPr id="11" name="Shape 9"/>
          <p:cNvSpPr/>
          <p:nvPr/>
        </p:nvSpPr>
        <p:spPr>
          <a:xfrm>
            <a:off x="4096512" y="2880360"/>
            <a:ext cx="182880" cy="0"/>
          </a:xfrm>
          <a:prstGeom prst="line">
            <a:avLst/>
          </a:prstGeom>
          <a:noFill/>
          <a:ln w="19050">
            <a:solidFill>
              <a:srgbClr val="5B6B7A"/>
            </a:solidFill>
            <a:prstDash val="solid"/>
            <a:tailEnd type="triangle"/>
          </a:ln>
        </p:spPr>
      </p:sp>
      <p:sp>
        <p:nvSpPr>
          <p:cNvPr id="12" name="Shape 10"/>
          <p:cNvSpPr/>
          <p:nvPr/>
        </p:nvSpPr>
        <p:spPr>
          <a:xfrm>
            <a:off x="4297680" y="1645920"/>
            <a:ext cx="3520440" cy="2468880"/>
          </a:xfrm>
          <a:prstGeom prst="roundRect">
            <a:avLst>
              <a:gd name="adj" fmla="val 2963"/>
            </a:avLst>
          </a:prstGeom>
          <a:solidFill>
            <a:srgbClr val="EEF1F4"/>
          </a:solidFill>
          <a:ln w="12700">
            <a:solidFill>
              <a:srgbClr val="EEF1F4"/>
            </a:solidFill>
            <a:prstDash val="solid"/>
          </a:ln>
        </p:spPr>
      </p:sp>
      <p:sp>
        <p:nvSpPr>
          <p:cNvPr id="13" name="Text 11"/>
          <p:cNvSpPr txBox="1"/>
          <p:nvPr/>
        </p:nvSpPr>
        <p:spPr>
          <a:xfrm>
            <a:off x="4572000" y="1810512"/>
            <a:ext cx="3017520" cy="411480"/>
          </a:xfrm>
          <a:prstGeom prst="rect">
            <a:avLst/>
          </a:prstGeom>
          <a:noFill/>
          <a:ln/>
        </p:spPr>
        <p:txBody>
          <a:bodyPr wrap="square" lIns="0" tIns="0" rIns="0" bIns="0" rtlCol="0" anchor="t"/>
          <a:lstStyle/>
          <a:p>
            <a:pPr indent="0" marL="0">
              <a:buNone/>
            </a:pPr>
            <a:r>
              <a:rPr lang="en-US" sz="1900" b="1" dirty="0">
                <a:solidFill>
                  <a:srgbClr val="1B2838"/>
                </a:solidFill>
                <a:latin typeface="Arial" pitchFamily="34" charset="0"/>
                <a:ea typeface="Arial" pitchFamily="34" charset="-122"/>
                <a:cs typeface="Arial" pitchFamily="34" charset="-120"/>
              </a:rPr>
              <a:t>+ Weather</a:t>
            </a:r>
            <a:endParaRPr lang="en-US" sz="1900" dirty="0"/>
          </a:p>
        </p:txBody>
      </p:sp>
      <p:sp>
        <p:nvSpPr>
          <p:cNvPr id="14" name="Text 12"/>
          <p:cNvSpPr txBox="1"/>
          <p:nvPr/>
        </p:nvSpPr>
        <p:spPr>
          <a:xfrm>
            <a:off x="4572000" y="2286000"/>
            <a:ext cx="3017520" cy="731520"/>
          </a:xfrm>
          <a:prstGeom prst="rect">
            <a:avLst/>
          </a:prstGeom>
          <a:noFill/>
          <a:ln/>
        </p:spPr>
        <p:txBody>
          <a:bodyPr wrap="square" lIns="0" tIns="0" rIns="0" bIns="0" rtlCol="0" anchor="t"/>
          <a:lstStyle/>
          <a:p>
            <a:pPr indent="0" marL="0">
              <a:buNone/>
            </a:pPr>
            <a:r>
              <a:rPr lang="en-US" sz="3800" b="1" dirty="0">
                <a:solidFill>
                  <a:srgbClr val="2E7D4F"/>
                </a:solidFill>
                <a:latin typeface="Arial" pitchFamily="34" charset="0"/>
                <a:ea typeface="Arial" pitchFamily="34" charset="-122"/>
                <a:cs typeface="Arial" pitchFamily="34" charset="-120"/>
              </a:rPr>
              <a:t>0.7224</a:t>
            </a:r>
            <a:endParaRPr lang="en-US" sz="3800" dirty="0"/>
          </a:p>
        </p:txBody>
      </p:sp>
      <p:sp>
        <p:nvSpPr>
          <p:cNvPr id="15" name="Text 13"/>
          <p:cNvSpPr txBox="1"/>
          <p:nvPr/>
        </p:nvSpPr>
        <p:spPr>
          <a:xfrm>
            <a:off x="4572000" y="3017520"/>
            <a:ext cx="3017520" cy="274320"/>
          </a:xfrm>
          <a:prstGeom prst="rect">
            <a:avLst/>
          </a:prstGeom>
          <a:noFill/>
          <a:ln/>
        </p:spPr>
        <p:txBody>
          <a:bodyPr wrap="square" lIns="0" tIns="0" rIns="0" bIns="0" rtlCol="0" anchor="t"/>
          <a:lstStyle/>
          <a:p>
            <a:pPr indent="0" marL="0">
              <a:buNone/>
            </a:pPr>
            <a:r>
              <a:rPr lang="en-US" sz="1200" dirty="0">
                <a:solidFill>
                  <a:srgbClr val="5B6B7A"/>
                </a:solidFill>
                <a:latin typeface="Calibri" pitchFamily="34" charset="0"/>
                <a:ea typeface="Calibri" pitchFamily="34" charset="-122"/>
                <a:cs typeface="Calibri" pitchFamily="34" charset="-120"/>
              </a:rPr>
              <a:t>test ROC AUC</a:t>
            </a:r>
            <a:endParaRPr lang="en-US" sz="1200" dirty="0"/>
          </a:p>
        </p:txBody>
      </p:sp>
      <p:sp>
        <p:nvSpPr>
          <p:cNvPr id="16" name="Text 14"/>
          <p:cNvSpPr txBox="1"/>
          <p:nvPr/>
        </p:nvSpPr>
        <p:spPr>
          <a:xfrm>
            <a:off x="4572000" y="3383280"/>
            <a:ext cx="3017520" cy="548640"/>
          </a:xfrm>
          <a:prstGeom prst="rect">
            <a:avLst/>
          </a:prstGeom>
          <a:noFill/>
          <a:ln/>
        </p:spPr>
        <p:txBody>
          <a:bodyPr wrap="square" lIns="0" tIns="0" rIns="0" bIns="0" rtlCol="0" anchor="t"/>
          <a:lstStyle/>
          <a:p>
            <a:pPr indent="0" marL="0">
              <a:buNone/>
            </a:pPr>
            <a:r>
              <a:rPr lang="en-US" sz="1500" b="1" dirty="0">
                <a:solidFill>
                  <a:srgbClr val="2E7D4F"/>
                </a:solidFill>
                <a:latin typeface="Calibri" pitchFamily="34" charset="0"/>
                <a:ea typeface="Calibri" pitchFamily="34" charset="-122"/>
                <a:cs typeface="Calibri" pitchFamily="34" charset="-120"/>
              </a:rPr>
              <a:t>Small but real gain: kept</a:t>
            </a:r>
            <a:endParaRPr lang="en-US" sz="1500" dirty="0"/>
          </a:p>
        </p:txBody>
      </p:sp>
      <p:sp>
        <p:nvSpPr>
          <p:cNvPr id="17" name="Shape 15"/>
          <p:cNvSpPr/>
          <p:nvPr/>
        </p:nvSpPr>
        <p:spPr>
          <a:xfrm>
            <a:off x="7845552" y="2880360"/>
            <a:ext cx="182880" cy="0"/>
          </a:xfrm>
          <a:prstGeom prst="line">
            <a:avLst/>
          </a:prstGeom>
          <a:noFill/>
          <a:ln w="19050">
            <a:solidFill>
              <a:srgbClr val="5B6B7A"/>
            </a:solidFill>
            <a:prstDash val="solid"/>
            <a:tailEnd type="triangle"/>
          </a:ln>
        </p:spPr>
      </p:sp>
      <p:sp>
        <p:nvSpPr>
          <p:cNvPr id="18" name="Shape 16"/>
          <p:cNvSpPr/>
          <p:nvPr/>
        </p:nvSpPr>
        <p:spPr>
          <a:xfrm>
            <a:off x="8046720" y="1645920"/>
            <a:ext cx="3520440" cy="2468880"/>
          </a:xfrm>
          <a:prstGeom prst="roundRect">
            <a:avLst>
              <a:gd name="adj" fmla="val 2963"/>
            </a:avLst>
          </a:prstGeom>
          <a:solidFill>
            <a:srgbClr val="EEF1F4"/>
          </a:solidFill>
          <a:ln w="12700">
            <a:solidFill>
              <a:srgbClr val="EEF1F4"/>
            </a:solidFill>
            <a:prstDash val="solid"/>
          </a:ln>
        </p:spPr>
      </p:sp>
      <p:sp>
        <p:nvSpPr>
          <p:cNvPr id="19" name="Text 17"/>
          <p:cNvSpPr txBox="1"/>
          <p:nvPr/>
        </p:nvSpPr>
        <p:spPr>
          <a:xfrm>
            <a:off x="8321040" y="1810512"/>
            <a:ext cx="3017520" cy="411480"/>
          </a:xfrm>
          <a:prstGeom prst="rect">
            <a:avLst/>
          </a:prstGeom>
          <a:noFill/>
          <a:ln/>
        </p:spPr>
        <p:txBody>
          <a:bodyPr wrap="square" lIns="0" tIns="0" rIns="0" bIns="0" rtlCol="0" anchor="t"/>
          <a:lstStyle/>
          <a:p>
            <a:pPr indent="0" marL="0">
              <a:buNone/>
            </a:pPr>
            <a:r>
              <a:rPr lang="en-US" sz="1900" b="1" dirty="0">
                <a:solidFill>
                  <a:srgbClr val="1B2838"/>
                </a:solidFill>
                <a:latin typeface="Arial" pitchFamily="34" charset="0"/>
                <a:ea typeface="Arial" pitchFamily="34" charset="-122"/>
                <a:cs typeface="Arial" pitchFamily="34" charset="-120"/>
              </a:rPr>
              <a:t>+ Spending</a:t>
            </a:r>
            <a:endParaRPr lang="en-US" sz="1900" dirty="0"/>
          </a:p>
        </p:txBody>
      </p:sp>
      <p:sp>
        <p:nvSpPr>
          <p:cNvPr id="20" name="Text 18"/>
          <p:cNvSpPr txBox="1"/>
          <p:nvPr/>
        </p:nvSpPr>
        <p:spPr>
          <a:xfrm>
            <a:off x="8321040" y="2286000"/>
            <a:ext cx="3017520" cy="731520"/>
          </a:xfrm>
          <a:prstGeom prst="rect">
            <a:avLst/>
          </a:prstGeom>
          <a:noFill/>
          <a:ln/>
        </p:spPr>
        <p:txBody>
          <a:bodyPr wrap="square" lIns="0" tIns="0" rIns="0" bIns="0" rtlCol="0" anchor="t"/>
          <a:lstStyle/>
          <a:p>
            <a:pPr indent="0" marL="0">
              <a:buNone/>
            </a:pPr>
            <a:r>
              <a:rPr lang="en-US" sz="3800" b="1" dirty="0">
                <a:solidFill>
                  <a:srgbClr val="C0392B"/>
                </a:solidFill>
                <a:latin typeface="Arial" pitchFamily="34" charset="0"/>
                <a:ea typeface="Arial" pitchFamily="34" charset="-122"/>
                <a:cs typeface="Arial" pitchFamily="34" charset="-120"/>
              </a:rPr>
              <a:t>0.7164</a:t>
            </a:r>
            <a:endParaRPr lang="en-US" sz="3800" dirty="0"/>
          </a:p>
        </p:txBody>
      </p:sp>
      <p:sp>
        <p:nvSpPr>
          <p:cNvPr id="21" name="Text 19"/>
          <p:cNvSpPr txBox="1"/>
          <p:nvPr/>
        </p:nvSpPr>
        <p:spPr>
          <a:xfrm>
            <a:off x="8321040" y="3017520"/>
            <a:ext cx="3017520" cy="274320"/>
          </a:xfrm>
          <a:prstGeom prst="rect">
            <a:avLst/>
          </a:prstGeom>
          <a:noFill/>
          <a:ln/>
        </p:spPr>
        <p:txBody>
          <a:bodyPr wrap="square" lIns="0" tIns="0" rIns="0" bIns="0" rtlCol="0" anchor="t"/>
          <a:lstStyle/>
          <a:p>
            <a:pPr indent="0" marL="0">
              <a:buNone/>
            </a:pPr>
            <a:r>
              <a:rPr lang="en-US" sz="1200" dirty="0">
                <a:solidFill>
                  <a:srgbClr val="5B6B7A"/>
                </a:solidFill>
                <a:latin typeface="Calibri" pitchFamily="34" charset="0"/>
                <a:ea typeface="Calibri" pitchFamily="34" charset="-122"/>
                <a:cs typeface="Calibri" pitchFamily="34" charset="-120"/>
              </a:rPr>
              <a:t>test ROC AUC</a:t>
            </a:r>
            <a:endParaRPr lang="en-US" sz="1200" dirty="0"/>
          </a:p>
        </p:txBody>
      </p:sp>
      <p:sp>
        <p:nvSpPr>
          <p:cNvPr id="22" name="Text 20"/>
          <p:cNvSpPr txBox="1"/>
          <p:nvPr/>
        </p:nvSpPr>
        <p:spPr>
          <a:xfrm>
            <a:off x="8321040" y="3383280"/>
            <a:ext cx="3017520" cy="548640"/>
          </a:xfrm>
          <a:prstGeom prst="rect">
            <a:avLst/>
          </a:prstGeom>
          <a:noFill/>
          <a:ln/>
        </p:spPr>
        <p:txBody>
          <a:bodyPr wrap="square" lIns="0" tIns="0" rIns="0" bIns="0" rtlCol="0" anchor="t"/>
          <a:lstStyle/>
          <a:p>
            <a:pPr indent="0" marL="0">
              <a:buNone/>
            </a:pPr>
            <a:r>
              <a:rPr lang="en-US" sz="1500" b="1" dirty="0">
                <a:solidFill>
                  <a:srgbClr val="C0392B"/>
                </a:solidFill>
                <a:latin typeface="Calibri" pitchFamily="34" charset="0"/>
                <a:ea typeface="Calibri" pitchFamily="34" charset="-122"/>
                <a:cs typeface="Calibri" pitchFamily="34" charset="-120"/>
              </a:rPr>
              <a:t>Made it worse: dropped</a:t>
            </a:r>
            <a:endParaRPr lang="en-US" sz="1500" dirty="0"/>
          </a:p>
        </p:txBody>
      </p:sp>
      <p:sp>
        <p:nvSpPr>
          <p:cNvPr id="23" name="Text 21"/>
          <p:cNvSpPr txBox="1"/>
          <p:nvPr/>
        </p:nvSpPr>
        <p:spPr>
          <a:xfrm>
            <a:off x="548640" y="4297680"/>
            <a:ext cx="11064240" cy="548640"/>
          </a:xfrm>
          <a:prstGeom prst="rect">
            <a:avLst/>
          </a:prstGeom>
          <a:noFill/>
          <a:ln/>
        </p:spPr>
        <p:txBody>
          <a:bodyPr wrap="square" lIns="0" tIns="0" rIns="0" bIns="0" rtlCol="0" anchor="t"/>
          <a:lstStyle/>
          <a:p>
            <a:pPr indent="0" marL="0">
              <a:buNone/>
            </a:pPr>
            <a:r>
              <a:rPr lang="en-US" sz="1400" dirty="0">
                <a:solidFill>
                  <a:srgbClr val="5B6B7A"/>
                </a:solidFill>
                <a:latin typeface="Calibri" pitchFamily="34" charset="0"/>
                <a:ea typeface="Calibri" pitchFamily="34" charset="-122"/>
                <a:cs typeface="Calibri" pitchFamily="34" charset="-120"/>
              </a:rPr>
              <a:t>Same model, same rows, only the features change. A bootstrap check (200 redraws of the test set) showed both differences are real, not luck.</a:t>
            </a:r>
            <a:endParaRPr lang="en-US" sz="1400" dirty="0"/>
          </a:p>
        </p:txBody>
      </p:sp>
      <p:sp>
        <p:nvSpPr>
          <p:cNvPr id="24" name="Shape 22"/>
          <p:cNvSpPr/>
          <p:nvPr/>
        </p:nvSpPr>
        <p:spPr>
          <a:xfrm>
            <a:off x="548640" y="4937760"/>
            <a:ext cx="11109960" cy="1143000"/>
          </a:xfrm>
          <a:prstGeom prst="roundRect">
            <a:avLst>
              <a:gd name="adj" fmla="val 6400"/>
            </a:avLst>
          </a:prstGeom>
          <a:solidFill>
            <a:srgbClr val="FDF0E7"/>
          </a:solidFill>
          <a:ln w="12700">
            <a:solidFill>
              <a:srgbClr val="FDF0E7"/>
            </a:solidFill>
            <a:prstDash val="solid"/>
          </a:ln>
        </p:spPr>
      </p:sp>
      <p:sp>
        <p:nvSpPr>
          <p:cNvPr id="25" name="Text 23"/>
          <p:cNvSpPr txBox="1"/>
          <p:nvPr/>
        </p:nvSpPr>
        <p:spPr>
          <a:xfrm>
            <a:off x="777240" y="5029200"/>
            <a:ext cx="10698480" cy="1005840"/>
          </a:xfrm>
          <a:prstGeom prst="rect">
            <a:avLst/>
          </a:prstGeom>
          <a:noFill/>
          <a:ln/>
        </p:spPr>
        <p:txBody>
          <a:bodyPr wrap="square" lIns="0" tIns="0" rIns="0" bIns="0" rtlCol="0" anchor="t"/>
          <a:lstStyle/>
          <a:p>
            <a:pPr indent="0" marL="0">
              <a:buNone/>
            </a:pPr>
            <a:r>
              <a:rPr lang="en-US" sz="1400" b="1" dirty="0">
                <a:solidFill>
                  <a:srgbClr val="1B2838"/>
                </a:solidFill>
                <a:latin typeface="Calibri" pitchFamily="34" charset="0"/>
                <a:ea typeface="Calibri" pitchFamily="34" charset="-122"/>
                <a:cs typeface="Calibri" pitchFamily="34" charset="-120"/>
              </a:rPr>
              <a:t>Why spending failed: </a:t>
            </a:r>
            <a:pPr indent="0" marL="0">
              <a:buNone/>
            </a:pPr>
            <a:r>
              <a:rPr lang="en-US" sz="1400" dirty="0">
                <a:solidFill>
                  <a:srgbClr val="1B2838"/>
                </a:solidFill>
                <a:latin typeface="Calibri" pitchFamily="34" charset="0"/>
                <a:ea typeface="Calibri" pitchFamily="34" charset="-122"/>
                <a:cs typeface="Calibri" pitchFamily="34" charset="-120"/>
              </a:rPr>
              <a:t>in 2020 to 2023, years with extra spending had slightly more deterioration, so the model learned "more spending = more risk." In 2024 that flipped: New York cut spending the most and its deterioration jumped over 5 points. With only 35 state-year values, the pattern was not stable.</a:t>
            </a:r>
            <a:endParaRPr lang="en-US" sz="1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320040"/>
          </a:xfrm>
          <a:prstGeom prst="rect">
            <a:avLst/>
          </a:prstGeom>
          <a:noFill/>
          <a:ln/>
        </p:spPr>
        <p:txBody>
          <a:bodyPr wrap="square" lIns="0" tIns="0" rIns="0" bIns="0" rtlCol="0" anchor="ctr"/>
          <a:lstStyle/>
          <a:p>
            <a:pPr indent="0" marL="0">
              <a:buNone/>
            </a:pPr>
            <a:r>
              <a:rPr lang="en-US" sz="1200" b="1" spc="200" kern="0" dirty="0">
                <a:solidFill>
                  <a:srgbClr val="E8702A"/>
                </a:solidFill>
                <a:latin typeface="Arial" pitchFamily="34" charset="0"/>
                <a:ea typeface="Arial" pitchFamily="34" charset="-122"/>
                <a:cs typeface="Arial" pitchFamily="34" charset="-120"/>
              </a:rPr>
              <a:t>INTERPRETING THE MODEL</a:t>
            </a:r>
            <a:endParaRPr lang="en-US" sz="1200" dirty="0"/>
          </a:p>
        </p:txBody>
      </p:sp>
      <p:sp>
        <p:nvSpPr>
          <p:cNvPr id="3" name="Text 1"/>
          <p:cNvSpPr txBox="1"/>
          <p:nvPr/>
        </p:nvSpPr>
        <p:spPr>
          <a:xfrm>
            <a:off x="548640" y="640080"/>
            <a:ext cx="11064240" cy="685800"/>
          </a:xfrm>
          <a:prstGeom prst="rect">
            <a:avLst/>
          </a:prstGeom>
          <a:noFill/>
          <a:ln/>
        </p:spPr>
        <p:txBody>
          <a:bodyPr wrap="square" lIns="0" tIns="0" rIns="0" bIns="0" rtlCol="0" anchor="ctr"/>
          <a:lstStyle/>
          <a:p>
            <a:pPr indent="0" marL="0">
              <a:buNone/>
            </a:pPr>
            <a:r>
              <a:rPr lang="en-US" sz="3000" b="1" dirty="0">
                <a:solidFill>
                  <a:srgbClr val="1B2838"/>
                </a:solidFill>
                <a:latin typeface="Arial" pitchFamily="34" charset="0"/>
                <a:ea typeface="Arial" pitchFamily="34" charset="-122"/>
                <a:cs typeface="Arial" pitchFamily="34" charset="-120"/>
              </a:rPr>
              <a:t>What drives a bridge's risk score?</a:t>
            </a:r>
            <a:endParaRPr lang="en-US" sz="3000" dirty="0"/>
          </a:p>
        </p:txBody>
      </p:sp>
      <p:sp>
        <p:nvSpPr>
          <p:cNvPr id="4" name="Text 2"/>
          <p:cNvSpPr txBox="1"/>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rgbClr val="5B6B7A"/>
                </a:solidFill>
                <a:latin typeface="Calibri" pitchFamily="34" charset="0"/>
                <a:ea typeface="Calibri" pitchFamily="34" charset="-122"/>
                <a:cs typeface="Calibri" pitchFamily="34" charset="-120"/>
              </a:rPr>
              <a:t>BridgeWatch AI  ·  UMBC DATA 606</a:t>
            </a:r>
            <a:endParaRPr lang="en-US" sz="1000" dirty="0"/>
          </a:p>
        </p:txBody>
      </p:sp>
      <p:sp>
        <p:nvSpPr>
          <p:cNvPr id="5" name="Text 3"/>
          <p:cNvSpPr txBox="1"/>
          <p:nvPr/>
        </p:nvSpPr>
        <p:spPr>
          <a:xfrm>
            <a:off x="10725912" y="6400800"/>
            <a:ext cx="914400" cy="274320"/>
          </a:xfrm>
          <a:prstGeom prst="rect">
            <a:avLst/>
          </a:prstGeom>
          <a:noFill/>
          <a:ln/>
        </p:spPr>
        <p:txBody>
          <a:bodyPr wrap="square" lIns="0" tIns="0" rIns="0" bIns="0" rtlCol="0" anchor="ctr"/>
          <a:lstStyle/>
          <a:p>
            <a:pPr algn="r" indent="0" marL="0">
              <a:buNone/>
            </a:pPr>
            <a:r>
              <a:rPr lang="en-US" sz="1000" dirty="0">
                <a:solidFill>
                  <a:srgbClr val="5B6B7A"/>
                </a:solidFill>
                <a:latin typeface="Calibri" pitchFamily="34" charset="0"/>
                <a:ea typeface="Calibri" pitchFamily="34" charset="-122"/>
                <a:cs typeface="Calibri" pitchFamily="34" charset="-120"/>
              </a:rPr>
              <a:t>19</a:t>
            </a:r>
            <a:endParaRPr lang="en-US" sz="1000" dirty="0"/>
          </a:p>
        </p:txBody>
      </p:sp>
      <p:graphicFrame>
        <p:nvGraphicFramePr>
          <p:cNvPr id="6" name="Chart 0" descr=""/>
          <p:cNvGraphicFramePr/>
          <p:nvPr/>
        </p:nvGraphicFramePr>
        <p:xfrm>
          <a:off x="548640" y="1554480"/>
          <a:ext cx="6675120" cy="4480560"/>
        </p:xfrm>
        <a:graphic xmlns:a="http://schemas.openxmlformats.org/drawingml/2006/main">
          <a:graphicData uri="http://schemas.openxmlformats.org/drawingml/2006/chart">
            <c:chart xmlns:c="http://schemas.openxmlformats.org/drawingml/2006/chart" r:id="rId1"/>
          </a:graphicData>
        </a:graphic>
      </p:graphicFrame>
      <p:sp>
        <p:nvSpPr>
          <p:cNvPr id="7" name="Shape 4"/>
          <p:cNvSpPr/>
          <p:nvPr/>
        </p:nvSpPr>
        <p:spPr>
          <a:xfrm>
            <a:off x="7589520" y="1600200"/>
            <a:ext cx="502920" cy="502920"/>
          </a:xfrm>
          <a:prstGeom prst="ellipse">
            <a:avLst/>
          </a:prstGeom>
          <a:solidFill>
            <a:srgbClr val="E8702A"/>
          </a:solidFill>
          <a:ln w="12700">
            <a:solidFill>
              <a:srgbClr val="E8702A"/>
            </a:solidFill>
            <a:prstDash val="solid"/>
          </a:ln>
        </p:spPr>
      </p:sp>
      <p:pic>
        <p:nvPicPr>
          <p:cNvPr id="8" name="Image 0" descr="preencoded.png">    </p:cNvPr>
          <p:cNvPicPr>
            <a:picLocks noChangeAspect="1"/>
          </p:cNvPicPr>
          <p:nvPr/>
        </p:nvPicPr>
        <p:blipFill>
          <a:blip r:embed="rId2"/>
          <a:stretch>
            <a:fillRect/>
          </a:stretch>
        </p:blipFill>
        <p:spPr>
          <a:xfrm>
            <a:off x="7715250" y="1725930"/>
            <a:ext cx="251460" cy="251460"/>
          </a:xfrm>
          <a:prstGeom prst="rect">
            <a:avLst/>
          </a:prstGeom>
        </p:spPr>
      </p:pic>
      <p:sp>
        <p:nvSpPr>
          <p:cNvPr id="9" name="Text 5"/>
          <p:cNvSpPr txBox="1"/>
          <p:nvPr/>
        </p:nvSpPr>
        <p:spPr>
          <a:xfrm>
            <a:off x="8275320" y="1581912"/>
            <a:ext cx="3383280" cy="365760"/>
          </a:xfrm>
          <a:prstGeom prst="rect">
            <a:avLst/>
          </a:prstGeom>
          <a:noFill/>
          <a:ln/>
        </p:spPr>
        <p:txBody>
          <a:bodyPr wrap="square" lIns="0" tIns="0" rIns="0" bIns="0" rtlCol="0" anchor="t"/>
          <a:lstStyle/>
          <a:p>
            <a:pPr indent="0" marL="0">
              <a:buNone/>
            </a:pPr>
            <a:r>
              <a:rPr lang="en-US" sz="1600" b="1" dirty="0">
                <a:solidFill>
                  <a:srgbClr val="1B2838"/>
                </a:solidFill>
                <a:latin typeface="Arial" pitchFamily="34" charset="0"/>
                <a:ea typeface="Arial" pitchFamily="34" charset="-122"/>
                <a:cs typeface="Arial" pitchFamily="34" charset="-120"/>
              </a:rPr>
              <a:t>Condition comes first</a:t>
            </a:r>
            <a:endParaRPr lang="en-US" sz="1600" dirty="0"/>
          </a:p>
        </p:txBody>
      </p:sp>
      <p:sp>
        <p:nvSpPr>
          <p:cNvPr id="10" name="Text 6"/>
          <p:cNvSpPr txBox="1"/>
          <p:nvPr/>
        </p:nvSpPr>
        <p:spPr>
          <a:xfrm>
            <a:off x="8275320" y="1965960"/>
            <a:ext cx="3383280" cy="1051560"/>
          </a:xfrm>
          <a:prstGeom prst="rect">
            <a:avLst/>
          </a:prstGeom>
          <a:noFill/>
          <a:ln/>
        </p:spPr>
        <p:txBody>
          <a:bodyPr wrap="square" lIns="0" tIns="0" rIns="0" bIns="0" rtlCol="0" anchor="t"/>
          <a:lstStyle/>
          <a:p>
            <a:pPr indent="0" marL="0">
              <a:buNone/>
            </a:pPr>
            <a:r>
              <a:rPr lang="en-US" sz="1350" dirty="0">
                <a:solidFill>
                  <a:srgbClr val="5B6B7A"/>
                </a:solidFill>
                <a:latin typeface="Calibri" pitchFamily="34" charset="0"/>
                <a:ea typeface="Calibri" pitchFamily="34" charset="-122"/>
                <a:cs typeface="Calibri" pitchFamily="34" charset="-120"/>
              </a:rPr>
              <a:t>Components already in poor shape raise risk sharply: a culvert rated 3 (serious) has about 24× the odds of a further drop.</a:t>
            </a:r>
            <a:endParaRPr lang="en-US" sz="1350" dirty="0"/>
          </a:p>
        </p:txBody>
      </p:sp>
      <p:sp>
        <p:nvSpPr>
          <p:cNvPr id="11" name="Shape 7"/>
          <p:cNvSpPr/>
          <p:nvPr/>
        </p:nvSpPr>
        <p:spPr>
          <a:xfrm>
            <a:off x="7589520" y="3081528"/>
            <a:ext cx="502920" cy="502920"/>
          </a:xfrm>
          <a:prstGeom prst="ellipse">
            <a:avLst/>
          </a:prstGeom>
          <a:solidFill>
            <a:srgbClr val="E8702A"/>
          </a:solidFill>
          <a:ln w="12700">
            <a:solidFill>
              <a:srgbClr val="E8702A"/>
            </a:solidFill>
            <a:prstDash val="solid"/>
          </a:ln>
        </p:spPr>
      </p:sp>
      <p:pic>
        <p:nvPicPr>
          <p:cNvPr id="12" name="Image 1" descr="preencoded.png">    </p:cNvPr>
          <p:cNvPicPr>
            <a:picLocks noChangeAspect="1"/>
          </p:cNvPicPr>
          <p:nvPr/>
        </p:nvPicPr>
        <p:blipFill>
          <a:blip r:embed="rId3"/>
          <a:stretch>
            <a:fillRect/>
          </a:stretch>
        </p:blipFill>
        <p:spPr>
          <a:xfrm>
            <a:off x="7715250" y="3207258"/>
            <a:ext cx="251460" cy="251460"/>
          </a:xfrm>
          <a:prstGeom prst="rect">
            <a:avLst/>
          </a:prstGeom>
        </p:spPr>
      </p:pic>
      <p:sp>
        <p:nvSpPr>
          <p:cNvPr id="13" name="Text 8"/>
          <p:cNvSpPr txBox="1"/>
          <p:nvPr/>
        </p:nvSpPr>
        <p:spPr>
          <a:xfrm>
            <a:off x="8275320" y="3063240"/>
            <a:ext cx="3383280" cy="365760"/>
          </a:xfrm>
          <a:prstGeom prst="rect">
            <a:avLst/>
          </a:prstGeom>
          <a:noFill/>
          <a:ln/>
        </p:spPr>
        <p:txBody>
          <a:bodyPr wrap="square" lIns="0" tIns="0" rIns="0" bIns="0" rtlCol="0" anchor="t"/>
          <a:lstStyle/>
          <a:p>
            <a:pPr indent="0" marL="0">
              <a:buNone/>
            </a:pPr>
            <a:r>
              <a:rPr lang="en-US" sz="1600" b="1" dirty="0">
                <a:solidFill>
                  <a:srgbClr val="1B2838"/>
                </a:solidFill>
                <a:latin typeface="Arial" pitchFamily="34" charset="0"/>
                <a:ea typeface="Arial" pitchFamily="34" charset="-122"/>
                <a:cs typeface="Arial" pitchFamily="34" charset="-120"/>
              </a:rPr>
              <a:t>Then age</a:t>
            </a:r>
            <a:endParaRPr lang="en-US" sz="1600" dirty="0"/>
          </a:p>
        </p:txBody>
      </p:sp>
      <p:sp>
        <p:nvSpPr>
          <p:cNvPr id="14" name="Text 9"/>
          <p:cNvSpPr txBox="1"/>
          <p:nvPr/>
        </p:nvSpPr>
        <p:spPr>
          <a:xfrm>
            <a:off x="8275320" y="3447288"/>
            <a:ext cx="3383280" cy="1051560"/>
          </a:xfrm>
          <a:prstGeom prst="rect">
            <a:avLst/>
          </a:prstGeom>
          <a:noFill/>
          <a:ln/>
        </p:spPr>
        <p:txBody>
          <a:bodyPr wrap="square" lIns="0" tIns="0" rIns="0" bIns="0" rtlCol="0" anchor="t"/>
          <a:lstStyle/>
          <a:p>
            <a:pPr indent="0" marL="0">
              <a:buNone/>
            </a:pPr>
            <a:r>
              <a:rPr lang="en-US" sz="1350" dirty="0">
                <a:solidFill>
                  <a:srgbClr val="5B6B7A"/>
                </a:solidFill>
                <a:latin typeface="Calibri" pitchFamily="34" charset="0"/>
                <a:ea typeface="Calibri" pitchFamily="34" charset="-122"/>
                <a:cs typeface="Calibri" pitchFamily="34" charset="-120"/>
              </a:rPr>
              <a:t>Every 25 or so years of age raises the odds of a drop by about 25%.</a:t>
            </a:r>
            <a:endParaRPr lang="en-US" sz="1350" dirty="0"/>
          </a:p>
        </p:txBody>
      </p:sp>
      <p:sp>
        <p:nvSpPr>
          <p:cNvPr id="15" name="Shape 10"/>
          <p:cNvSpPr/>
          <p:nvPr/>
        </p:nvSpPr>
        <p:spPr>
          <a:xfrm>
            <a:off x="7589520" y="4562856"/>
            <a:ext cx="502920" cy="502920"/>
          </a:xfrm>
          <a:prstGeom prst="ellipse">
            <a:avLst/>
          </a:prstGeom>
          <a:solidFill>
            <a:srgbClr val="E8702A"/>
          </a:solidFill>
          <a:ln w="12700">
            <a:solidFill>
              <a:srgbClr val="E8702A"/>
            </a:solidFill>
            <a:prstDash val="solid"/>
          </a:ln>
        </p:spPr>
      </p:sp>
      <p:pic>
        <p:nvPicPr>
          <p:cNvPr id="16" name="Image 2" descr="preencoded.png">    </p:cNvPr>
          <p:cNvPicPr>
            <a:picLocks noChangeAspect="1"/>
          </p:cNvPicPr>
          <p:nvPr/>
        </p:nvPicPr>
        <p:blipFill>
          <a:blip r:embed="rId4"/>
          <a:stretch>
            <a:fillRect/>
          </a:stretch>
        </p:blipFill>
        <p:spPr>
          <a:xfrm>
            <a:off x="7715250" y="4688586"/>
            <a:ext cx="251460" cy="251460"/>
          </a:xfrm>
          <a:prstGeom prst="rect">
            <a:avLst/>
          </a:prstGeom>
        </p:spPr>
      </p:pic>
      <p:sp>
        <p:nvSpPr>
          <p:cNvPr id="17" name="Text 11"/>
          <p:cNvSpPr txBox="1"/>
          <p:nvPr/>
        </p:nvSpPr>
        <p:spPr>
          <a:xfrm>
            <a:off x="8275320" y="4544568"/>
            <a:ext cx="3383280" cy="365760"/>
          </a:xfrm>
          <a:prstGeom prst="rect">
            <a:avLst/>
          </a:prstGeom>
          <a:noFill/>
          <a:ln/>
        </p:spPr>
        <p:txBody>
          <a:bodyPr wrap="square" lIns="0" tIns="0" rIns="0" bIns="0" rtlCol="0" anchor="t"/>
          <a:lstStyle/>
          <a:p>
            <a:pPr indent="0" marL="0">
              <a:buNone/>
            </a:pPr>
            <a:r>
              <a:rPr lang="en-US" sz="1600" b="1" dirty="0">
                <a:solidFill>
                  <a:srgbClr val="1B2838"/>
                </a:solidFill>
                <a:latin typeface="Arial" pitchFamily="34" charset="0"/>
                <a:ea typeface="Arial" pitchFamily="34" charset="-122"/>
                <a:cs typeface="Arial" pitchFamily="34" charset="-120"/>
              </a:rPr>
              <a:t>Traffic barely matters</a:t>
            </a:r>
            <a:endParaRPr lang="en-US" sz="1600" dirty="0"/>
          </a:p>
        </p:txBody>
      </p:sp>
      <p:sp>
        <p:nvSpPr>
          <p:cNvPr id="18" name="Text 12"/>
          <p:cNvSpPr txBox="1"/>
          <p:nvPr/>
        </p:nvSpPr>
        <p:spPr>
          <a:xfrm>
            <a:off x="8275320" y="4928616"/>
            <a:ext cx="3383280" cy="1051560"/>
          </a:xfrm>
          <a:prstGeom prst="rect">
            <a:avLst/>
          </a:prstGeom>
          <a:noFill/>
          <a:ln/>
        </p:spPr>
        <p:txBody>
          <a:bodyPr wrap="square" lIns="0" tIns="0" rIns="0" bIns="0" rtlCol="0" anchor="t"/>
          <a:lstStyle/>
          <a:p>
            <a:pPr indent="0" marL="0">
              <a:buNone/>
            </a:pPr>
            <a:r>
              <a:rPr lang="en-US" sz="1350" dirty="0">
                <a:solidFill>
                  <a:srgbClr val="5B6B7A"/>
                </a:solidFill>
                <a:latin typeface="Calibri" pitchFamily="34" charset="0"/>
                <a:ea typeface="Calibri" pitchFamily="34" charset="-122"/>
                <a:cs typeface="Calibri" pitchFamily="34" charset="-120"/>
              </a:rPr>
              <a:t>Once condition and age are known, how busy a bridge is adds almost nothing.</a:t>
            </a:r>
            <a:endParaRPr lang="en-US" sz="13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B2838"/>
        </a:solidFill>
      </p:bgPr>
    </p:bg>
    <p:spTree>
      <p:nvGrpSpPr>
        <p:cNvPr id="1" name=""/>
        <p:cNvGrpSpPr/>
        <p:nvPr/>
      </p:nvGrpSpPr>
      <p:grpSpPr>
        <a:xfrm>
          <a:off x="0" y="0"/>
          <a:ext cx="0" cy="0"/>
          <a:chOff x="0" y="0"/>
          <a:chExt cx="0" cy="0"/>
        </a:xfrm>
      </p:grpSpPr>
      <p:sp>
        <p:nvSpPr>
          <p:cNvPr id="2" name="Text 0"/>
          <p:cNvSpPr txBox="1"/>
          <p:nvPr/>
        </p:nvSpPr>
        <p:spPr>
          <a:xfrm>
            <a:off x="548640" y="457200"/>
            <a:ext cx="10972800" cy="320040"/>
          </a:xfrm>
          <a:prstGeom prst="rect">
            <a:avLst/>
          </a:prstGeom>
          <a:noFill/>
          <a:ln/>
        </p:spPr>
        <p:txBody>
          <a:bodyPr wrap="square" lIns="0" tIns="0" rIns="0" bIns="0" rtlCol="0" anchor="t"/>
          <a:lstStyle/>
          <a:p>
            <a:pPr indent="0" marL="0">
              <a:buNone/>
            </a:pPr>
            <a:r>
              <a:rPr lang="en-US" sz="1200" b="1" spc="200" kern="0" dirty="0">
                <a:solidFill>
                  <a:srgbClr val="E8702A"/>
                </a:solidFill>
                <a:latin typeface="Arial" pitchFamily="34" charset="0"/>
                <a:ea typeface="Arial" pitchFamily="34" charset="-122"/>
                <a:cs typeface="Arial" pitchFamily="34" charset="-120"/>
              </a:rPr>
              <a:t>LIMITATIONS AND NEXT STEPS</a:t>
            </a:r>
            <a:endParaRPr lang="en-US" sz="1200" dirty="0"/>
          </a:p>
        </p:txBody>
      </p:sp>
      <p:sp>
        <p:nvSpPr>
          <p:cNvPr id="3" name="Text 1"/>
          <p:cNvSpPr txBox="1"/>
          <p:nvPr/>
        </p:nvSpPr>
        <p:spPr>
          <a:xfrm>
            <a:off x="548640" y="777240"/>
            <a:ext cx="10972800" cy="685800"/>
          </a:xfrm>
          <a:prstGeom prst="rect">
            <a:avLst/>
          </a:prstGeom>
          <a:noFill/>
          <a:ln/>
        </p:spPr>
        <p:txBody>
          <a:bodyPr wrap="square" lIns="0" tIns="0" rIns="0" bIns="0" rtlCol="0" anchor="t"/>
          <a:lstStyle/>
          <a:p>
            <a:pPr indent="0" marL="0">
              <a:buNone/>
            </a:pPr>
            <a:r>
              <a:rPr lang="en-US" sz="3000" b="1" dirty="0">
                <a:solidFill>
                  <a:srgbClr val="FFFFFF"/>
                </a:solidFill>
                <a:latin typeface="Arial" pitchFamily="34" charset="0"/>
                <a:ea typeface="Arial" pitchFamily="34" charset="-122"/>
                <a:cs typeface="Arial" pitchFamily="34" charset="-120"/>
              </a:rPr>
              <a:t>Where the project goes from here</a:t>
            </a:r>
            <a:endParaRPr lang="en-US" sz="3000" dirty="0"/>
          </a:p>
        </p:txBody>
      </p:sp>
      <p:sp>
        <p:nvSpPr>
          <p:cNvPr id="4" name="Text 2"/>
          <p:cNvSpPr txBox="1"/>
          <p:nvPr/>
        </p:nvSpPr>
        <p:spPr>
          <a:xfrm>
            <a:off x="548640" y="1783080"/>
            <a:ext cx="5303520" cy="411480"/>
          </a:xfrm>
          <a:prstGeom prst="rect">
            <a:avLst/>
          </a:prstGeom>
          <a:noFill/>
          <a:ln/>
        </p:spPr>
        <p:txBody>
          <a:bodyPr wrap="square" lIns="0" tIns="0" rIns="0" bIns="0" rtlCol="0" anchor="t"/>
          <a:lstStyle/>
          <a:p>
            <a:pPr indent="0" marL="0">
              <a:buNone/>
            </a:pPr>
            <a:r>
              <a:rPr lang="en-US" sz="1900" b="1" dirty="0">
                <a:solidFill>
                  <a:srgbClr val="E8702A"/>
                </a:solidFill>
                <a:latin typeface="Arial" pitchFamily="34" charset="0"/>
                <a:ea typeface="Arial" pitchFamily="34" charset="-122"/>
                <a:cs typeface="Arial" pitchFamily="34" charset="-120"/>
              </a:rPr>
              <a:t>Limitations</a:t>
            </a:r>
            <a:endParaRPr lang="en-US" sz="1900" dirty="0"/>
          </a:p>
        </p:txBody>
      </p:sp>
      <p:sp>
        <p:nvSpPr>
          <p:cNvPr id="5" name="Text 3"/>
          <p:cNvSpPr txBox="1"/>
          <p:nvPr/>
        </p:nvSpPr>
        <p:spPr>
          <a:xfrm>
            <a:off x="548640" y="2286000"/>
            <a:ext cx="5303520" cy="3200400"/>
          </a:xfrm>
          <a:prstGeom prst="rect">
            <a:avLst/>
          </a:prstGeom>
          <a:noFill/>
          <a:ln/>
        </p:spPr>
        <p:txBody>
          <a:bodyPr wrap="square" lIns="0" tIns="0" rIns="0" bIns="0" rtlCol="0" anchor="t"/>
          <a:lstStyle/>
          <a:p>
            <a:pPr marL="203200" indent="-203200">
              <a:spcAft>
                <a:spcPts val="600"/>
              </a:spcAft>
              <a:buSzPct val="100000"/>
              <a:buChar char="•"/>
            </a:pPr>
            <a:r>
              <a:rPr lang="en-US" sz="1600" dirty="0">
                <a:solidFill>
                  <a:srgbClr val="E4E9EE"/>
                </a:solidFill>
                <a:latin typeface="Calibri" pitchFamily="34" charset="0"/>
                <a:ea typeface="Calibri" pitchFamily="34" charset="-122"/>
                <a:cs typeface="Calibri" pitchFamily="34" charset="-120"/>
              </a:rPr>
              <a:t>Any one-point drop counts, whether 9 to 8 or 4 to 3</a:t>
            </a:r>
            <a:endParaRPr lang="en-US" sz="1600" dirty="0"/>
          </a:p>
          <a:p>
            <a:pPr marL="203200" indent="-203200">
              <a:spcAft>
                <a:spcPts val="600"/>
              </a:spcAft>
              <a:buSzPct val="100000"/>
              <a:buChar char="•"/>
            </a:pPr>
            <a:r>
              <a:rPr lang="en-US" sz="1600" dirty="0">
                <a:solidFill>
                  <a:srgbClr val="E4E9EE"/>
                </a:solidFill>
                <a:latin typeface="Calibri" pitchFamily="34" charset="0"/>
                <a:ea typeface="Calibri" pitchFamily="34" charset="-122"/>
                <a:cs typeface="Calibri" pitchFamily="34" charset="-120"/>
              </a:rPr>
              <a:t>Only six years and seven states of data</a:t>
            </a:r>
            <a:endParaRPr lang="en-US" sz="1600" dirty="0"/>
          </a:p>
          <a:p>
            <a:pPr marL="203200" indent="-203200">
              <a:spcAft>
                <a:spcPts val="600"/>
              </a:spcAft>
              <a:buSzPct val="100000"/>
              <a:buChar char="•"/>
            </a:pPr>
            <a:r>
              <a:rPr lang="en-US" sz="1600" dirty="0">
                <a:solidFill>
                  <a:srgbClr val="E4E9EE"/>
                </a:solidFill>
                <a:latin typeface="Calibri" pitchFamily="34" charset="0"/>
                <a:ea typeface="Calibri" pitchFamily="34" charset="-122"/>
                <a:cs typeface="Calibri" pitchFamily="34" charset="-120"/>
              </a:rPr>
              <a:t>Spending is state-level only: 35 values in total</a:t>
            </a:r>
            <a:endParaRPr lang="en-US" sz="1600" dirty="0"/>
          </a:p>
          <a:p>
            <a:pPr marL="203200" indent="-203200">
              <a:spcAft>
                <a:spcPts val="600"/>
              </a:spcAft>
              <a:buSzPct val="100000"/>
              <a:buChar char="•"/>
            </a:pPr>
            <a:r>
              <a:rPr lang="en-US" sz="1600" dirty="0">
                <a:solidFill>
                  <a:srgbClr val="E4E9EE"/>
                </a:solidFill>
                <a:latin typeface="Calibri" pitchFamily="34" charset="0"/>
                <a:ea typeface="Calibri" pitchFamily="34" charset="-122"/>
                <a:cs typeface="Calibri" pitchFamily="34" charset="-120"/>
              </a:rPr>
              <a:t>About 1.4% of bridges lack temperature data; 0.11% lack a location</a:t>
            </a:r>
            <a:endParaRPr lang="en-US" sz="1600" dirty="0"/>
          </a:p>
        </p:txBody>
      </p:sp>
      <p:sp>
        <p:nvSpPr>
          <p:cNvPr id="6" name="Text 4"/>
          <p:cNvSpPr txBox="1"/>
          <p:nvPr/>
        </p:nvSpPr>
        <p:spPr>
          <a:xfrm>
            <a:off x="6400800" y="1783080"/>
            <a:ext cx="5303520" cy="411480"/>
          </a:xfrm>
          <a:prstGeom prst="rect">
            <a:avLst/>
          </a:prstGeom>
          <a:noFill/>
          <a:ln/>
        </p:spPr>
        <p:txBody>
          <a:bodyPr wrap="square" lIns="0" tIns="0" rIns="0" bIns="0" rtlCol="0" anchor="t"/>
          <a:lstStyle/>
          <a:p>
            <a:pPr indent="0" marL="0">
              <a:buNone/>
            </a:pPr>
            <a:r>
              <a:rPr lang="en-US" sz="1900" b="1" dirty="0">
                <a:solidFill>
                  <a:srgbClr val="E8702A"/>
                </a:solidFill>
                <a:latin typeface="Arial" pitchFamily="34" charset="0"/>
                <a:ea typeface="Arial" pitchFamily="34" charset="-122"/>
                <a:cs typeface="Arial" pitchFamily="34" charset="-120"/>
              </a:rPr>
              <a:t>Next steps</a:t>
            </a:r>
            <a:endParaRPr lang="en-US" sz="1900" dirty="0"/>
          </a:p>
        </p:txBody>
      </p:sp>
      <p:sp>
        <p:nvSpPr>
          <p:cNvPr id="7" name="Text 5"/>
          <p:cNvSpPr txBox="1"/>
          <p:nvPr/>
        </p:nvSpPr>
        <p:spPr>
          <a:xfrm>
            <a:off x="6400800" y="2286000"/>
            <a:ext cx="5303520" cy="3200400"/>
          </a:xfrm>
          <a:prstGeom prst="rect">
            <a:avLst/>
          </a:prstGeom>
          <a:noFill/>
          <a:ln/>
        </p:spPr>
        <p:txBody>
          <a:bodyPr wrap="square" lIns="0" tIns="0" rIns="0" bIns="0" rtlCol="0" anchor="t"/>
          <a:lstStyle/>
          <a:p>
            <a:pPr marL="203200" indent="-203200">
              <a:spcAft>
                <a:spcPts val="600"/>
              </a:spcAft>
              <a:buSzPct val="100000"/>
              <a:buChar char="•"/>
            </a:pPr>
            <a:r>
              <a:rPr lang="en-US" sz="1600" dirty="0">
                <a:solidFill>
                  <a:srgbClr val="E4E9EE"/>
                </a:solidFill>
                <a:latin typeface="Calibri" pitchFamily="34" charset="0"/>
                <a:ea typeface="Calibri" pitchFamily="34" charset="-122"/>
                <a:cs typeface="Calibri" pitchFamily="34" charset="-120"/>
              </a:rPr>
              <a:t>Save the final bridge + weather model</a:t>
            </a:r>
            <a:endParaRPr lang="en-US" sz="1600" dirty="0"/>
          </a:p>
          <a:p>
            <a:pPr marL="203200" indent="-203200">
              <a:spcAft>
                <a:spcPts val="600"/>
              </a:spcAft>
              <a:buSzPct val="100000"/>
              <a:buChar char="•"/>
            </a:pPr>
            <a:r>
              <a:rPr lang="en-US" sz="1600" dirty="0">
                <a:solidFill>
                  <a:srgbClr val="E4E9EE"/>
                </a:solidFill>
                <a:latin typeface="Calibri" pitchFamily="34" charset="0"/>
                <a:ea typeface="Calibri" pitchFamily="34" charset="-122"/>
                <a:cs typeface="Calibri" pitchFamily="34" charset="-120"/>
              </a:rPr>
              <a:t>Build the Streamlit app: bridge lookup with explained risk scores, and a state risk map</a:t>
            </a:r>
            <a:endParaRPr lang="en-US" sz="1600" dirty="0"/>
          </a:p>
          <a:p>
            <a:pPr marL="203200" indent="-203200">
              <a:spcAft>
                <a:spcPts val="600"/>
              </a:spcAft>
              <a:buSzPct val="100000"/>
              <a:buChar char="•"/>
            </a:pPr>
            <a:r>
              <a:rPr lang="en-US" sz="1600" dirty="0">
                <a:solidFill>
                  <a:srgbClr val="E4E9EE"/>
                </a:solidFill>
                <a:latin typeface="Calibri" pitchFamily="34" charset="0"/>
                <a:ea typeface="Calibri" pitchFamily="34" charset="-122"/>
                <a:cs typeface="Calibri" pitchFamily="34" charset="-120"/>
              </a:rPr>
              <a:t>Compare against a more flexible model, such as gradient boosting</a:t>
            </a:r>
            <a:endParaRPr lang="en-US" sz="1600" dirty="0"/>
          </a:p>
          <a:p>
            <a:pPr marL="203200" indent="-203200">
              <a:spcAft>
                <a:spcPts val="600"/>
              </a:spcAft>
              <a:buSzPct val="100000"/>
              <a:buChar char="•"/>
            </a:pPr>
            <a:r>
              <a:rPr lang="en-US" sz="1600" dirty="0">
                <a:solidFill>
                  <a:srgbClr val="E4E9EE"/>
                </a:solidFill>
                <a:latin typeface="Calibri" pitchFamily="34" charset="0"/>
                <a:ea typeface="Calibri" pitchFamily="34" charset="-122"/>
                <a:cs typeface="Calibri" pitchFamily="34" charset="-120"/>
              </a:rPr>
              <a:t>Try a label that weighs drops by how serious they are</a:t>
            </a:r>
            <a:endParaRPr lang="en-US" sz="1600" dirty="0"/>
          </a:p>
        </p:txBody>
      </p:sp>
      <p:sp>
        <p:nvSpPr>
          <p:cNvPr id="8" name="Text 6"/>
          <p:cNvSpPr txBox="1"/>
          <p:nvPr/>
        </p:nvSpPr>
        <p:spPr>
          <a:xfrm>
            <a:off x="548640" y="5760720"/>
            <a:ext cx="10972800" cy="548640"/>
          </a:xfrm>
          <a:prstGeom prst="rect">
            <a:avLst/>
          </a:prstGeom>
          <a:noFill/>
          <a:ln/>
        </p:spPr>
        <p:txBody>
          <a:bodyPr wrap="square" lIns="0" tIns="0" rIns="0" bIns="0" rtlCol="0" anchor="t"/>
          <a:lstStyle/>
          <a:p>
            <a:pPr indent="0" marL="0">
              <a:buNone/>
            </a:pPr>
            <a:r>
              <a:rPr lang="en-US" sz="2400" b="1" dirty="0">
                <a:solidFill>
                  <a:srgbClr val="FFFFFF"/>
                </a:solidFill>
                <a:latin typeface="Arial" pitchFamily="34" charset="0"/>
                <a:ea typeface="Arial" pitchFamily="34" charset="-122"/>
                <a:cs typeface="Arial" pitchFamily="34" charset="-120"/>
              </a:rPr>
              <a:t>Questions?</a:t>
            </a:r>
            <a:endParaRPr lang="en-US" sz="2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BridgeWatch AI: EDA and Modeling Approach</dc:title>
  <dc:subject>PptxGenJS Presentation</dc:subject>
  <dc:creator>Edmund L. Goldsberry</dc:creator>
  <cp:lastModifiedBy>Edmund L. Goldsberry</cp:lastModifiedBy>
  <cp:revision>1</cp:revision>
  <dcterms:created xsi:type="dcterms:W3CDTF">2026-09-30T23:10:44Z</dcterms:created>
  <dcterms:modified xsi:type="dcterms:W3CDTF">2026-09-30T23:10:44Z</dcterms:modified>
</cp:coreProperties>
</file>